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7" r:id="rId2"/>
    <p:sldId id="275" r:id="rId3"/>
    <p:sldId id="258" r:id="rId4"/>
    <p:sldId id="260" r:id="rId5"/>
    <p:sldId id="261" r:id="rId6"/>
    <p:sldId id="259" r:id="rId7"/>
    <p:sldId id="269" r:id="rId8"/>
    <p:sldId id="266" r:id="rId9"/>
    <p:sldId id="268" r:id="rId10"/>
    <p:sldId id="270" r:id="rId11"/>
    <p:sldId id="271" r:id="rId12"/>
    <p:sldId id="272" r:id="rId13"/>
    <p:sldId id="277" r:id="rId14"/>
    <p:sldId id="273" r:id="rId15"/>
    <p:sldId id="274" r:id="rId16"/>
    <p:sldId id="278" r:id="rId17"/>
    <p:sldId id="279"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D171034-5DEE-4E6B-915B-AFFC1F76DC92}" v="32" dt="2024-04-12T10:02:46.34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934"/>
    <p:restoredTop sz="86385"/>
  </p:normalViewPr>
  <p:slideViewPr>
    <p:cSldViewPr snapToGrid="0" snapToObjects="1">
      <p:cViewPr varScale="1">
        <p:scale>
          <a:sx n="97" d="100"/>
          <a:sy n="97" d="100"/>
        </p:scale>
        <p:origin x="942" y="90"/>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obhit Saxena" userId="81bd23e0-be29-42d7-9ac7-a92c88c56d02" providerId="ADAL" clId="{CD171034-5DEE-4E6B-915B-AFFC1F76DC92}"/>
    <pc:docChg chg="undo custSel modSld">
      <pc:chgData name="Shobhit Saxena" userId="81bd23e0-be29-42d7-9ac7-a92c88c56d02" providerId="ADAL" clId="{CD171034-5DEE-4E6B-915B-AFFC1F76DC92}" dt="2024-04-12T10:21:57.503" v="666" actId="20577"/>
      <pc:docMkLst>
        <pc:docMk/>
      </pc:docMkLst>
      <pc:sldChg chg="modSp mod">
        <pc:chgData name="Shobhit Saxena" userId="81bd23e0-be29-42d7-9ac7-a92c88c56d02" providerId="ADAL" clId="{CD171034-5DEE-4E6B-915B-AFFC1F76DC92}" dt="2024-04-12T09:14:57.641" v="142" actId="115"/>
        <pc:sldMkLst>
          <pc:docMk/>
          <pc:sldMk cId="1976993540" sldId="258"/>
        </pc:sldMkLst>
        <pc:spChg chg="mod">
          <ac:chgData name="Shobhit Saxena" userId="81bd23e0-be29-42d7-9ac7-a92c88c56d02" providerId="ADAL" clId="{CD171034-5DEE-4E6B-915B-AFFC1F76DC92}" dt="2024-04-12T09:14:57.641" v="142" actId="115"/>
          <ac:spMkLst>
            <pc:docMk/>
            <pc:sldMk cId="1976993540" sldId="258"/>
            <ac:spMk id="5" creationId="{00000000-0000-0000-0000-000000000000}"/>
          </ac:spMkLst>
        </pc:spChg>
      </pc:sldChg>
      <pc:sldChg chg="modSp mod">
        <pc:chgData name="Shobhit Saxena" userId="81bd23e0-be29-42d7-9ac7-a92c88c56d02" providerId="ADAL" clId="{CD171034-5DEE-4E6B-915B-AFFC1F76DC92}" dt="2024-04-12T09:09:57.536" v="141" actId="115"/>
        <pc:sldMkLst>
          <pc:docMk/>
          <pc:sldMk cId="1463440396" sldId="259"/>
        </pc:sldMkLst>
        <pc:spChg chg="mod">
          <ac:chgData name="Shobhit Saxena" userId="81bd23e0-be29-42d7-9ac7-a92c88c56d02" providerId="ADAL" clId="{CD171034-5DEE-4E6B-915B-AFFC1F76DC92}" dt="2024-04-12T09:09:57.536" v="141" actId="115"/>
          <ac:spMkLst>
            <pc:docMk/>
            <pc:sldMk cId="1463440396" sldId="259"/>
            <ac:spMk id="8" creationId="{3463D68E-D9C9-F7DC-62A3-74CC5E4A041F}"/>
          </ac:spMkLst>
        </pc:spChg>
      </pc:sldChg>
      <pc:sldChg chg="modAnim">
        <pc:chgData name="Shobhit Saxena" userId="81bd23e0-be29-42d7-9ac7-a92c88c56d02" providerId="ADAL" clId="{CD171034-5DEE-4E6B-915B-AFFC1F76DC92}" dt="2024-04-12T09:21:03.102" v="170"/>
        <pc:sldMkLst>
          <pc:docMk/>
          <pc:sldMk cId="912526481" sldId="260"/>
        </pc:sldMkLst>
      </pc:sldChg>
      <pc:sldChg chg="modSp mod">
        <pc:chgData name="Shobhit Saxena" userId="81bd23e0-be29-42d7-9ac7-a92c88c56d02" providerId="ADAL" clId="{CD171034-5DEE-4E6B-915B-AFFC1F76DC92}" dt="2024-04-12T09:26:49.258" v="227" actId="20577"/>
        <pc:sldMkLst>
          <pc:docMk/>
          <pc:sldMk cId="1651842940" sldId="261"/>
        </pc:sldMkLst>
        <pc:spChg chg="mod">
          <ac:chgData name="Shobhit Saxena" userId="81bd23e0-be29-42d7-9ac7-a92c88c56d02" providerId="ADAL" clId="{CD171034-5DEE-4E6B-915B-AFFC1F76DC92}" dt="2024-04-12T09:26:49.258" v="227" actId="20577"/>
          <ac:spMkLst>
            <pc:docMk/>
            <pc:sldMk cId="1651842940" sldId="261"/>
            <ac:spMk id="6" creationId="{EC393349-B484-EF98-05B3-843909947586}"/>
          </ac:spMkLst>
        </pc:spChg>
      </pc:sldChg>
      <pc:sldChg chg="modSp mod modNotesTx">
        <pc:chgData name="Shobhit Saxena" userId="81bd23e0-be29-42d7-9ac7-a92c88c56d02" providerId="ADAL" clId="{CD171034-5DEE-4E6B-915B-AFFC1F76DC92}" dt="2024-04-12T10:09:54.755" v="526" actId="20577"/>
        <pc:sldMkLst>
          <pc:docMk/>
          <pc:sldMk cId="1680611247" sldId="266"/>
        </pc:sldMkLst>
        <pc:spChg chg="mod">
          <ac:chgData name="Shobhit Saxena" userId="81bd23e0-be29-42d7-9ac7-a92c88c56d02" providerId="ADAL" clId="{CD171034-5DEE-4E6B-915B-AFFC1F76DC92}" dt="2024-04-12T10:09:54.755" v="526" actId="20577"/>
          <ac:spMkLst>
            <pc:docMk/>
            <pc:sldMk cId="1680611247" sldId="266"/>
            <ac:spMk id="2" creationId="{00000000-0000-0000-0000-000000000000}"/>
          </ac:spMkLst>
        </pc:spChg>
      </pc:sldChg>
      <pc:sldChg chg="modSp mod">
        <pc:chgData name="Shobhit Saxena" userId="81bd23e0-be29-42d7-9ac7-a92c88c56d02" providerId="ADAL" clId="{CD171034-5DEE-4E6B-915B-AFFC1F76DC92}" dt="2024-04-12T10:09:59.837" v="540" actId="20577"/>
        <pc:sldMkLst>
          <pc:docMk/>
          <pc:sldMk cId="3631913900" sldId="268"/>
        </pc:sldMkLst>
        <pc:spChg chg="mod">
          <ac:chgData name="Shobhit Saxena" userId="81bd23e0-be29-42d7-9ac7-a92c88c56d02" providerId="ADAL" clId="{CD171034-5DEE-4E6B-915B-AFFC1F76DC92}" dt="2024-04-12T10:09:59.837" v="540" actId="20577"/>
          <ac:spMkLst>
            <pc:docMk/>
            <pc:sldMk cId="3631913900" sldId="268"/>
            <ac:spMk id="2" creationId="{00000000-0000-0000-0000-000000000000}"/>
          </ac:spMkLst>
        </pc:spChg>
      </pc:sldChg>
      <pc:sldChg chg="modSp mod">
        <pc:chgData name="Shobhit Saxena" userId="81bd23e0-be29-42d7-9ac7-a92c88c56d02" providerId="ADAL" clId="{CD171034-5DEE-4E6B-915B-AFFC1F76DC92}" dt="2024-04-12T10:09:48.939" v="513" actId="20577"/>
        <pc:sldMkLst>
          <pc:docMk/>
          <pc:sldMk cId="4273300562" sldId="269"/>
        </pc:sldMkLst>
        <pc:spChg chg="mod">
          <ac:chgData name="Shobhit Saxena" userId="81bd23e0-be29-42d7-9ac7-a92c88c56d02" providerId="ADAL" clId="{CD171034-5DEE-4E6B-915B-AFFC1F76DC92}" dt="2024-04-12T10:09:48.939" v="513" actId="20577"/>
          <ac:spMkLst>
            <pc:docMk/>
            <pc:sldMk cId="4273300562" sldId="269"/>
            <ac:spMk id="2" creationId="{00000000-0000-0000-0000-000000000000}"/>
          </ac:spMkLst>
        </pc:spChg>
      </pc:sldChg>
      <pc:sldChg chg="modSp mod">
        <pc:chgData name="Shobhit Saxena" userId="81bd23e0-be29-42d7-9ac7-a92c88c56d02" providerId="ADAL" clId="{CD171034-5DEE-4E6B-915B-AFFC1F76DC92}" dt="2024-04-12T10:10:05.218" v="553" actId="20577"/>
        <pc:sldMkLst>
          <pc:docMk/>
          <pc:sldMk cId="1853580522" sldId="270"/>
        </pc:sldMkLst>
        <pc:spChg chg="mod">
          <ac:chgData name="Shobhit Saxena" userId="81bd23e0-be29-42d7-9ac7-a92c88c56d02" providerId="ADAL" clId="{CD171034-5DEE-4E6B-915B-AFFC1F76DC92}" dt="2024-04-12T10:10:05.218" v="553" actId="20577"/>
          <ac:spMkLst>
            <pc:docMk/>
            <pc:sldMk cId="1853580522" sldId="270"/>
            <ac:spMk id="2" creationId="{00000000-0000-0000-0000-000000000000}"/>
          </ac:spMkLst>
        </pc:spChg>
      </pc:sldChg>
      <pc:sldChg chg="modSp mod">
        <pc:chgData name="Shobhit Saxena" userId="81bd23e0-be29-42d7-9ac7-a92c88c56d02" providerId="ADAL" clId="{CD171034-5DEE-4E6B-915B-AFFC1F76DC92}" dt="2024-04-12T10:10:13.225" v="575" actId="20577"/>
        <pc:sldMkLst>
          <pc:docMk/>
          <pc:sldMk cId="1846354723" sldId="271"/>
        </pc:sldMkLst>
        <pc:spChg chg="mod">
          <ac:chgData name="Shobhit Saxena" userId="81bd23e0-be29-42d7-9ac7-a92c88c56d02" providerId="ADAL" clId="{CD171034-5DEE-4E6B-915B-AFFC1F76DC92}" dt="2024-04-12T10:10:13.225" v="575" actId="20577"/>
          <ac:spMkLst>
            <pc:docMk/>
            <pc:sldMk cId="1846354723" sldId="271"/>
            <ac:spMk id="2" creationId="{00000000-0000-0000-0000-000000000000}"/>
          </ac:spMkLst>
        </pc:spChg>
        <pc:spChg chg="mod">
          <ac:chgData name="Shobhit Saxena" userId="81bd23e0-be29-42d7-9ac7-a92c88c56d02" providerId="ADAL" clId="{CD171034-5DEE-4E6B-915B-AFFC1F76DC92}" dt="2024-04-12T10:08:33.527" v="500" actId="1035"/>
          <ac:spMkLst>
            <pc:docMk/>
            <pc:sldMk cId="1846354723" sldId="271"/>
            <ac:spMk id="11" creationId="{E590FA4F-309A-F2CE-6123-59124C1FB974}"/>
          </ac:spMkLst>
        </pc:spChg>
        <pc:graphicFrameChg chg="modGraphic">
          <ac:chgData name="Shobhit Saxena" userId="81bd23e0-be29-42d7-9ac7-a92c88c56d02" providerId="ADAL" clId="{CD171034-5DEE-4E6B-915B-AFFC1F76DC92}" dt="2024-04-12T10:08:23.343" v="486" actId="2165"/>
          <ac:graphicFrameMkLst>
            <pc:docMk/>
            <pc:sldMk cId="1846354723" sldId="271"/>
            <ac:graphicFrameMk id="5" creationId="{C2589AD7-BEF7-4067-0855-E0059118D2D2}"/>
          </ac:graphicFrameMkLst>
        </pc:graphicFrameChg>
      </pc:sldChg>
      <pc:sldChg chg="modSp mod">
        <pc:chgData name="Shobhit Saxena" userId="81bd23e0-be29-42d7-9ac7-a92c88c56d02" providerId="ADAL" clId="{CD171034-5DEE-4E6B-915B-AFFC1F76DC92}" dt="2024-04-12T10:21:57.503" v="666" actId="20577"/>
        <pc:sldMkLst>
          <pc:docMk/>
          <pc:sldMk cId="2932950834" sldId="273"/>
        </pc:sldMkLst>
        <pc:spChg chg="mod">
          <ac:chgData name="Shobhit Saxena" userId="81bd23e0-be29-42d7-9ac7-a92c88c56d02" providerId="ADAL" clId="{CD171034-5DEE-4E6B-915B-AFFC1F76DC92}" dt="2024-04-12T10:21:57.503" v="666" actId="20577"/>
          <ac:spMkLst>
            <pc:docMk/>
            <pc:sldMk cId="2932950834" sldId="273"/>
            <ac:spMk id="2" creationId="{00000000-0000-0000-0000-000000000000}"/>
          </ac:spMkLst>
        </pc:spChg>
      </pc:sldChg>
      <pc:sldChg chg="modSp mod">
        <pc:chgData name="Shobhit Saxena" userId="81bd23e0-be29-42d7-9ac7-a92c88c56d02" providerId="ADAL" clId="{CD171034-5DEE-4E6B-915B-AFFC1F76DC92}" dt="2024-04-12T10:11:54.567" v="577" actId="20577"/>
        <pc:sldMkLst>
          <pc:docMk/>
          <pc:sldMk cId="4059559412" sldId="274"/>
        </pc:sldMkLst>
        <pc:spChg chg="mod">
          <ac:chgData name="Shobhit Saxena" userId="81bd23e0-be29-42d7-9ac7-a92c88c56d02" providerId="ADAL" clId="{CD171034-5DEE-4E6B-915B-AFFC1F76DC92}" dt="2024-04-12T10:11:54.567" v="577" actId="20577"/>
          <ac:spMkLst>
            <pc:docMk/>
            <pc:sldMk cId="4059559412" sldId="274"/>
            <ac:spMk id="2" creationId="{00000000-0000-0000-0000-000000000000}"/>
          </ac:spMkLst>
        </pc:spChg>
      </pc:sldChg>
      <pc:sldChg chg="addSp delSp modSp mod modNotesTx">
        <pc:chgData name="Shobhit Saxena" userId="81bd23e0-be29-42d7-9ac7-a92c88c56d02" providerId="ADAL" clId="{CD171034-5DEE-4E6B-915B-AFFC1F76DC92}" dt="2024-04-12T10:16:38.640" v="582" actId="20577"/>
        <pc:sldMkLst>
          <pc:docMk/>
          <pc:sldMk cId="4286972516" sldId="277"/>
        </pc:sldMkLst>
        <pc:spChg chg="mod topLvl">
          <ac:chgData name="Shobhit Saxena" userId="81bd23e0-be29-42d7-9ac7-a92c88c56d02" providerId="ADAL" clId="{CD171034-5DEE-4E6B-915B-AFFC1F76DC92}" dt="2024-04-12T10:02:46.344" v="340" actId="338"/>
          <ac:spMkLst>
            <pc:docMk/>
            <pc:sldMk cId="4286972516" sldId="277"/>
            <ac:spMk id="35" creationId="{E7FBF789-3CFD-83E4-66ED-728860B3F4DB}"/>
          </ac:spMkLst>
        </pc:spChg>
        <pc:spChg chg="mod topLvl">
          <ac:chgData name="Shobhit Saxena" userId="81bd23e0-be29-42d7-9ac7-a92c88c56d02" providerId="ADAL" clId="{CD171034-5DEE-4E6B-915B-AFFC1F76DC92}" dt="2024-04-12T10:06:00.467" v="344" actId="207"/>
          <ac:spMkLst>
            <pc:docMk/>
            <pc:sldMk cId="4286972516" sldId="277"/>
            <ac:spMk id="36" creationId="{FD09D0B5-3D8F-4AE1-D396-35500A263D90}"/>
          </ac:spMkLst>
        </pc:spChg>
        <pc:spChg chg="mod">
          <ac:chgData name="Shobhit Saxena" userId="81bd23e0-be29-42d7-9ac7-a92c88c56d02" providerId="ADAL" clId="{CD171034-5DEE-4E6B-915B-AFFC1F76DC92}" dt="2024-04-12T10:01:32.230" v="331" actId="1076"/>
          <ac:spMkLst>
            <pc:docMk/>
            <pc:sldMk cId="4286972516" sldId="277"/>
            <ac:spMk id="40" creationId="{02D3EC78-7B3B-1249-1EB0-85A559CA8B48}"/>
          </ac:spMkLst>
        </pc:spChg>
        <pc:spChg chg="mod">
          <ac:chgData name="Shobhit Saxena" userId="81bd23e0-be29-42d7-9ac7-a92c88c56d02" providerId="ADAL" clId="{CD171034-5DEE-4E6B-915B-AFFC1F76DC92}" dt="2024-04-12T10:01:32.230" v="331" actId="1076"/>
          <ac:spMkLst>
            <pc:docMk/>
            <pc:sldMk cId="4286972516" sldId="277"/>
            <ac:spMk id="69" creationId="{F7BF608D-694B-3B6C-1E2E-75FCC2522119}"/>
          </ac:spMkLst>
        </pc:spChg>
        <pc:spChg chg="mod">
          <ac:chgData name="Shobhit Saxena" userId="81bd23e0-be29-42d7-9ac7-a92c88c56d02" providerId="ADAL" clId="{CD171034-5DEE-4E6B-915B-AFFC1F76DC92}" dt="2024-04-12T10:07:35.735" v="478" actId="1038"/>
          <ac:spMkLst>
            <pc:docMk/>
            <pc:sldMk cId="4286972516" sldId="277"/>
            <ac:spMk id="70" creationId="{36EF25D7-20A2-022D-2C2A-283560AD0F43}"/>
          </ac:spMkLst>
        </pc:spChg>
        <pc:spChg chg="mod">
          <ac:chgData name="Shobhit Saxena" userId="81bd23e0-be29-42d7-9ac7-a92c88c56d02" providerId="ADAL" clId="{CD171034-5DEE-4E6B-915B-AFFC1F76DC92}" dt="2024-04-12T10:07:37.297" v="480" actId="1038"/>
          <ac:spMkLst>
            <pc:docMk/>
            <pc:sldMk cId="4286972516" sldId="277"/>
            <ac:spMk id="71" creationId="{F7DB03E4-F74C-F96C-61E3-F38F67C8BACA}"/>
          </ac:spMkLst>
        </pc:spChg>
        <pc:grpChg chg="add mod">
          <ac:chgData name="Shobhit Saxena" userId="81bd23e0-be29-42d7-9ac7-a92c88c56d02" providerId="ADAL" clId="{CD171034-5DEE-4E6B-915B-AFFC1F76DC92}" dt="2024-04-12T10:02:46.344" v="340" actId="338"/>
          <ac:grpSpMkLst>
            <pc:docMk/>
            <pc:sldMk cId="4286972516" sldId="277"/>
            <ac:grpSpMk id="5" creationId="{B5382095-56F3-D698-7711-98E775D7B259}"/>
          </ac:grpSpMkLst>
        </pc:grpChg>
        <pc:grpChg chg="del mod">
          <ac:chgData name="Shobhit Saxena" userId="81bd23e0-be29-42d7-9ac7-a92c88c56d02" providerId="ADAL" clId="{CD171034-5DEE-4E6B-915B-AFFC1F76DC92}" dt="2024-04-12T10:01:48.728" v="332" actId="165"/>
          <ac:grpSpMkLst>
            <pc:docMk/>
            <pc:sldMk cId="4286972516" sldId="277"/>
            <ac:grpSpMk id="34" creationId="{C8CC3297-0C4D-B286-013E-8A9EE59BDB53}"/>
          </ac:grpSpMkLst>
        </pc:grpChg>
        <pc:graphicFrameChg chg="mod modGraphic">
          <ac:chgData name="Shobhit Saxena" userId="81bd23e0-be29-42d7-9ac7-a92c88c56d02" providerId="ADAL" clId="{CD171034-5DEE-4E6B-915B-AFFC1F76DC92}" dt="2024-04-12T10:16:38.640" v="582" actId="20577"/>
          <ac:graphicFrameMkLst>
            <pc:docMk/>
            <pc:sldMk cId="4286972516" sldId="277"/>
            <ac:graphicFrameMk id="37" creationId="{F7CEE748-8FA9-BF3B-415E-73911E0170D1}"/>
          </ac:graphicFrameMkLst>
        </pc:graphicFrameChg>
        <pc:picChg chg="mod">
          <ac:chgData name="Shobhit Saxena" userId="81bd23e0-be29-42d7-9ac7-a92c88c56d02" providerId="ADAL" clId="{CD171034-5DEE-4E6B-915B-AFFC1F76DC92}" dt="2024-04-12T10:01:32.230" v="331" actId="1076"/>
          <ac:picMkLst>
            <pc:docMk/>
            <pc:sldMk cId="4286972516" sldId="277"/>
            <ac:picMk id="59" creationId="{0D273B27-2A4F-02B0-E981-A7F9B8A3EC9E}"/>
          </ac:picMkLst>
        </pc:picChg>
        <pc:picChg chg="mod">
          <ac:chgData name="Shobhit Saxena" userId="81bd23e0-be29-42d7-9ac7-a92c88c56d02" providerId="ADAL" clId="{CD171034-5DEE-4E6B-915B-AFFC1F76DC92}" dt="2024-04-12T10:01:32.230" v="331" actId="1076"/>
          <ac:picMkLst>
            <pc:docMk/>
            <pc:sldMk cId="4286972516" sldId="277"/>
            <ac:picMk id="60" creationId="{2671F4C3-3B5F-7DF1-0756-88C865B25153}"/>
          </ac:picMkLst>
        </pc:picChg>
        <pc:picChg chg="mod">
          <ac:chgData name="Shobhit Saxena" userId="81bd23e0-be29-42d7-9ac7-a92c88c56d02" providerId="ADAL" clId="{CD171034-5DEE-4E6B-915B-AFFC1F76DC92}" dt="2024-04-12T10:01:32.230" v="331" actId="1076"/>
          <ac:picMkLst>
            <pc:docMk/>
            <pc:sldMk cId="4286972516" sldId="277"/>
            <ac:picMk id="62" creationId="{E1EEE575-D0DC-6988-A583-23EE6DDB2F5E}"/>
          </ac:picMkLst>
        </pc:picChg>
        <pc:picChg chg="mod">
          <ac:chgData name="Shobhit Saxena" userId="81bd23e0-be29-42d7-9ac7-a92c88c56d02" providerId="ADAL" clId="{CD171034-5DEE-4E6B-915B-AFFC1F76DC92}" dt="2024-04-12T10:01:32.230" v="331" actId="1076"/>
          <ac:picMkLst>
            <pc:docMk/>
            <pc:sldMk cId="4286972516" sldId="277"/>
            <ac:picMk id="66" creationId="{D1A4493B-32B0-37C9-8110-C1C0134A4D23}"/>
          </ac:picMkLst>
        </pc:picChg>
        <pc:picChg chg="mod">
          <ac:chgData name="Shobhit Saxena" userId="81bd23e0-be29-42d7-9ac7-a92c88c56d02" providerId="ADAL" clId="{CD171034-5DEE-4E6B-915B-AFFC1F76DC92}" dt="2024-04-12T10:02:33.202" v="339" actId="1038"/>
          <ac:picMkLst>
            <pc:docMk/>
            <pc:sldMk cId="4286972516" sldId="277"/>
            <ac:picMk id="67" creationId="{94FB4691-AEE2-EF48-EFD6-C652F74D5938}"/>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D88D59F-84DF-0C4A-A564-05F3AC6AA4FC}" type="datetimeFigureOut">
              <a:rPr lang="en-US" smtClean="0"/>
              <a:t>4/12/2024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9BC607B-BC83-1C44-A501-8F981FF41469}" type="slidenum">
              <a:rPr lang="en-US" smtClean="0"/>
              <a:t>‹#›</a:t>
            </a:fld>
            <a:endParaRPr lang="en-US"/>
          </a:p>
        </p:txBody>
      </p:sp>
    </p:spTree>
    <p:extLst>
      <p:ext uri="{BB962C8B-B14F-4D97-AF65-F5344CB8AC3E}">
        <p14:creationId xmlns:p14="http://schemas.microsoft.com/office/powerpoint/2010/main" val="23894840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9BC607B-BC83-1C44-A501-8F981FF41469}" type="slidenum">
              <a:rPr lang="en-US" smtClean="0"/>
              <a:t>1</a:t>
            </a:fld>
            <a:endParaRPr lang="en-US"/>
          </a:p>
        </p:txBody>
      </p:sp>
    </p:spTree>
    <p:extLst>
      <p:ext uri="{BB962C8B-B14F-4D97-AF65-F5344CB8AC3E}">
        <p14:creationId xmlns:p14="http://schemas.microsoft.com/office/powerpoint/2010/main" val="26450008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9BC607B-BC83-1C44-A501-8F981FF41469}" type="slidenum">
              <a:rPr lang="en-US" smtClean="0"/>
              <a:t>2</a:t>
            </a:fld>
            <a:endParaRPr lang="en-US"/>
          </a:p>
        </p:txBody>
      </p:sp>
    </p:spTree>
    <p:extLst>
      <p:ext uri="{BB962C8B-B14F-4D97-AF65-F5344CB8AC3E}">
        <p14:creationId xmlns:p14="http://schemas.microsoft.com/office/powerpoint/2010/main" val="41206072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9BC607B-BC83-1C44-A501-8F981FF41469}" type="slidenum">
              <a:rPr lang="en-US" smtClean="0"/>
              <a:t>3</a:t>
            </a:fld>
            <a:endParaRPr lang="en-US"/>
          </a:p>
        </p:txBody>
      </p:sp>
    </p:spTree>
    <p:extLst>
      <p:ext uri="{BB962C8B-B14F-4D97-AF65-F5344CB8AC3E}">
        <p14:creationId xmlns:p14="http://schemas.microsoft.com/office/powerpoint/2010/main" val="4709029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9BC607B-BC83-1C44-A501-8F981FF41469}" type="slidenum">
              <a:rPr lang="en-US" smtClean="0"/>
              <a:t>4</a:t>
            </a:fld>
            <a:endParaRPr lang="en-US"/>
          </a:p>
        </p:txBody>
      </p:sp>
    </p:spTree>
    <p:extLst>
      <p:ext uri="{BB962C8B-B14F-4D97-AF65-F5344CB8AC3E}">
        <p14:creationId xmlns:p14="http://schemas.microsoft.com/office/powerpoint/2010/main" val="35300606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9BC607B-BC83-1C44-A501-8F981FF41469}" type="slidenum">
              <a:rPr lang="en-US" smtClean="0"/>
              <a:t>5</a:t>
            </a:fld>
            <a:endParaRPr lang="en-US"/>
          </a:p>
        </p:txBody>
      </p:sp>
    </p:spTree>
    <p:extLst>
      <p:ext uri="{BB962C8B-B14F-4D97-AF65-F5344CB8AC3E}">
        <p14:creationId xmlns:p14="http://schemas.microsoft.com/office/powerpoint/2010/main" val="7846934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9BC607B-BC83-1C44-A501-8F981FF41469}" type="slidenum">
              <a:rPr lang="en-US" smtClean="0"/>
              <a:t>6</a:t>
            </a:fld>
            <a:endParaRPr lang="en-US"/>
          </a:p>
        </p:txBody>
      </p:sp>
    </p:spTree>
    <p:extLst>
      <p:ext uri="{BB962C8B-B14F-4D97-AF65-F5344CB8AC3E}">
        <p14:creationId xmlns:p14="http://schemas.microsoft.com/office/powerpoint/2010/main" val="8346135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9BC607B-BC83-1C44-A501-8F981FF41469}" type="slidenum">
              <a:rPr lang="en-US" smtClean="0"/>
              <a:t>7</a:t>
            </a:fld>
            <a:endParaRPr lang="en-US"/>
          </a:p>
        </p:txBody>
      </p:sp>
    </p:spTree>
    <p:extLst>
      <p:ext uri="{BB962C8B-B14F-4D97-AF65-F5344CB8AC3E}">
        <p14:creationId xmlns:p14="http://schemas.microsoft.com/office/powerpoint/2010/main" val="30946944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 the levels of frequency.</a:t>
            </a:r>
          </a:p>
        </p:txBody>
      </p:sp>
      <p:sp>
        <p:nvSpPr>
          <p:cNvPr id="4" name="Slide Number Placeholder 3"/>
          <p:cNvSpPr>
            <a:spLocks noGrp="1"/>
          </p:cNvSpPr>
          <p:nvPr>
            <p:ph type="sldNum" sz="quarter" idx="5"/>
          </p:nvPr>
        </p:nvSpPr>
        <p:spPr/>
        <p:txBody>
          <a:bodyPr/>
          <a:lstStyle/>
          <a:p>
            <a:fld id="{59BC607B-BC83-1C44-A501-8F981FF41469}" type="slidenum">
              <a:rPr lang="en-US" smtClean="0"/>
              <a:t>8</a:t>
            </a:fld>
            <a:endParaRPr lang="en-US"/>
          </a:p>
        </p:txBody>
      </p:sp>
    </p:spTree>
    <p:extLst>
      <p:ext uri="{BB962C8B-B14F-4D97-AF65-F5344CB8AC3E}">
        <p14:creationId xmlns:p14="http://schemas.microsoft.com/office/powerpoint/2010/main" val="18739472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9BC607B-BC83-1C44-A501-8F981FF41469}" type="slidenum">
              <a:rPr lang="en-US" smtClean="0"/>
              <a:t>9</a:t>
            </a:fld>
            <a:endParaRPr lang="en-US"/>
          </a:p>
        </p:txBody>
      </p:sp>
    </p:spTree>
    <p:extLst>
      <p:ext uri="{BB962C8B-B14F-4D97-AF65-F5344CB8AC3E}">
        <p14:creationId xmlns:p14="http://schemas.microsoft.com/office/powerpoint/2010/main" val="10214820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9BC607B-BC83-1C44-A501-8F981FF41469}" type="slidenum">
              <a:rPr lang="en-US" smtClean="0"/>
              <a:t>10</a:t>
            </a:fld>
            <a:endParaRPr lang="en-US"/>
          </a:p>
        </p:txBody>
      </p:sp>
    </p:spTree>
    <p:extLst>
      <p:ext uri="{BB962C8B-B14F-4D97-AF65-F5344CB8AC3E}">
        <p14:creationId xmlns:p14="http://schemas.microsoft.com/office/powerpoint/2010/main" val="65589464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9BC607B-BC83-1C44-A501-8F981FF41469}" type="slidenum">
              <a:rPr lang="en-US" smtClean="0"/>
              <a:t>11</a:t>
            </a:fld>
            <a:endParaRPr lang="en-US"/>
          </a:p>
        </p:txBody>
      </p:sp>
    </p:spTree>
    <p:extLst>
      <p:ext uri="{BB962C8B-B14F-4D97-AF65-F5344CB8AC3E}">
        <p14:creationId xmlns:p14="http://schemas.microsoft.com/office/powerpoint/2010/main" val="114907851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9BC607B-BC83-1C44-A501-8F981FF41469}" type="slidenum">
              <a:rPr lang="en-US" smtClean="0"/>
              <a:t>12</a:t>
            </a:fld>
            <a:endParaRPr lang="en-US"/>
          </a:p>
        </p:txBody>
      </p:sp>
    </p:spTree>
    <p:extLst>
      <p:ext uri="{BB962C8B-B14F-4D97-AF65-F5344CB8AC3E}">
        <p14:creationId xmlns:p14="http://schemas.microsoft.com/office/powerpoint/2010/main" val="36099426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9BC607B-BC83-1C44-A501-8F981FF41469}" type="slidenum">
              <a:rPr lang="en-US" smtClean="0"/>
              <a:t>13</a:t>
            </a:fld>
            <a:endParaRPr lang="en-US"/>
          </a:p>
        </p:txBody>
      </p:sp>
    </p:spTree>
    <p:extLst>
      <p:ext uri="{BB962C8B-B14F-4D97-AF65-F5344CB8AC3E}">
        <p14:creationId xmlns:p14="http://schemas.microsoft.com/office/powerpoint/2010/main" val="357571179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9BC607B-BC83-1C44-A501-8F981FF41469}" type="slidenum">
              <a:rPr lang="en-US" smtClean="0"/>
              <a:t>14</a:t>
            </a:fld>
            <a:endParaRPr lang="en-US"/>
          </a:p>
        </p:txBody>
      </p:sp>
    </p:spTree>
    <p:extLst>
      <p:ext uri="{BB962C8B-B14F-4D97-AF65-F5344CB8AC3E}">
        <p14:creationId xmlns:p14="http://schemas.microsoft.com/office/powerpoint/2010/main" val="397466793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9BC607B-BC83-1C44-A501-8F981FF41469}" type="slidenum">
              <a:rPr lang="en-US" smtClean="0"/>
              <a:t>15</a:t>
            </a:fld>
            <a:endParaRPr lang="en-US"/>
          </a:p>
        </p:txBody>
      </p:sp>
    </p:spTree>
    <p:extLst>
      <p:ext uri="{BB962C8B-B14F-4D97-AF65-F5344CB8AC3E}">
        <p14:creationId xmlns:p14="http://schemas.microsoft.com/office/powerpoint/2010/main" val="12600646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9BC607B-BC83-1C44-A501-8F981FF41469}" type="slidenum">
              <a:rPr lang="en-US" smtClean="0"/>
              <a:t>16</a:t>
            </a:fld>
            <a:endParaRPr lang="en-US"/>
          </a:p>
        </p:txBody>
      </p:sp>
    </p:spTree>
    <p:extLst>
      <p:ext uri="{BB962C8B-B14F-4D97-AF65-F5344CB8AC3E}">
        <p14:creationId xmlns:p14="http://schemas.microsoft.com/office/powerpoint/2010/main" val="139184822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9BC607B-BC83-1C44-A501-8F981FF41469}" type="slidenum">
              <a:rPr lang="en-US" smtClean="0"/>
              <a:t>17</a:t>
            </a:fld>
            <a:endParaRPr lang="en-US"/>
          </a:p>
        </p:txBody>
      </p:sp>
    </p:spTree>
    <p:extLst>
      <p:ext uri="{BB962C8B-B14F-4D97-AF65-F5344CB8AC3E}">
        <p14:creationId xmlns:p14="http://schemas.microsoft.com/office/powerpoint/2010/main" val="36924461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B3C44654-3295-48DA-80A2-C242784411BF}" type="datetime1">
              <a:rPr lang="en-US" smtClean="0"/>
              <a:t>4/12/2024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3E8056C-9350-3E4B-911C-FCF80EDBFE79}" type="slidenum">
              <a:rPr lang="en-US" smtClean="0"/>
              <a:t>‹#›</a:t>
            </a:fld>
            <a:endParaRPr lang="en-US"/>
          </a:p>
        </p:txBody>
      </p:sp>
    </p:spTree>
    <p:extLst>
      <p:ext uri="{BB962C8B-B14F-4D97-AF65-F5344CB8AC3E}">
        <p14:creationId xmlns:p14="http://schemas.microsoft.com/office/powerpoint/2010/main" val="633314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17F8423-EC66-4548-9DF3-CEEC4EC98807}" type="datetime1">
              <a:rPr lang="en-US" smtClean="0"/>
              <a:t>4/12/2024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3E8056C-9350-3E4B-911C-FCF80EDBFE79}" type="slidenum">
              <a:rPr lang="en-US" smtClean="0"/>
              <a:t>‹#›</a:t>
            </a:fld>
            <a:endParaRPr lang="en-US"/>
          </a:p>
        </p:txBody>
      </p:sp>
    </p:spTree>
    <p:extLst>
      <p:ext uri="{BB962C8B-B14F-4D97-AF65-F5344CB8AC3E}">
        <p14:creationId xmlns:p14="http://schemas.microsoft.com/office/powerpoint/2010/main" val="14078967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62D78B1-1FCC-4F8F-9AAA-928487DD283E}" type="datetime1">
              <a:rPr lang="en-US" smtClean="0"/>
              <a:t>4/12/2024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3E8056C-9350-3E4B-911C-FCF80EDBFE79}" type="slidenum">
              <a:rPr lang="en-US" smtClean="0"/>
              <a:t>‹#›</a:t>
            </a:fld>
            <a:endParaRPr lang="en-US"/>
          </a:p>
        </p:txBody>
      </p:sp>
    </p:spTree>
    <p:extLst>
      <p:ext uri="{BB962C8B-B14F-4D97-AF65-F5344CB8AC3E}">
        <p14:creationId xmlns:p14="http://schemas.microsoft.com/office/powerpoint/2010/main" val="15457537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CDA57C2-2F2D-4D1C-AFA4-5CCC342121A8}" type="datetime1">
              <a:rPr lang="en-US" smtClean="0"/>
              <a:t>4/12/2024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3E8056C-9350-3E4B-911C-FCF80EDBFE79}" type="slidenum">
              <a:rPr lang="en-US" smtClean="0"/>
              <a:t>‹#›</a:t>
            </a:fld>
            <a:endParaRPr lang="en-US"/>
          </a:p>
        </p:txBody>
      </p:sp>
    </p:spTree>
    <p:extLst>
      <p:ext uri="{BB962C8B-B14F-4D97-AF65-F5344CB8AC3E}">
        <p14:creationId xmlns:p14="http://schemas.microsoft.com/office/powerpoint/2010/main" val="13738001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8A86930-6934-4297-A6B9-4B0244FA2375}" type="datetime1">
              <a:rPr lang="en-US" smtClean="0"/>
              <a:t>4/12/2024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3E8056C-9350-3E4B-911C-FCF80EDBFE79}" type="slidenum">
              <a:rPr lang="en-US" smtClean="0"/>
              <a:t>‹#›</a:t>
            </a:fld>
            <a:endParaRPr lang="en-US"/>
          </a:p>
        </p:txBody>
      </p:sp>
    </p:spTree>
    <p:extLst>
      <p:ext uri="{BB962C8B-B14F-4D97-AF65-F5344CB8AC3E}">
        <p14:creationId xmlns:p14="http://schemas.microsoft.com/office/powerpoint/2010/main" val="18628523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6536376-7DF0-4C43-81F6-1984E8999569}" type="datetime1">
              <a:rPr lang="en-US" smtClean="0"/>
              <a:t>4/12/2024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3E8056C-9350-3E4B-911C-FCF80EDBFE79}" type="slidenum">
              <a:rPr lang="en-US" smtClean="0"/>
              <a:t>‹#›</a:t>
            </a:fld>
            <a:endParaRPr lang="en-US"/>
          </a:p>
        </p:txBody>
      </p:sp>
    </p:spTree>
    <p:extLst>
      <p:ext uri="{BB962C8B-B14F-4D97-AF65-F5344CB8AC3E}">
        <p14:creationId xmlns:p14="http://schemas.microsoft.com/office/powerpoint/2010/main" val="7949870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34E1443-266B-4516-AE4F-C92D9D829DD6}" type="datetime1">
              <a:rPr lang="en-US" smtClean="0"/>
              <a:t>4/12/2024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3E8056C-9350-3E4B-911C-FCF80EDBFE79}" type="slidenum">
              <a:rPr lang="en-US" smtClean="0"/>
              <a:t>‹#›</a:t>
            </a:fld>
            <a:endParaRPr lang="en-US"/>
          </a:p>
        </p:txBody>
      </p:sp>
    </p:spTree>
    <p:extLst>
      <p:ext uri="{BB962C8B-B14F-4D97-AF65-F5344CB8AC3E}">
        <p14:creationId xmlns:p14="http://schemas.microsoft.com/office/powerpoint/2010/main" val="18521359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1838B83-0040-4B9B-8450-7B7D8F2AFC56}" type="datetime1">
              <a:rPr lang="en-US" smtClean="0"/>
              <a:t>4/12/2024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3E8056C-9350-3E4B-911C-FCF80EDBFE79}" type="slidenum">
              <a:rPr lang="en-US" smtClean="0"/>
              <a:t>‹#›</a:t>
            </a:fld>
            <a:endParaRPr lang="en-US"/>
          </a:p>
        </p:txBody>
      </p:sp>
    </p:spTree>
    <p:extLst>
      <p:ext uri="{BB962C8B-B14F-4D97-AF65-F5344CB8AC3E}">
        <p14:creationId xmlns:p14="http://schemas.microsoft.com/office/powerpoint/2010/main" val="10741878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211DE93-7E4B-47D0-9A0F-04F66F68EDA2}" type="datetime1">
              <a:rPr lang="en-US" smtClean="0"/>
              <a:t>4/12/2024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3E8056C-9350-3E4B-911C-FCF80EDBFE79}" type="slidenum">
              <a:rPr lang="en-US" smtClean="0"/>
              <a:t>‹#›</a:t>
            </a:fld>
            <a:endParaRPr lang="en-US"/>
          </a:p>
        </p:txBody>
      </p:sp>
    </p:spTree>
    <p:extLst>
      <p:ext uri="{BB962C8B-B14F-4D97-AF65-F5344CB8AC3E}">
        <p14:creationId xmlns:p14="http://schemas.microsoft.com/office/powerpoint/2010/main" val="21283809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56FC4AD-DF1D-46CE-8C72-E18183720777}" type="datetime1">
              <a:rPr lang="en-US" smtClean="0"/>
              <a:t>4/12/2024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3E8056C-9350-3E4B-911C-FCF80EDBFE79}" type="slidenum">
              <a:rPr lang="en-US" smtClean="0"/>
              <a:t>‹#›</a:t>
            </a:fld>
            <a:endParaRPr lang="en-US"/>
          </a:p>
        </p:txBody>
      </p:sp>
    </p:spTree>
    <p:extLst>
      <p:ext uri="{BB962C8B-B14F-4D97-AF65-F5344CB8AC3E}">
        <p14:creationId xmlns:p14="http://schemas.microsoft.com/office/powerpoint/2010/main" val="10638379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F3F329E-C400-4136-AFA0-B22168647C62}" type="datetime1">
              <a:rPr lang="en-US" smtClean="0"/>
              <a:t>4/12/2024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3E8056C-9350-3E4B-911C-FCF80EDBFE79}" type="slidenum">
              <a:rPr lang="en-US" smtClean="0"/>
              <a:t>‹#›</a:t>
            </a:fld>
            <a:endParaRPr lang="en-US"/>
          </a:p>
        </p:txBody>
      </p:sp>
    </p:spTree>
    <p:extLst>
      <p:ext uri="{BB962C8B-B14F-4D97-AF65-F5344CB8AC3E}">
        <p14:creationId xmlns:p14="http://schemas.microsoft.com/office/powerpoint/2010/main" val="21222912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B429D1C-67DB-4506-BB80-389ABC60448E}" type="datetime1">
              <a:rPr lang="en-US" smtClean="0"/>
              <a:t>4/12/2024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3E8056C-9350-3E4B-911C-FCF80EDBFE79}" type="slidenum">
              <a:rPr lang="en-US" smtClean="0"/>
              <a:t>‹#›</a:t>
            </a:fld>
            <a:endParaRPr lang="en-US"/>
          </a:p>
        </p:txBody>
      </p:sp>
    </p:spTree>
    <p:extLst>
      <p:ext uri="{BB962C8B-B14F-4D97-AF65-F5344CB8AC3E}">
        <p14:creationId xmlns:p14="http://schemas.microsoft.com/office/powerpoint/2010/main" val="1339100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4.jpg"/><Relationship Id="rId5" Type="http://schemas.openxmlformats.org/officeDocument/2006/relationships/image" Target="../media/image3.png"/><Relationship Id="rId4" Type="http://schemas.openxmlformats.org/officeDocument/2006/relationships/image" Target="../media/image2.jpg"/></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1.jpg"/><Relationship Id="rId7" Type="http://schemas.openxmlformats.org/officeDocument/2006/relationships/image" Target="../media/image8.sv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itle 1" hidden="1">
            <a:extLst>
              <a:ext uri="{FF2B5EF4-FFF2-40B4-BE49-F238E27FC236}">
                <a16:creationId xmlns:a16="http://schemas.microsoft.com/office/drawing/2014/main" id="{E4A62A27-F9F7-6740-95F2-A32D07E72FA3}"/>
              </a:ext>
            </a:extLst>
          </p:cNvPr>
          <p:cNvSpPr>
            <a:spLocks noGrp="1"/>
          </p:cNvSpPr>
          <p:nvPr>
            <p:ph type="ctrTitle"/>
          </p:nvPr>
        </p:nvSpPr>
        <p:spPr>
          <a:xfrm>
            <a:off x="1524000" y="-1002651"/>
            <a:ext cx="9144000" cy="2387600"/>
          </a:xfrm>
        </p:spPr>
        <p:txBody>
          <a:bodyPr/>
          <a:lstStyle/>
          <a:p>
            <a:r>
              <a:rPr lang="en-US" dirty="0"/>
              <a:t>Presentation title slide</a:t>
            </a:r>
          </a:p>
        </p:txBody>
      </p:sp>
      <p:sp>
        <p:nvSpPr>
          <p:cNvPr id="3" name="Text Placeholder 1"/>
          <p:cNvSpPr txBox="1">
            <a:spLocks/>
          </p:cNvSpPr>
          <p:nvPr/>
        </p:nvSpPr>
        <p:spPr>
          <a:xfrm>
            <a:off x="339724" y="1904546"/>
            <a:ext cx="11431361" cy="400367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4000" b="1" u="sng" dirty="0">
                <a:solidFill>
                  <a:schemeClr val="tx1"/>
                </a:solidFill>
                <a:latin typeface="Times New Roman" panose="02020603050405020304" pitchFamily="18" charset="0"/>
                <a:ea typeface="Arial" charset="0"/>
                <a:cs typeface="Times New Roman" panose="02020603050405020304" pitchFamily="18" charset="0"/>
              </a:rPr>
              <a:t>A</a:t>
            </a:r>
            <a:r>
              <a:rPr lang="en-GB" sz="4000" b="1" dirty="0">
                <a:solidFill>
                  <a:schemeClr val="tx1"/>
                </a:solidFill>
                <a:latin typeface="Times New Roman" panose="02020603050405020304" pitchFamily="18" charset="0"/>
                <a:ea typeface="Arial" charset="0"/>
                <a:cs typeface="Times New Roman" panose="02020603050405020304" pitchFamily="18" charset="0"/>
              </a:rPr>
              <a:t>nalysing </a:t>
            </a:r>
            <a:r>
              <a:rPr lang="en-GB" sz="4000" b="1" u="sng" dirty="0">
                <a:solidFill>
                  <a:schemeClr val="tx1"/>
                </a:solidFill>
                <a:latin typeface="Times New Roman" panose="02020603050405020304" pitchFamily="18" charset="0"/>
                <a:ea typeface="Arial" charset="0"/>
                <a:cs typeface="Times New Roman" panose="02020603050405020304" pitchFamily="18" charset="0"/>
              </a:rPr>
              <a:t>D</a:t>
            </a:r>
            <a:r>
              <a:rPr lang="en-GB" sz="4000" b="1" dirty="0">
                <a:solidFill>
                  <a:schemeClr val="tx1"/>
                </a:solidFill>
                <a:latin typeface="Times New Roman" panose="02020603050405020304" pitchFamily="18" charset="0"/>
                <a:ea typeface="Arial" charset="0"/>
                <a:cs typeface="Times New Roman" panose="02020603050405020304" pitchFamily="18" charset="0"/>
              </a:rPr>
              <a:t>emand </a:t>
            </a:r>
            <a:r>
              <a:rPr lang="en-GB" sz="4000" b="1" u="sng" dirty="0">
                <a:solidFill>
                  <a:schemeClr val="tx1"/>
                </a:solidFill>
                <a:latin typeface="Times New Roman" panose="02020603050405020304" pitchFamily="18" charset="0"/>
                <a:ea typeface="Arial" charset="0"/>
                <a:cs typeface="Times New Roman" panose="02020603050405020304" pitchFamily="18" charset="0"/>
              </a:rPr>
              <a:t>R</a:t>
            </a:r>
            <a:r>
              <a:rPr lang="en-GB" sz="4000" b="1" dirty="0">
                <a:solidFill>
                  <a:schemeClr val="tx1"/>
                </a:solidFill>
                <a:latin typeface="Times New Roman" panose="02020603050405020304" pitchFamily="18" charset="0"/>
                <a:ea typeface="Arial" charset="0"/>
                <a:cs typeface="Times New Roman" panose="02020603050405020304" pitchFamily="18" charset="0"/>
              </a:rPr>
              <a:t>esponsive </a:t>
            </a:r>
            <a:r>
              <a:rPr lang="en-GB" sz="4000" b="1" u="sng" dirty="0">
                <a:solidFill>
                  <a:schemeClr val="tx1"/>
                </a:solidFill>
                <a:latin typeface="Times New Roman" panose="02020603050405020304" pitchFamily="18" charset="0"/>
                <a:ea typeface="Arial" charset="0"/>
                <a:cs typeface="Times New Roman" panose="02020603050405020304" pitchFamily="18" charset="0"/>
              </a:rPr>
              <a:t>O</a:t>
            </a:r>
            <a:r>
              <a:rPr lang="en-GB" sz="4000" b="1" dirty="0">
                <a:solidFill>
                  <a:schemeClr val="tx1"/>
                </a:solidFill>
                <a:latin typeface="Times New Roman" panose="02020603050405020304" pitchFamily="18" charset="0"/>
                <a:ea typeface="Arial" charset="0"/>
                <a:cs typeface="Times New Roman" panose="02020603050405020304" pitchFamily="18" charset="0"/>
              </a:rPr>
              <a:t>nline </a:t>
            </a:r>
            <a:r>
              <a:rPr lang="en-GB" sz="4000" b="1" u="sng" dirty="0">
                <a:solidFill>
                  <a:schemeClr val="tx1"/>
                </a:solidFill>
                <a:latin typeface="Times New Roman" panose="02020603050405020304" pitchFamily="18" charset="0"/>
                <a:ea typeface="Arial" charset="0"/>
                <a:cs typeface="Times New Roman" panose="02020603050405020304" pitchFamily="18" charset="0"/>
              </a:rPr>
              <a:t>I</a:t>
            </a:r>
            <a:r>
              <a:rPr lang="en-GB" sz="4000" b="1" dirty="0">
                <a:solidFill>
                  <a:schemeClr val="tx1"/>
                </a:solidFill>
                <a:latin typeface="Times New Roman" panose="02020603050405020304" pitchFamily="18" charset="0"/>
                <a:ea typeface="Arial" charset="0"/>
                <a:cs typeface="Times New Roman" panose="02020603050405020304" pitchFamily="18" charset="0"/>
              </a:rPr>
              <a:t>ntelligent </a:t>
            </a:r>
            <a:r>
              <a:rPr lang="en-GB" sz="4000" b="1" u="sng" dirty="0">
                <a:solidFill>
                  <a:schemeClr val="tx1"/>
                </a:solidFill>
                <a:latin typeface="Times New Roman" panose="02020603050405020304" pitchFamily="18" charset="0"/>
                <a:ea typeface="Arial" charset="0"/>
                <a:cs typeface="Times New Roman" panose="02020603050405020304" pitchFamily="18" charset="0"/>
              </a:rPr>
              <a:t>T</a:t>
            </a:r>
            <a:r>
              <a:rPr lang="en-GB" sz="4000" b="1" dirty="0">
                <a:solidFill>
                  <a:schemeClr val="tx1"/>
                </a:solidFill>
                <a:latin typeface="Times New Roman" panose="02020603050405020304" pitchFamily="18" charset="0"/>
                <a:ea typeface="Arial" charset="0"/>
                <a:cs typeface="Times New Roman" panose="02020603050405020304" pitchFamily="18" charset="0"/>
              </a:rPr>
              <a:t>ransport </a:t>
            </a:r>
          </a:p>
          <a:p>
            <a:endParaRPr lang="en-GB" b="1" dirty="0">
              <a:solidFill>
                <a:schemeClr val="tx1"/>
              </a:solidFill>
              <a:latin typeface="Arial" charset="0"/>
              <a:ea typeface="Arial" charset="0"/>
              <a:cs typeface="Arial" charset="0"/>
            </a:endParaRPr>
          </a:p>
          <a:p>
            <a:r>
              <a:rPr lang="en-GB" sz="2400" dirty="0">
                <a:solidFill>
                  <a:schemeClr val="tx1"/>
                </a:solidFill>
                <a:latin typeface="Arial" charset="0"/>
                <a:ea typeface="Arial" charset="0"/>
                <a:cs typeface="Arial" charset="0"/>
              </a:rPr>
              <a:t>Choice Experiment Strategy</a:t>
            </a:r>
          </a:p>
          <a:p>
            <a:endParaRPr lang="en-GB" sz="1600" dirty="0">
              <a:solidFill>
                <a:schemeClr val="tx1"/>
              </a:solidFill>
              <a:latin typeface="Arial" charset="0"/>
              <a:ea typeface="Arial" charset="0"/>
              <a:cs typeface="Arial" charset="0"/>
            </a:endParaRPr>
          </a:p>
          <a:p>
            <a:r>
              <a:rPr lang="en-GB" sz="1600" dirty="0">
                <a:solidFill>
                  <a:schemeClr val="tx1"/>
                </a:solidFill>
                <a:latin typeface="Arial" charset="0"/>
                <a:ea typeface="Arial" charset="0"/>
                <a:cs typeface="Arial" charset="0"/>
              </a:rPr>
              <a:t>Brownbag Seminar</a:t>
            </a:r>
          </a:p>
          <a:p>
            <a:r>
              <a:rPr lang="en-GB" sz="1600" dirty="0">
                <a:solidFill>
                  <a:schemeClr val="tx1"/>
                </a:solidFill>
                <a:latin typeface="Arial" charset="0"/>
                <a:ea typeface="Arial" charset="0"/>
                <a:cs typeface="Arial" charset="0"/>
              </a:rPr>
              <a:t>April 12, 2024</a:t>
            </a:r>
          </a:p>
        </p:txBody>
      </p:sp>
      <p:sp>
        <p:nvSpPr>
          <p:cNvPr id="4" name="Date Placeholder 3">
            <a:extLst>
              <a:ext uri="{FF2B5EF4-FFF2-40B4-BE49-F238E27FC236}">
                <a16:creationId xmlns:a16="http://schemas.microsoft.com/office/drawing/2014/main" id="{2384FB74-8368-E81A-A00E-2F183B936996}"/>
              </a:ext>
            </a:extLst>
          </p:cNvPr>
          <p:cNvSpPr>
            <a:spLocks noGrp="1"/>
          </p:cNvSpPr>
          <p:nvPr>
            <p:ph type="dt" sz="half" idx="10"/>
          </p:nvPr>
        </p:nvSpPr>
        <p:spPr/>
        <p:txBody>
          <a:bodyPr/>
          <a:lstStyle/>
          <a:p>
            <a:fld id="{A0713618-631A-430B-9BB8-FF6F00058DBD}" type="datetime1">
              <a:rPr lang="en-US" smtClean="0"/>
              <a:t>4/12/2024</a:t>
            </a:fld>
            <a:endParaRPr lang="en-US"/>
          </a:p>
        </p:txBody>
      </p:sp>
      <p:sp>
        <p:nvSpPr>
          <p:cNvPr id="5" name="Slide Number Placeholder 4">
            <a:extLst>
              <a:ext uri="{FF2B5EF4-FFF2-40B4-BE49-F238E27FC236}">
                <a16:creationId xmlns:a16="http://schemas.microsoft.com/office/drawing/2014/main" id="{474ABEFA-BDC9-BB3F-14BD-1268E09FABCF}"/>
              </a:ext>
            </a:extLst>
          </p:cNvPr>
          <p:cNvSpPr>
            <a:spLocks noGrp="1"/>
          </p:cNvSpPr>
          <p:nvPr>
            <p:ph type="sldNum" sz="quarter" idx="12"/>
          </p:nvPr>
        </p:nvSpPr>
        <p:spPr/>
        <p:txBody>
          <a:bodyPr/>
          <a:lstStyle/>
          <a:p>
            <a:fld id="{03E8056C-9350-3E4B-911C-FCF80EDBFE79}" type="slidenum">
              <a:rPr lang="en-US" smtClean="0"/>
              <a:t>1</a:t>
            </a:fld>
            <a:endParaRPr lang="en-US"/>
          </a:p>
        </p:txBody>
      </p:sp>
    </p:spTree>
    <p:extLst>
      <p:ext uri="{BB962C8B-B14F-4D97-AF65-F5344CB8AC3E}">
        <p14:creationId xmlns:p14="http://schemas.microsoft.com/office/powerpoint/2010/main" val="4414461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itle 1" hidden="1">
            <a:extLst>
              <a:ext uri="{FF2B5EF4-FFF2-40B4-BE49-F238E27FC236}">
                <a16:creationId xmlns:a16="http://schemas.microsoft.com/office/drawing/2014/main" id="{E4A62A27-F9F7-6740-95F2-A32D07E72FA3}"/>
              </a:ext>
            </a:extLst>
          </p:cNvPr>
          <p:cNvSpPr>
            <a:spLocks noGrp="1"/>
          </p:cNvSpPr>
          <p:nvPr>
            <p:ph type="ctrTitle"/>
          </p:nvPr>
        </p:nvSpPr>
        <p:spPr>
          <a:xfrm>
            <a:off x="1524000" y="-1002651"/>
            <a:ext cx="9144000" cy="2387600"/>
          </a:xfrm>
        </p:spPr>
        <p:txBody>
          <a:bodyPr/>
          <a:lstStyle/>
          <a:p>
            <a:r>
              <a:rPr lang="en-US" dirty="0"/>
              <a:t>Presentation title slide</a:t>
            </a:r>
          </a:p>
        </p:txBody>
      </p:sp>
      <p:sp>
        <p:nvSpPr>
          <p:cNvPr id="3" name="Text Placeholder 1"/>
          <p:cNvSpPr txBox="1">
            <a:spLocks/>
          </p:cNvSpPr>
          <p:nvPr/>
        </p:nvSpPr>
        <p:spPr>
          <a:xfrm>
            <a:off x="339724" y="1904546"/>
            <a:ext cx="11431361" cy="400367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a:buFont typeface="Arial" panose="020B0604020202020204" pitchFamily="34" charset="0"/>
              <a:buChar char="•"/>
            </a:pPr>
            <a:r>
              <a:rPr lang="en-GB" sz="2400" dirty="0">
                <a:solidFill>
                  <a:schemeClr val="tx1"/>
                </a:solidFill>
                <a:latin typeface="Times New Roman" panose="02020603050405020304" pitchFamily="18" charset="0"/>
                <a:ea typeface="Arial" charset="0"/>
                <a:cs typeface="Times New Roman" panose="02020603050405020304" pitchFamily="18" charset="0"/>
              </a:rPr>
              <a:t>Introduction to Demand Responsive Transport</a:t>
            </a:r>
          </a:p>
          <a:p>
            <a:pPr marL="342900" indent="-342900">
              <a:buFont typeface="Arial" panose="020B0604020202020204" pitchFamily="34" charset="0"/>
              <a:buChar char="•"/>
            </a:pPr>
            <a:endParaRPr lang="en-GB" sz="2400" dirty="0">
              <a:solidFill>
                <a:schemeClr val="tx1"/>
              </a:solidFill>
              <a:latin typeface="Times New Roman" panose="02020603050405020304" pitchFamily="18" charset="0"/>
              <a:ea typeface="Arial" charset="0"/>
              <a:cs typeface="Times New Roman" panose="02020603050405020304" pitchFamily="18" charset="0"/>
            </a:endParaRPr>
          </a:p>
          <a:p>
            <a:pPr marL="342900" indent="-342900">
              <a:buFont typeface="Arial" panose="020B0604020202020204" pitchFamily="34" charset="0"/>
              <a:buChar char="•"/>
            </a:pPr>
            <a:r>
              <a:rPr lang="en-GB" sz="2400" dirty="0">
                <a:solidFill>
                  <a:schemeClr val="tx1"/>
                </a:solidFill>
                <a:latin typeface="Times New Roman" panose="02020603050405020304" pitchFamily="18" charset="0"/>
                <a:ea typeface="Arial" charset="0"/>
                <a:cs typeface="Times New Roman" panose="02020603050405020304" pitchFamily="18" charset="0"/>
              </a:rPr>
              <a:t>Broad scope of the project</a:t>
            </a:r>
          </a:p>
          <a:p>
            <a:pPr marL="342900" indent="-342900">
              <a:buFont typeface="Arial" panose="020B0604020202020204" pitchFamily="34" charset="0"/>
              <a:buChar char="•"/>
            </a:pPr>
            <a:endParaRPr lang="en-GB" sz="2400" dirty="0">
              <a:solidFill>
                <a:schemeClr val="tx1"/>
              </a:solidFill>
              <a:latin typeface="Times New Roman" panose="02020603050405020304" pitchFamily="18" charset="0"/>
              <a:ea typeface="Arial" charset="0"/>
              <a:cs typeface="Times New Roman" panose="02020603050405020304" pitchFamily="18" charset="0"/>
            </a:endParaRPr>
          </a:p>
          <a:p>
            <a:pPr marL="342900" indent="-342900">
              <a:buFont typeface="Arial" panose="020B0604020202020204" pitchFamily="34" charset="0"/>
              <a:buChar char="•"/>
            </a:pPr>
            <a:r>
              <a:rPr lang="en-GB" sz="2400" dirty="0">
                <a:solidFill>
                  <a:schemeClr val="tx1"/>
                </a:solidFill>
                <a:latin typeface="Times New Roman" panose="02020603050405020304" pitchFamily="18" charset="0"/>
                <a:ea typeface="Arial" charset="0"/>
                <a:cs typeface="Times New Roman" panose="02020603050405020304" pitchFamily="18" charset="0"/>
              </a:rPr>
              <a:t>Design of stated choice experiments</a:t>
            </a:r>
          </a:p>
          <a:p>
            <a:pPr marL="342900" indent="-342900">
              <a:buFont typeface="Arial" panose="020B0604020202020204" pitchFamily="34" charset="0"/>
              <a:buChar char="•"/>
            </a:pPr>
            <a:endParaRPr lang="en-GB" sz="2400" dirty="0">
              <a:solidFill>
                <a:schemeClr val="tx1"/>
              </a:solidFill>
              <a:latin typeface="Times New Roman" panose="02020603050405020304" pitchFamily="18" charset="0"/>
              <a:ea typeface="Arial" charset="0"/>
              <a:cs typeface="Times New Roman" panose="02020603050405020304" pitchFamily="18" charset="0"/>
            </a:endParaRPr>
          </a:p>
          <a:p>
            <a:pPr marL="342900" indent="-342900">
              <a:buFont typeface="Arial" panose="020B0604020202020204" pitchFamily="34" charset="0"/>
              <a:buChar char="•"/>
            </a:pPr>
            <a:r>
              <a:rPr lang="en-GB" sz="2400" dirty="0">
                <a:solidFill>
                  <a:schemeClr val="tx1"/>
                </a:solidFill>
                <a:latin typeface="Times New Roman" panose="02020603050405020304" pitchFamily="18" charset="0"/>
                <a:ea typeface="Arial" charset="0"/>
                <a:cs typeface="Times New Roman" panose="02020603050405020304" pitchFamily="18" charset="0"/>
              </a:rPr>
              <a:t>Points of contention</a:t>
            </a:r>
          </a:p>
          <a:p>
            <a:pPr marL="342900" indent="-342900">
              <a:buFont typeface="Arial" panose="020B0604020202020204" pitchFamily="34" charset="0"/>
              <a:buChar char="•"/>
            </a:pPr>
            <a:endParaRPr lang="en-GB" sz="2400" b="1" u="sng" dirty="0">
              <a:solidFill>
                <a:schemeClr val="tx1"/>
              </a:solidFill>
              <a:latin typeface="Times New Roman" panose="02020603050405020304" pitchFamily="18" charset="0"/>
              <a:ea typeface="Arial" charset="0"/>
              <a:cs typeface="Times New Roman" panose="02020603050405020304" pitchFamily="18" charset="0"/>
            </a:endParaRPr>
          </a:p>
          <a:p>
            <a:pPr marL="342900" indent="-342900">
              <a:buFont typeface="Arial" panose="020B0604020202020204" pitchFamily="34" charset="0"/>
              <a:buChar char="•"/>
            </a:pPr>
            <a:endParaRPr lang="en-GB" sz="2400" b="1" dirty="0">
              <a:solidFill>
                <a:schemeClr val="tx1"/>
              </a:solidFill>
              <a:latin typeface="Times New Roman" panose="02020603050405020304" pitchFamily="18" charset="0"/>
              <a:ea typeface="Arial" charset="0"/>
              <a:cs typeface="Times New Roman" panose="02020603050405020304" pitchFamily="18" charset="0"/>
            </a:endParaRPr>
          </a:p>
          <a:p>
            <a:endParaRPr lang="en-GB" b="1" dirty="0">
              <a:solidFill>
                <a:schemeClr val="tx1"/>
              </a:solidFill>
              <a:latin typeface="Arial" charset="0"/>
              <a:ea typeface="Arial" charset="0"/>
              <a:cs typeface="Arial" charset="0"/>
            </a:endParaRPr>
          </a:p>
        </p:txBody>
      </p:sp>
      <p:sp>
        <p:nvSpPr>
          <p:cNvPr id="4" name="Text Placeholder 2">
            <a:extLst>
              <a:ext uri="{FF2B5EF4-FFF2-40B4-BE49-F238E27FC236}">
                <a16:creationId xmlns:a16="http://schemas.microsoft.com/office/drawing/2014/main" id="{48EB5E6A-6D50-F2F7-496C-CA9B47895E07}"/>
              </a:ext>
            </a:extLst>
          </p:cNvPr>
          <p:cNvSpPr txBox="1">
            <a:spLocks/>
          </p:cNvSpPr>
          <p:nvPr/>
        </p:nvSpPr>
        <p:spPr>
          <a:xfrm>
            <a:off x="236311" y="970989"/>
            <a:ext cx="5819775" cy="82800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2800" b="1" dirty="0">
                <a:solidFill>
                  <a:schemeClr val="tx1"/>
                </a:solidFill>
                <a:latin typeface="Arial" charset="0"/>
                <a:ea typeface="Arial" charset="0"/>
                <a:cs typeface="Arial" charset="0"/>
              </a:rPr>
              <a:t>Flow of the presentation</a:t>
            </a:r>
          </a:p>
        </p:txBody>
      </p:sp>
      <p:sp>
        <p:nvSpPr>
          <p:cNvPr id="5" name="Date Placeholder 4">
            <a:extLst>
              <a:ext uri="{FF2B5EF4-FFF2-40B4-BE49-F238E27FC236}">
                <a16:creationId xmlns:a16="http://schemas.microsoft.com/office/drawing/2014/main" id="{933E00BE-F391-5CD8-AC2E-71F2CBC72D60}"/>
              </a:ext>
            </a:extLst>
          </p:cNvPr>
          <p:cNvSpPr>
            <a:spLocks noGrp="1"/>
          </p:cNvSpPr>
          <p:nvPr>
            <p:ph type="dt" sz="half" idx="10"/>
          </p:nvPr>
        </p:nvSpPr>
        <p:spPr/>
        <p:txBody>
          <a:bodyPr/>
          <a:lstStyle/>
          <a:p>
            <a:fld id="{D2A51237-38C5-4ABD-A572-2EDCEBA21F89}" type="datetime1">
              <a:rPr lang="en-US" smtClean="0"/>
              <a:t>4/12/2024</a:t>
            </a:fld>
            <a:endParaRPr lang="en-US"/>
          </a:p>
        </p:txBody>
      </p:sp>
      <p:sp>
        <p:nvSpPr>
          <p:cNvPr id="6" name="Slide Number Placeholder 5">
            <a:extLst>
              <a:ext uri="{FF2B5EF4-FFF2-40B4-BE49-F238E27FC236}">
                <a16:creationId xmlns:a16="http://schemas.microsoft.com/office/drawing/2014/main" id="{ACFB550F-C773-16ED-2F18-ECEFF7909BC5}"/>
              </a:ext>
            </a:extLst>
          </p:cNvPr>
          <p:cNvSpPr>
            <a:spLocks noGrp="1"/>
          </p:cNvSpPr>
          <p:nvPr>
            <p:ph type="sldNum" sz="quarter" idx="12"/>
          </p:nvPr>
        </p:nvSpPr>
        <p:spPr/>
        <p:txBody>
          <a:bodyPr/>
          <a:lstStyle/>
          <a:p>
            <a:fld id="{03E8056C-9350-3E4B-911C-FCF80EDBFE79}" type="slidenum">
              <a:rPr lang="en-US" smtClean="0"/>
              <a:t>2</a:t>
            </a:fld>
            <a:endParaRPr lang="en-US"/>
          </a:p>
        </p:txBody>
      </p:sp>
    </p:spTree>
    <p:extLst>
      <p:ext uri="{BB962C8B-B14F-4D97-AF65-F5344CB8AC3E}">
        <p14:creationId xmlns:p14="http://schemas.microsoft.com/office/powerpoint/2010/main" val="8817047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itle 1" hidden="1">
            <a:extLst>
              <a:ext uri="{FF2B5EF4-FFF2-40B4-BE49-F238E27FC236}">
                <a16:creationId xmlns:a16="http://schemas.microsoft.com/office/drawing/2014/main" id="{9B85B7A2-5A5D-F841-BAE5-FEBAA369641B}"/>
              </a:ext>
            </a:extLst>
          </p:cNvPr>
          <p:cNvSpPr>
            <a:spLocks noGrp="1"/>
          </p:cNvSpPr>
          <p:nvPr>
            <p:ph type="ctrTitle"/>
          </p:nvPr>
        </p:nvSpPr>
        <p:spPr/>
        <p:txBody>
          <a:bodyPr>
            <a:normAutofit fontScale="90000"/>
          </a:bodyPr>
          <a:lstStyle/>
          <a:p>
            <a:r>
              <a:rPr lang="en-US" dirty="0"/>
              <a:t>How</a:t>
            </a:r>
            <a:r>
              <a:rPr lang="en-US" baseline="0" dirty="0"/>
              <a:t> to display schools and/or Faculties in your slides</a:t>
            </a:r>
            <a:endParaRPr lang="en-US" dirty="0"/>
          </a:p>
        </p:txBody>
      </p:sp>
      <p:sp>
        <p:nvSpPr>
          <p:cNvPr id="3" name="Text Placeholder 2"/>
          <p:cNvSpPr txBox="1">
            <a:spLocks/>
          </p:cNvSpPr>
          <p:nvPr/>
        </p:nvSpPr>
        <p:spPr>
          <a:xfrm>
            <a:off x="236311" y="970989"/>
            <a:ext cx="5819775" cy="82800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2800" b="1" dirty="0">
                <a:solidFill>
                  <a:schemeClr val="tx1"/>
                </a:solidFill>
                <a:latin typeface="Arial" charset="0"/>
                <a:ea typeface="Arial" charset="0"/>
                <a:cs typeface="Arial" charset="0"/>
              </a:rPr>
              <a:t>Introduction</a:t>
            </a:r>
          </a:p>
          <a:p>
            <a:pPr algn="l"/>
            <a:r>
              <a:rPr lang="en-US" sz="1400" b="1" dirty="0">
                <a:solidFill>
                  <a:schemeClr val="tx1"/>
                </a:solidFill>
                <a:latin typeface="Arial" charset="0"/>
                <a:ea typeface="Arial" charset="0"/>
                <a:cs typeface="Arial" charset="0"/>
              </a:rPr>
              <a:t>Demand Responsive Transport</a:t>
            </a:r>
          </a:p>
        </p:txBody>
      </p:sp>
      <p:sp>
        <p:nvSpPr>
          <p:cNvPr id="5" name="Rectangle 4"/>
          <p:cNvSpPr/>
          <p:nvPr/>
        </p:nvSpPr>
        <p:spPr>
          <a:xfrm>
            <a:off x="236311" y="2082577"/>
            <a:ext cx="7442684" cy="4832092"/>
          </a:xfrm>
          <a:prstGeom prst="rect">
            <a:avLst/>
          </a:prstGeom>
        </p:spPr>
        <p:txBody>
          <a:bodyPr wrap="square">
            <a:spAutoFit/>
          </a:bodyPr>
          <a:lstStyle/>
          <a:p>
            <a:r>
              <a:rPr lang="en-GB" altLang="en-US" dirty="0">
                <a:solidFill>
                  <a:schemeClr val="accent1"/>
                </a:solidFill>
                <a:latin typeface="Arial" charset="0"/>
                <a:ea typeface="Arial" charset="0"/>
                <a:cs typeface="Arial" charset="0"/>
              </a:rPr>
              <a:t>A flexible service that provides shared transport to users that are going in the same general direction within a specific time frame. </a:t>
            </a:r>
          </a:p>
          <a:p>
            <a:pPr marL="742950" lvl="1" indent="-285750">
              <a:buFont typeface="Arial" panose="020B0604020202020204" pitchFamily="34" charset="0"/>
              <a:buChar char="•"/>
            </a:pPr>
            <a:r>
              <a:rPr lang="en-GB" altLang="en-US" sz="1600" dirty="0">
                <a:latin typeface="Arial" charset="0"/>
                <a:ea typeface="Arial" charset="0"/>
                <a:cs typeface="Arial" charset="0"/>
              </a:rPr>
              <a:t>Complements fixed route services to </a:t>
            </a:r>
            <a:r>
              <a:rPr lang="en-GB" altLang="en-US" sz="1600" u="sng" dirty="0">
                <a:latin typeface="Arial" charset="0"/>
                <a:ea typeface="Arial" charset="0"/>
                <a:cs typeface="Arial" charset="0"/>
              </a:rPr>
              <a:t>improve mobility and accessibility</a:t>
            </a:r>
            <a:r>
              <a:rPr lang="en-GB" altLang="en-US" sz="1600" dirty="0">
                <a:latin typeface="Arial" charset="0"/>
                <a:ea typeface="Arial" charset="0"/>
                <a:cs typeface="Arial" charset="0"/>
              </a:rPr>
              <a:t>.</a:t>
            </a:r>
          </a:p>
          <a:p>
            <a:pPr marL="285750" indent="-285750">
              <a:buFont typeface="Arial" panose="020B0604020202020204" pitchFamily="34" charset="0"/>
              <a:buChar char="•"/>
            </a:pPr>
            <a:endParaRPr lang="en-GB" altLang="en-US" sz="1600" dirty="0">
              <a:latin typeface="Arial" charset="0"/>
              <a:ea typeface="Arial" charset="0"/>
              <a:cs typeface="Arial" charset="0"/>
            </a:endParaRPr>
          </a:p>
          <a:p>
            <a:pPr marL="285750" indent="-285750">
              <a:buFont typeface="Arial" panose="020B0604020202020204" pitchFamily="34" charset="0"/>
              <a:buChar char="•"/>
            </a:pPr>
            <a:endParaRPr lang="en-GB" altLang="en-US" sz="1600" dirty="0">
              <a:latin typeface="Arial" charset="0"/>
              <a:ea typeface="Arial" charset="0"/>
              <a:cs typeface="Arial" charset="0"/>
            </a:endParaRPr>
          </a:p>
          <a:p>
            <a:r>
              <a:rPr lang="en-GB" altLang="en-US" sz="1600" dirty="0">
                <a:latin typeface="Arial" charset="0"/>
                <a:ea typeface="Arial" charset="0"/>
                <a:cs typeface="Arial" charset="0"/>
              </a:rPr>
              <a:t>Traditionally been associated to target specific regions (rural) and population </a:t>
            </a:r>
          </a:p>
          <a:p>
            <a:r>
              <a:rPr lang="en-GB" altLang="en-US" sz="1600" dirty="0">
                <a:latin typeface="Arial" charset="0"/>
                <a:ea typeface="Arial" charset="0"/>
                <a:cs typeface="Arial" charset="0"/>
              </a:rPr>
              <a:t>segments (elderly, or with special mobility needs).</a:t>
            </a:r>
          </a:p>
          <a:p>
            <a:pPr marL="285750" indent="-285750">
              <a:buFont typeface="Arial" panose="020B0604020202020204" pitchFamily="34" charset="0"/>
              <a:buChar char="•"/>
            </a:pPr>
            <a:endParaRPr lang="en-GB" altLang="en-US" sz="1600" dirty="0">
              <a:latin typeface="Arial" charset="0"/>
              <a:ea typeface="Arial" charset="0"/>
              <a:cs typeface="Arial" charset="0"/>
            </a:endParaRPr>
          </a:p>
          <a:p>
            <a:pPr marL="285750" indent="-285750">
              <a:buFont typeface="Arial" panose="020B0604020202020204" pitchFamily="34" charset="0"/>
              <a:buChar char="•"/>
            </a:pPr>
            <a:endParaRPr lang="en-GB" altLang="en-US" sz="1600" dirty="0">
              <a:latin typeface="Arial" charset="0"/>
              <a:ea typeface="Arial" charset="0"/>
              <a:cs typeface="Arial" charset="0"/>
            </a:endParaRPr>
          </a:p>
          <a:p>
            <a:pPr marL="285750" indent="-285750">
              <a:buFont typeface="Arial" panose="020B0604020202020204" pitchFamily="34" charset="0"/>
              <a:buChar char="•"/>
            </a:pPr>
            <a:endParaRPr lang="en-GB" altLang="en-US" sz="1600" dirty="0">
              <a:latin typeface="Arial" charset="0"/>
              <a:ea typeface="Arial" charset="0"/>
              <a:cs typeface="Arial" charset="0"/>
            </a:endParaRPr>
          </a:p>
          <a:p>
            <a:pPr marL="285750" indent="-285750">
              <a:buFont typeface="Arial" panose="020B0604020202020204" pitchFamily="34" charset="0"/>
              <a:buChar char="•"/>
            </a:pPr>
            <a:r>
              <a:rPr lang="en-GB" altLang="en-US" sz="1600" dirty="0">
                <a:latin typeface="Arial" charset="0"/>
                <a:ea typeface="Arial" charset="0"/>
                <a:cs typeface="Arial" charset="0"/>
              </a:rPr>
              <a:t>Successful implementations of DRT around many cities across Europe and the US.</a:t>
            </a:r>
          </a:p>
          <a:p>
            <a:pPr marL="285750" indent="-285750">
              <a:buFont typeface="Arial" panose="020B0604020202020204" pitchFamily="34" charset="0"/>
              <a:buChar char="•"/>
            </a:pPr>
            <a:r>
              <a:rPr lang="en-GB" altLang="en-US" sz="1600" dirty="0">
                <a:latin typeface="Arial" charset="0"/>
                <a:ea typeface="Arial" charset="0"/>
                <a:cs typeface="Arial" charset="0"/>
              </a:rPr>
              <a:t>Implementations in the UK as well.</a:t>
            </a:r>
          </a:p>
          <a:p>
            <a:pPr marL="742950" lvl="1" indent="-285750">
              <a:buFont typeface="Arial" panose="020B0604020202020204" pitchFamily="34" charset="0"/>
              <a:buChar char="•"/>
            </a:pPr>
            <a:r>
              <a:rPr lang="en-GB" altLang="en-US" sz="1600" dirty="0">
                <a:latin typeface="Arial" charset="0"/>
                <a:ea typeface="Arial" charset="0"/>
                <a:cs typeface="Arial" charset="0"/>
              </a:rPr>
              <a:t>Not as successful in the UK</a:t>
            </a:r>
          </a:p>
          <a:p>
            <a:pPr marL="742950" lvl="1" indent="-285750">
              <a:buFont typeface="Arial" panose="020B0604020202020204" pitchFamily="34" charset="0"/>
              <a:buChar char="•"/>
            </a:pPr>
            <a:r>
              <a:rPr lang="en-GB" altLang="en-US" sz="1600" dirty="0">
                <a:latin typeface="Arial" charset="0"/>
                <a:ea typeface="Arial" charset="0"/>
                <a:cs typeface="Arial" charset="0"/>
              </a:rPr>
              <a:t>Mostly implemented in the rural areas</a:t>
            </a:r>
          </a:p>
          <a:p>
            <a:pPr marL="742950" lvl="1" indent="-285750">
              <a:buFont typeface="Arial" panose="020B0604020202020204" pitchFamily="34" charset="0"/>
              <a:buChar char="•"/>
            </a:pPr>
            <a:r>
              <a:rPr lang="en-GB" altLang="en-US" sz="1600" dirty="0">
                <a:latin typeface="Arial" charset="0"/>
                <a:ea typeface="Arial" charset="0"/>
                <a:cs typeface="Arial" charset="0"/>
              </a:rPr>
              <a:t>Relies heavily on subsidies – financial sustainability is a challenge</a:t>
            </a:r>
          </a:p>
          <a:p>
            <a:pPr marL="285750" indent="-285750">
              <a:buFont typeface="Arial" panose="020B0604020202020204" pitchFamily="34" charset="0"/>
              <a:buChar char="•"/>
            </a:pPr>
            <a:endParaRPr lang="en-GB" altLang="en-US" sz="1600" dirty="0">
              <a:latin typeface="Arial" charset="0"/>
              <a:ea typeface="Arial" charset="0"/>
              <a:cs typeface="Arial" charset="0"/>
            </a:endParaRPr>
          </a:p>
          <a:p>
            <a:pPr marL="285750" indent="-285750">
              <a:buFont typeface="Arial" panose="020B0604020202020204" pitchFamily="34" charset="0"/>
              <a:buChar char="•"/>
            </a:pPr>
            <a:endParaRPr lang="en-GB" altLang="en-US" sz="1600" dirty="0">
              <a:latin typeface="Arial" charset="0"/>
              <a:ea typeface="Arial" charset="0"/>
              <a:cs typeface="Arial" charset="0"/>
            </a:endParaRPr>
          </a:p>
          <a:p>
            <a:pPr marL="285750" indent="-285750">
              <a:buFont typeface="Arial" panose="020B0604020202020204" pitchFamily="34" charset="0"/>
              <a:buChar char="•"/>
            </a:pPr>
            <a:endParaRPr lang="en-GB" altLang="en-US" sz="1600" dirty="0">
              <a:latin typeface="Arial" charset="0"/>
              <a:ea typeface="Arial" charset="0"/>
              <a:cs typeface="Arial" charset="0"/>
            </a:endParaRPr>
          </a:p>
        </p:txBody>
      </p:sp>
      <p:pic>
        <p:nvPicPr>
          <p:cNvPr id="6" name="Picture 5" descr="A red and white bus&#10;&#10;Description automatically generated">
            <a:extLst>
              <a:ext uri="{FF2B5EF4-FFF2-40B4-BE49-F238E27FC236}">
                <a16:creationId xmlns:a16="http://schemas.microsoft.com/office/drawing/2014/main" id="{1F1BB5DE-0B4C-E77B-B24A-FE0FEDBD420F}"/>
              </a:ext>
            </a:extLst>
          </p:cNvPr>
          <p:cNvPicPr>
            <a:picLocks noChangeAspect="1"/>
          </p:cNvPicPr>
          <p:nvPr/>
        </p:nvPicPr>
        <p:blipFill rotWithShape="1">
          <a:blip r:embed="rId4">
            <a:extLst>
              <a:ext uri="{28A0092B-C50C-407E-A947-70E740481C1C}">
                <a14:useLocalDpi xmlns:a14="http://schemas.microsoft.com/office/drawing/2010/main" val="0"/>
              </a:ext>
            </a:extLst>
          </a:blip>
          <a:srcRect l="12479" r="30184" b="2"/>
          <a:stretch/>
        </p:blipFill>
        <p:spPr>
          <a:xfrm>
            <a:off x="10048719" y="2551181"/>
            <a:ext cx="2064625" cy="1917433"/>
          </a:xfrm>
          <a:custGeom>
            <a:avLst/>
            <a:gdLst/>
            <a:ahLst/>
            <a:cxnLst/>
            <a:rect l="l" t="t" r="r" b="b"/>
            <a:pathLst>
              <a:path w="3662680" h="3401568">
                <a:moveTo>
                  <a:pt x="0" y="0"/>
                </a:moveTo>
                <a:lnTo>
                  <a:pt x="3662680" y="0"/>
                </a:lnTo>
                <a:lnTo>
                  <a:pt x="3662680" y="3401568"/>
                </a:lnTo>
                <a:lnTo>
                  <a:pt x="774527" y="3401568"/>
                </a:lnTo>
                <a:lnTo>
                  <a:pt x="769892" y="3133175"/>
                </a:lnTo>
                <a:cubicBezTo>
                  <a:pt x="732577" y="2055441"/>
                  <a:pt x="492520" y="1056020"/>
                  <a:pt x="104445" y="215033"/>
                </a:cubicBezTo>
                <a:close/>
              </a:path>
            </a:pathLst>
          </a:custGeom>
        </p:spPr>
      </p:pic>
      <p:pic>
        <p:nvPicPr>
          <p:cNvPr id="7" name="Picture 6" descr="A black van parked on the side of a road&#10;&#10;Description automatically generated">
            <a:extLst>
              <a:ext uri="{FF2B5EF4-FFF2-40B4-BE49-F238E27FC236}">
                <a16:creationId xmlns:a16="http://schemas.microsoft.com/office/drawing/2014/main" id="{AA43F28C-A43A-DA3D-6730-C0D5CA51F0CF}"/>
              </a:ext>
            </a:extLst>
          </p:cNvPr>
          <p:cNvPicPr>
            <a:picLocks noChangeAspect="1"/>
          </p:cNvPicPr>
          <p:nvPr/>
        </p:nvPicPr>
        <p:blipFill rotWithShape="1">
          <a:blip r:embed="rId5">
            <a:extLst>
              <a:ext uri="{28A0092B-C50C-407E-A947-70E740481C1C}">
                <a14:useLocalDpi xmlns:a14="http://schemas.microsoft.com/office/drawing/2010/main" val="0"/>
              </a:ext>
            </a:extLst>
          </a:blip>
          <a:srcRect l="23426" r="8475"/>
          <a:stretch/>
        </p:blipFill>
        <p:spPr>
          <a:xfrm>
            <a:off x="7586851" y="2082577"/>
            <a:ext cx="2888664" cy="2386036"/>
          </a:xfrm>
          <a:custGeom>
            <a:avLst/>
            <a:gdLst/>
            <a:ahLst/>
            <a:cxnLst/>
            <a:rect l="l" t="t" r="r" b="b"/>
            <a:pathLst>
              <a:path w="4118110" h="3401568">
                <a:moveTo>
                  <a:pt x="0" y="0"/>
                </a:moveTo>
                <a:lnTo>
                  <a:pt x="3343575" y="0"/>
                </a:lnTo>
                <a:lnTo>
                  <a:pt x="3448028" y="215050"/>
                </a:lnTo>
                <a:cubicBezTo>
                  <a:pt x="3836103" y="1056037"/>
                  <a:pt x="4076161" y="2055458"/>
                  <a:pt x="4113475" y="3133192"/>
                </a:cubicBezTo>
                <a:lnTo>
                  <a:pt x="4118110" y="3401568"/>
                </a:lnTo>
                <a:lnTo>
                  <a:pt x="801224" y="3401568"/>
                </a:lnTo>
                <a:lnTo>
                  <a:pt x="797493" y="3185579"/>
                </a:lnTo>
                <a:cubicBezTo>
                  <a:pt x="756786" y="2009870"/>
                  <a:pt x="474799" y="927359"/>
                  <a:pt x="22579" y="42066"/>
                </a:cubicBezTo>
                <a:close/>
              </a:path>
            </a:pathLst>
          </a:custGeom>
        </p:spPr>
      </p:pic>
      <p:pic>
        <p:nvPicPr>
          <p:cNvPr id="8" name="Picture 7" descr="A bus parked on the side of a road&#10;&#10;Description automatically generated">
            <a:extLst>
              <a:ext uri="{FF2B5EF4-FFF2-40B4-BE49-F238E27FC236}">
                <a16:creationId xmlns:a16="http://schemas.microsoft.com/office/drawing/2014/main" id="{477FFBE1-86F9-68E6-B864-087C594E830B}"/>
              </a:ext>
            </a:extLst>
          </p:cNvPr>
          <p:cNvPicPr>
            <a:picLocks noChangeAspect="1"/>
          </p:cNvPicPr>
          <p:nvPr/>
        </p:nvPicPr>
        <p:blipFill rotWithShape="1">
          <a:blip r:embed="rId6">
            <a:extLst>
              <a:ext uri="{28A0092B-C50C-407E-A947-70E740481C1C}">
                <a14:useLocalDpi xmlns:a14="http://schemas.microsoft.com/office/drawing/2010/main" val="0"/>
              </a:ext>
            </a:extLst>
          </a:blip>
          <a:srcRect t="22512" r="-1" b="-1"/>
          <a:stretch/>
        </p:blipFill>
        <p:spPr>
          <a:xfrm>
            <a:off x="7678995" y="4468613"/>
            <a:ext cx="4434348" cy="2147565"/>
          </a:xfrm>
          <a:custGeom>
            <a:avLst/>
            <a:gdLst/>
            <a:ahLst/>
            <a:cxnLst/>
            <a:rect l="l" t="t" r="r" b="b"/>
            <a:pathLst>
              <a:path w="7023646" h="3401568">
                <a:moveTo>
                  <a:pt x="749132" y="0"/>
                </a:moveTo>
                <a:lnTo>
                  <a:pt x="7023646" y="0"/>
                </a:lnTo>
                <a:lnTo>
                  <a:pt x="7023646" y="3401568"/>
                </a:lnTo>
                <a:lnTo>
                  <a:pt x="0" y="3401568"/>
                </a:lnTo>
                <a:lnTo>
                  <a:pt x="79008" y="3238906"/>
                </a:lnTo>
                <a:cubicBezTo>
                  <a:pt x="502362" y="2321466"/>
                  <a:pt x="749563" y="1215476"/>
                  <a:pt x="749563" y="24956"/>
                </a:cubicBezTo>
                <a:close/>
              </a:path>
            </a:pathLst>
          </a:custGeom>
        </p:spPr>
      </p:pic>
      <p:sp>
        <p:nvSpPr>
          <p:cNvPr id="9" name="Date Placeholder 8">
            <a:extLst>
              <a:ext uri="{FF2B5EF4-FFF2-40B4-BE49-F238E27FC236}">
                <a16:creationId xmlns:a16="http://schemas.microsoft.com/office/drawing/2014/main" id="{1DD6F989-4651-DDB8-F01A-9ECBBDC1AE16}"/>
              </a:ext>
            </a:extLst>
          </p:cNvPr>
          <p:cNvSpPr>
            <a:spLocks noGrp="1"/>
          </p:cNvSpPr>
          <p:nvPr>
            <p:ph type="dt" sz="half" idx="10"/>
          </p:nvPr>
        </p:nvSpPr>
        <p:spPr/>
        <p:txBody>
          <a:bodyPr/>
          <a:lstStyle/>
          <a:p>
            <a:fld id="{B4BEADD4-9373-488C-855E-6FB955C9AB7D}" type="datetime1">
              <a:rPr lang="en-US" smtClean="0"/>
              <a:t>4/12/2024</a:t>
            </a:fld>
            <a:endParaRPr lang="en-US"/>
          </a:p>
        </p:txBody>
      </p:sp>
      <p:sp>
        <p:nvSpPr>
          <p:cNvPr id="10" name="Slide Number Placeholder 9">
            <a:extLst>
              <a:ext uri="{FF2B5EF4-FFF2-40B4-BE49-F238E27FC236}">
                <a16:creationId xmlns:a16="http://schemas.microsoft.com/office/drawing/2014/main" id="{2FD38723-6243-115F-9A24-DAFFF06C04D1}"/>
              </a:ext>
            </a:extLst>
          </p:cNvPr>
          <p:cNvSpPr>
            <a:spLocks noGrp="1"/>
          </p:cNvSpPr>
          <p:nvPr>
            <p:ph type="sldNum" sz="quarter" idx="12"/>
          </p:nvPr>
        </p:nvSpPr>
        <p:spPr/>
        <p:txBody>
          <a:bodyPr/>
          <a:lstStyle/>
          <a:p>
            <a:fld id="{03E8056C-9350-3E4B-911C-FCF80EDBFE79}" type="slidenum">
              <a:rPr lang="en-US" smtClean="0"/>
              <a:t>3</a:t>
            </a:fld>
            <a:endParaRPr lang="en-US"/>
          </a:p>
        </p:txBody>
      </p:sp>
    </p:spTree>
    <p:extLst>
      <p:ext uri="{BB962C8B-B14F-4D97-AF65-F5344CB8AC3E}">
        <p14:creationId xmlns:p14="http://schemas.microsoft.com/office/powerpoint/2010/main" val="19769935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3" name="Title 2" hidden="1">
            <a:extLst>
              <a:ext uri="{FF2B5EF4-FFF2-40B4-BE49-F238E27FC236}">
                <a16:creationId xmlns:a16="http://schemas.microsoft.com/office/drawing/2014/main" id="{59C61002-FF0A-1B46-A603-CB73A64EEA34}"/>
              </a:ext>
            </a:extLst>
          </p:cNvPr>
          <p:cNvSpPr>
            <a:spLocks noGrp="1"/>
          </p:cNvSpPr>
          <p:nvPr>
            <p:ph type="ctrTitle"/>
          </p:nvPr>
        </p:nvSpPr>
        <p:spPr>
          <a:xfrm>
            <a:off x="1524000" y="-783710"/>
            <a:ext cx="9144000" cy="2387600"/>
          </a:xfrm>
        </p:spPr>
        <p:txBody>
          <a:bodyPr/>
          <a:lstStyle/>
          <a:p>
            <a:r>
              <a:rPr lang="en-US" dirty="0"/>
              <a:t>Text</a:t>
            </a:r>
            <a:r>
              <a:rPr lang="en-US" baseline="0" dirty="0"/>
              <a:t> hierarchy and formatting information slide</a:t>
            </a:r>
            <a:endParaRPr lang="en-US" dirty="0"/>
          </a:p>
        </p:txBody>
      </p:sp>
      <p:sp>
        <p:nvSpPr>
          <p:cNvPr id="4" name="Text Placeholder 2">
            <a:extLst>
              <a:ext uri="{FF2B5EF4-FFF2-40B4-BE49-F238E27FC236}">
                <a16:creationId xmlns:a16="http://schemas.microsoft.com/office/drawing/2014/main" id="{21B330D1-F7DB-0AA4-19DB-6BD9B2C8C3D3}"/>
              </a:ext>
            </a:extLst>
          </p:cNvPr>
          <p:cNvSpPr txBox="1">
            <a:spLocks/>
          </p:cNvSpPr>
          <p:nvPr/>
        </p:nvSpPr>
        <p:spPr>
          <a:xfrm>
            <a:off x="236311" y="970989"/>
            <a:ext cx="5819775" cy="82800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2800" b="1" dirty="0">
                <a:solidFill>
                  <a:schemeClr val="tx1"/>
                </a:solidFill>
                <a:latin typeface="Arial" charset="0"/>
                <a:ea typeface="Arial" charset="0"/>
                <a:cs typeface="Arial" charset="0"/>
              </a:rPr>
              <a:t>Broad scope of the project</a:t>
            </a:r>
          </a:p>
        </p:txBody>
      </p:sp>
      <p:sp>
        <p:nvSpPr>
          <p:cNvPr id="5" name="Content Placeholder 2">
            <a:extLst>
              <a:ext uri="{FF2B5EF4-FFF2-40B4-BE49-F238E27FC236}">
                <a16:creationId xmlns:a16="http://schemas.microsoft.com/office/drawing/2014/main" id="{CF044B53-A339-C06B-7FBF-F4B43DCC144D}"/>
              </a:ext>
            </a:extLst>
          </p:cNvPr>
          <p:cNvSpPr txBox="1">
            <a:spLocks/>
          </p:cNvSpPr>
          <p:nvPr/>
        </p:nvSpPr>
        <p:spPr>
          <a:xfrm>
            <a:off x="442751" y="2114754"/>
            <a:ext cx="2800321" cy="4538133"/>
          </a:xfrm>
          <a:prstGeom prst="rect">
            <a:avLst/>
          </a:prstGeom>
        </p:spPr>
        <p:txBody>
          <a:bodyPr vert="horz" lIns="0" tIns="0" rIns="0" bIns="0" rtlCol="0">
            <a:normAutofit/>
          </a:bodyPr>
          <a:lstStyle>
            <a:lvl1pPr marL="0" indent="0" algn="l" defTabSz="242486" rtl="0" eaLnBrk="1" latinLnBrk="0" hangingPunct="1">
              <a:lnSpc>
                <a:spcPts val="2200"/>
              </a:lnSpc>
              <a:spcBef>
                <a:spcPts val="0"/>
              </a:spcBef>
              <a:buClr>
                <a:schemeClr val="accent2"/>
              </a:buClr>
              <a:buFont typeface="Arial"/>
              <a:buNone/>
              <a:defRPr sz="1733" b="1" i="0" kern="1200">
                <a:solidFill>
                  <a:schemeClr val="accent1"/>
                </a:solidFill>
                <a:latin typeface="KingsBureauGrot ThreeSeven" charset="0"/>
                <a:ea typeface="KingsBureauGrot ThreeSeven" charset="0"/>
                <a:cs typeface="KingsBureauGrot ThreeSeven" charset="0"/>
              </a:defRPr>
            </a:lvl1pPr>
            <a:lvl2pPr marL="6351" indent="0" algn="l" defTabSz="242486" rtl="0" eaLnBrk="1" latinLnBrk="0" hangingPunct="1">
              <a:lnSpc>
                <a:spcPts val="2200"/>
              </a:lnSpc>
              <a:spcBef>
                <a:spcPts val="0"/>
              </a:spcBef>
              <a:buClr>
                <a:schemeClr val="accent2"/>
              </a:buClr>
              <a:buFont typeface="Arial"/>
              <a:buNone/>
              <a:tabLst/>
              <a:defRPr sz="1733" b="0" i="0" kern="1200">
                <a:solidFill>
                  <a:schemeClr val="accent1"/>
                </a:solidFill>
                <a:latin typeface="KingsBureauGrot FiveOne" charset="0"/>
                <a:ea typeface="KingsBureauGrot FiveOne" charset="0"/>
                <a:cs typeface="KingsBureauGrot FiveOne" charset="0"/>
              </a:defRPr>
            </a:lvl2pPr>
            <a:lvl3pPr marL="6349" indent="0" algn="l" defTabSz="242486" rtl="0" eaLnBrk="1" latinLnBrk="0" hangingPunct="1">
              <a:lnSpc>
                <a:spcPts val="2200"/>
              </a:lnSpc>
              <a:spcBef>
                <a:spcPts val="0"/>
              </a:spcBef>
              <a:buClr>
                <a:schemeClr val="accent2"/>
              </a:buClr>
              <a:buFontTx/>
              <a:buNone/>
              <a:tabLst/>
              <a:defRPr sz="1867" b="0" i="0" kern="1200">
                <a:solidFill>
                  <a:schemeClr val="tx1"/>
                </a:solidFill>
                <a:latin typeface="Kings Caslon Text" charset="0"/>
                <a:ea typeface="Kings Caslon Text" charset="0"/>
                <a:cs typeface="Kings Caslon Text" charset="0"/>
              </a:defRPr>
            </a:lvl3pPr>
            <a:lvl4pPr marL="239178" indent="-234945" algn="l" defTabSz="242486" rtl="0" eaLnBrk="1" latinLnBrk="0" hangingPunct="1">
              <a:lnSpc>
                <a:spcPts val="2200"/>
              </a:lnSpc>
              <a:spcBef>
                <a:spcPts val="0"/>
              </a:spcBef>
              <a:buClr>
                <a:schemeClr val="accent1"/>
              </a:buClr>
              <a:buFont typeface="Arial"/>
              <a:buChar char="•"/>
              <a:tabLst/>
              <a:defRPr sz="1867" b="0" i="0" kern="1200">
                <a:solidFill>
                  <a:schemeClr val="tx1"/>
                </a:solidFill>
                <a:latin typeface="Kings Caslon Text" charset="0"/>
                <a:ea typeface="Kings Caslon Text" charset="0"/>
                <a:cs typeface="Kings Caslon Text" charset="0"/>
              </a:defRPr>
            </a:lvl4pPr>
            <a:lvl5pPr marL="474121" indent="-234945" algn="l" defTabSz="242486" rtl="0" eaLnBrk="1" latinLnBrk="0" hangingPunct="1">
              <a:lnSpc>
                <a:spcPts val="2200"/>
              </a:lnSpc>
              <a:spcBef>
                <a:spcPts val="0"/>
              </a:spcBef>
              <a:buClr>
                <a:schemeClr val="accent1"/>
              </a:buClr>
              <a:buFont typeface="Arial"/>
              <a:buChar char="•"/>
              <a:tabLst/>
              <a:defRPr sz="1867" b="0" i="0" kern="1200">
                <a:solidFill>
                  <a:schemeClr val="tx1"/>
                </a:solidFill>
                <a:latin typeface="Kings Caslon Text" charset="0"/>
                <a:ea typeface="Kings Caslon Text" charset="0"/>
                <a:cs typeface="Kings Caslon Text" charset="0"/>
              </a:defRPr>
            </a:lvl5pPr>
            <a:lvl6pPr marL="1333671" indent="-121242" algn="l" defTabSz="242486" rtl="0" eaLnBrk="1" latinLnBrk="0" hangingPunct="1">
              <a:spcBef>
                <a:spcPct val="20000"/>
              </a:spcBef>
              <a:buFont typeface="Arial"/>
              <a:buChar char="•"/>
              <a:defRPr sz="1061" kern="1200">
                <a:solidFill>
                  <a:schemeClr val="tx1"/>
                </a:solidFill>
                <a:latin typeface="+mn-lt"/>
                <a:ea typeface="+mn-ea"/>
                <a:cs typeface="+mn-cs"/>
              </a:defRPr>
            </a:lvl6pPr>
            <a:lvl7pPr marL="1576157" indent="-121242" algn="l" defTabSz="242486" rtl="0" eaLnBrk="1" latinLnBrk="0" hangingPunct="1">
              <a:spcBef>
                <a:spcPct val="20000"/>
              </a:spcBef>
              <a:buFont typeface="Arial"/>
              <a:buChar char="•"/>
              <a:defRPr sz="1061" kern="1200">
                <a:solidFill>
                  <a:schemeClr val="tx1"/>
                </a:solidFill>
                <a:latin typeface="+mn-lt"/>
                <a:ea typeface="+mn-ea"/>
                <a:cs typeface="+mn-cs"/>
              </a:defRPr>
            </a:lvl7pPr>
            <a:lvl8pPr marL="1818643" indent="-121242" algn="l" defTabSz="242486" rtl="0" eaLnBrk="1" latinLnBrk="0" hangingPunct="1">
              <a:spcBef>
                <a:spcPct val="20000"/>
              </a:spcBef>
              <a:buFont typeface="Arial"/>
              <a:buChar char="•"/>
              <a:defRPr sz="1061" kern="1200">
                <a:solidFill>
                  <a:schemeClr val="tx1"/>
                </a:solidFill>
                <a:latin typeface="+mn-lt"/>
                <a:ea typeface="+mn-ea"/>
                <a:cs typeface="+mn-cs"/>
              </a:defRPr>
            </a:lvl8pPr>
            <a:lvl9pPr marL="2061127" indent="-121242" algn="l" defTabSz="242486" rtl="0" eaLnBrk="1" latinLnBrk="0" hangingPunct="1">
              <a:spcBef>
                <a:spcPct val="20000"/>
              </a:spcBef>
              <a:buFont typeface="Arial"/>
              <a:buChar char="•"/>
              <a:defRPr sz="1061" kern="1200">
                <a:solidFill>
                  <a:schemeClr val="tx1"/>
                </a:solidFill>
                <a:latin typeface="+mn-lt"/>
                <a:ea typeface="+mn-ea"/>
                <a:cs typeface="+mn-cs"/>
              </a:defRPr>
            </a:lvl9pPr>
          </a:lstStyle>
          <a:p>
            <a:pPr marL="0" marR="0" lvl="0" indent="0" algn="l" defTabSz="242486" rtl="0" eaLnBrk="1" fontAlgn="auto" latinLnBrk="0" hangingPunct="1">
              <a:lnSpc>
                <a:spcPts val="2200"/>
              </a:lnSpc>
              <a:spcBef>
                <a:spcPts val="0"/>
              </a:spcBef>
              <a:spcAft>
                <a:spcPts val="0"/>
              </a:spcAft>
              <a:buClr>
                <a:srgbClr val="01A88F"/>
              </a:buClr>
              <a:buSzTx/>
              <a:buFont typeface="Arial"/>
              <a:buNone/>
              <a:tabLst/>
              <a:defRPr/>
            </a:pPr>
            <a:r>
              <a:rPr kumimoji="0" lang="en-GB" sz="2133" b="1" i="0" u="none" strike="noStrike" kern="1200" cap="none" spc="0" normalizeH="0" baseline="0" noProof="0" dirty="0">
                <a:ln>
                  <a:noFill/>
                </a:ln>
                <a:solidFill>
                  <a:srgbClr val="B3BD10"/>
                </a:solidFill>
                <a:effectLst/>
                <a:uLnTx/>
                <a:uFillTx/>
                <a:latin typeface="KingsBureauGrot ThreeSeven" charset="0"/>
              </a:rPr>
              <a:t>Attractive</a:t>
            </a:r>
          </a:p>
          <a:p>
            <a:pPr marL="0" marR="0" lvl="0" indent="0" algn="l" defTabSz="242486" rtl="0" eaLnBrk="1" fontAlgn="auto" latinLnBrk="0" hangingPunct="1">
              <a:lnSpc>
                <a:spcPts val="2200"/>
              </a:lnSpc>
              <a:spcBef>
                <a:spcPts val="0"/>
              </a:spcBef>
              <a:spcAft>
                <a:spcPts val="0"/>
              </a:spcAft>
              <a:buClr>
                <a:srgbClr val="01A88F"/>
              </a:buClr>
              <a:buSzTx/>
              <a:buFont typeface="Arial"/>
              <a:buNone/>
              <a:tabLst/>
              <a:defRPr/>
            </a:pPr>
            <a:endParaRPr kumimoji="0" lang="en-GB" sz="2133" b="1" i="0" u="none" strike="noStrike" kern="1200" cap="none" spc="0" normalizeH="0" baseline="0" noProof="0" dirty="0">
              <a:ln>
                <a:noFill/>
              </a:ln>
              <a:solidFill>
                <a:srgbClr val="B3BD10"/>
              </a:solidFill>
              <a:effectLst/>
              <a:uLnTx/>
              <a:uFillTx/>
              <a:latin typeface="KingsBureauGrot ThreeSeven" charset="0"/>
            </a:endParaRPr>
          </a:p>
          <a:p>
            <a:pPr marL="0" marR="0" lvl="0" indent="0" algn="l" defTabSz="242486" rtl="0" eaLnBrk="1" fontAlgn="auto" latinLnBrk="0" hangingPunct="1">
              <a:lnSpc>
                <a:spcPts val="2200"/>
              </a:lnSpc>
              <a:spcBef>
                <a:spcPts val="0"/>
              </a:spcBef>
              <a:spcAft>
                <a:spcPts val="0"/>
              </a:spcAft>
              <a:buClr>
                <a:srgbClr val="01A88F"/>
              </a:buClr>
              <a:buSzTx/>
              <a:buFont typeface="Arial"/>
              <a:buNone/>
              <a:tabLst/>
              <a:defRPr/>
            </a:pPr>
            <a:r>
              <a:rPr kumimoji="0" lang="en-GB" sz="2133" b="1" i="0" u="none" strike="noStrike" kern="1200" cap="none" spc="0" normalizeH="0" baseline="0" noProof="0" dirty="0">
                <a:ln>
                  <a:noFill/>
                </a:ln>
                <a:solidFill>
                  <a:srgbClr val="000000"/>
                </a:solidFill>
                <a:effectLst/>
                <a:uLnTx/>
                <a:uFillTx/>
                <a:latin typeface="KingsBureauGrot FiveOne" panose="02000506040000020004" pitchFamily="2" charset="0"/>
                <a:sym typeface="Symbol" panose="05050102010706020507" pitchFamily="18" charset="2"/>
              </a:rPr>
              <a:t></a:t>
            </a:r>
            <a:r>
              <a:rPr kumimoji="0" lang="en-GB" sz="2133" b="1" i="0" u="none" strike="noStrike" kern="1200" cap="none" spc="0" normalizeH="0" baseline="0" noProof="0" dirty="0">
                <a:ln>
                  <a:noFill/>
                </a:ln>
                <a:solidFill>
                  <a:srgbClr val="000000"/>
                </a:solidFill>
                <a:effectLst/>
                <a:uLnTx/>
                <a:uFillTx/>
                <a:latin typeface="KingsBureauGrot FiveOne" panose="02000506040000020004" pitchFamily="2" charset="0"/>
              </a:rPr>
              <a:t> cost per trip</a:t>
            </a:r>
          </a:p>
          <a:p>
            <a:pPr marL="0" marR="0" lvl="0" indent="0" algn="l" defTabSz="242486" rtl="0" eaLnBrk="1" fontAlgn="auto" latinLnBrk="0" hangingPunct="1">
              <a:lnSpc>
                <a:spcPts val="2200"/>
              </a:lnSpc>
              <a:spcBef>
                <a:spcPts val="0"/>
              </a:spcBef>
              <a:spcAft>
                <a:spcPts val="0"/>
              </a:spcAft>
              <a:buClr>
                <a:srgbClr val="01A88F"/>
              </a:buClr>
              <a:buSzTx/>
              <a:buFont typeface="Arial"/>
              <a:buNone/>
              <a:tabLst/>
              <a:defRPr/>
            </a:pPr>
            <a:endParaRPr kumimoji="0" lang="en-GB" sz="2133" b="1" i="0" u="none" strike="noStrike" kern="1200" cap="none" spc="0" normalizeH="0" baseline="0" noProof="0" dirty="0">
              <a:ln>
                <a:noFill/>
              </a:ln>
              <a:solidFill>
                <a:srgbClr val="000000"/>
              </a:solidFill>
              <a:effectLst/>
              <a:uLnTx/>
              <a:uFillTx/>
              <a:latin typeface="KingsBureauGrot FiveOne" panose="02000506040000020004" pitchFamily="2" charset="0"/>
            </a:endParaRPr>
          </a:p>
          <a:p>
            <a:pPr marL="0" marR="0" lvl="0" indent="0" algn="l" defTabSz="242486" rtl="0" eaLnBrk="1" fontAlgn="auto" latinLnBrk="0" hangingPunct="1">
              <a:lnSpc>
                <a:spcPts val="2200"/>
              </a:lnSpc>
              <a:spcBef>
                <a:spcPts val="0"/>
              </a:spcBef>
              <a:spcAft>
                <a:spcPts val="0"/>
              </a:spcAft>
              <a:buClr>
                <a:srgbClr val="01A88F"/>
              </a:buClr>
              <a:buSzTx/>
              <a:buFont typeface="Arial"/>
              <a:buNone/>
              <a:tabLst/>
              <a:defRPr/>
            </a:pPr>
            <a:r>
              <a:rPr kumimoji="0" lang="en-GB" sz="2133" b="1" i="0" u="none" strike="noStrike" kern="1200" cap="none" spc="0" normalizeH="0" baseline="0" noProof="0" dirty="0">
                <a:ln>
                  <a:noFill/>
                </a:ln>
                <a:solidFill>
                  <a:srgbClr val="000000"/>
                </a:solidFill>
                <a:effectLst/>
                <a:uLnTx/>
                <a:uFillTx/>
                <a:latin typeface="KingsBureauGrot FiveOne" panose="02000506040000020004" pitchFamily="2" charset="0"/>
              </a:rPr>
              <a:t>	</a:t>
            </a:r>
            <a:r>
              <a:rPr kumimoji="0" lang="en-GB" sz="2133" b="0" i="0" u="none" strike="noStrike" kern="1200" cap="none" spc="0" normalizeH="0" baseline="0" noProof="0" dirty="0">
                <a:ln>
                  <a:noFill/>
                </a:ln>
                <a:solidFill>
                  <a:srgbClr val="000000"/>
                </a:solidFill>
                <a:effectLst/>
                <a:uLnTx/>
                <a:uFillTx/>
                <a:latin typeface="KingsBureauGrot FiveOne" panose="02000506040000020004" pitchFamily="2" charset="0"/>
                <a:sym typeface="Symbol" panose="05050102010706020507" pitchFamily="18" charset="2"/>
              </a:rPr>
              <a:t></a:t>
            </a:r>
            <a:r>
              <a:rPr kumimoji="0" lang="en-GB" sz="2133" b="0" i="0" u="none" strike="noStrike" kern="1200" cap="none" spc="0" normalizeH="0" baseline="0" noProof="0" dirty="0">
                <a:ln>
                  <a:noFill/>
                </a:ln>
                <a:solidFill>
                  <a:srgbClr val="000000"/>
                </a:solidFill>
                <a:effectLst/>
                <a:uLnTx/>
                <a:uFillTx/>
                <a:latin typeface="KingsBureauGrot FiveOne" panose="02000506040000020004" pitchFamily="2" charset="0"/>
              </a:rPr>
              <a:t> operating costs</a:t>
            </a:r>
          </a:p>
          <a:p>
            <a:pPr marL="0" marR="0" lvl="0" indent="0" algn="l" defTabSz="242486" rtl="0" eaLnBrk="1" fontAlgn="auto" latinLnBrk="0" hangingPunct="1">
              <a:lnSpc>
                <a:spcPts val="2200"/>
              </a:lnSpc>
              <a:spcBef>
                <a:spcPts val="0"/>
              </a:spcBef>
              <a:spcAft>
                <a:spcPts val="0"/>
              </a:spcAft>
              <a:buClr>
                <a:srgbClr val="01A88F"/>
              </a:buClr>
              <a:buSzTx/>
              <a:buFont typeface="Arial"/>
              <a:buNone/>
              <a:tabLst/>
              <a:defRPr/>
            </a:pPr>
            <a:r>
              <a:rPr kumimoji="0" lang="en-GB" sz="2133" b="0" i="0" u="none" strike="noStrike" kern="1200" cap="none" spc="0" normalizeH="0" baseline="0" noProof="0" dirty="0">
                <a:ln>
                  <a:noFill/>
                </a:ln>
                <a:solidFill>
                  <a:srgbClr val="000000"/>
                </a:solidFill>
                <a:effectLst/>
                <a:uLnTx/>
                <a:uFillTx/>
                <a:latin typeface="KingsBureauGrot FiveOne" panose="02000506040000020004" pitchFamily="2" charset="0"/>
              </a:rPr>
              <a:t>	</a:t>
            </a:r>
            <a:r>
              <a:rPr kumimoji="0" lang="en-GB" sz="2133" b="0" i="0" u="none" strike="noStrike" kern="1200" cap="none" spc="0" normalizeH="0" baseline="0" noProof="0" dirty="0">
                <a:ln>
                  <a:noFill/>
                </a:ln>
                <a:solidFill>
                  <a:srgbClr val="000000"/>
                </a:solidFill>
                <a:effectLst/>
                <a:uLnTx/>
                <a:uFillTx/>
                <a:latin typeface="KingsBureauGrot FiveOne" panose="02000506040000020004" pitchFamily="2" charset="0"/>
                <a:sym typeface="Symbol" panose="05050102010706020507" pitchFamily="18" charset="2"/>
              </a:rPr>
              <a:t> </a:t>
            </a:r>
            <a:r>
              <a:rPr kumimoji="0" lang="en-GB" sz="2133" b="0" i="0" u="none" strike="noStrike" kern="1200" cap="none" spc="0" normalizeH="0" baseline="0" noProof="0" dirty="0">
                <a:ln>
                  <a:noFill/>
                </a:ln>
                <a:solidFill>
                  <a:srgbClr val="000000"/>
                </a:solidFill>
                <a:effectLst/>
                <a:uLnTx/>
                <a:uFillTx/>
                <a:latin typeface="KingsBureauGrot FiveOne" panose="02000506040000020004" pitchFamily="2" charset="0"/>
              </a:rPr>
              <a:t>empty trips</a:t>
            </a:r>
          </a:p>
          <a:p>
            <a:pPr marL="0" marR="0" lvl="0" indent="0" algn="l" defTabSz="242486" rtl="0" eaLnBrk="1" fontAlgn="auto" latinLnBrk="0" hangingPunct="1">
              <a:lnSpc>
                <a:spcPts val="2200"/>
              </a:lnSpc>
              <a:spcBef>
                <a:spcPts val="0"/>
              </a:spcBef>
              <a:spcAft>
                <a:spcPts val="0"/>
              </a:spcAft>
              <a:buClr>
                <a:srgbClr val="01A88F"/>
              </a:buClr>
              <a:buSzTx/>
              <a:buFont typeface="Arial"/>
              <a:buNone/>
              <a:tabLst/>
              <a:defRPr/>
            </a:pPr>
            <a:r>
              <a:rPr kumimoji="0" lang="en-GB" sz="2133" b="0" i="0" u="none" strike="noStrike" kern="1200" cap="none" spc="0" normalizeH="0" baseline="0" noProof="0" dirty="0">
                <a:ln>
                  <a:noFill/>
                </a:ln>
                <a:solidFill>
                  <a:srgbClr val="000000"/>
                </a:solidFill>
                <a:effectLst/>
                <a:uLnTx/>
                <a:uFillTx/>
                <a:latin typeface="KingsBureauGrot FiveOne" panose="02000506040000020004" pitchFamily="2" charset="0"/>
              </a:rPr>
              <a:t>	</a:t>
            </a:r>
            <a:r>
              <a:rPr kumimoji="0" lang="en-GB" sz="2133" b="0" i="0" u="none" strike="noStrike" kern="1200" cap="none" spc="0" normalizeH="0" baseline="0" noProof="0" dirty="0">
                <a:ln>
                  <a:noFill/>
                </a:ln>
                <a:solidFill>
                  <a:srgbClr val="000000"/>
                </a:solidFill>
                <a:effectLst/>
                <a:uLnTx/>
                <a:uFillTx/>
                <a:latin typeface="KingsBureauGrot FiveOne" panose="02000506040000020004" pitchFamily="2" charset="0"/>
                <a:sym typeface="Symbol" panose="05050102010706020507" pitchFamily="18" charset="2"/>
              </a:rPr>
              <a:t></a:t>
            </a:r>
            <a:r>
              <a:rPr kumimoji="0" lang="en-GB" sz="2133" b="0" i="0" u="none" strike="noStrike" kern="1200" cap="none" spc="0" normalizeH="0" baseline="0" noProof="0" dirty="0">
                <a:ln>
                  <a:noFill/>
                </a:ln>
                <a:solidFill>
                  <a:srgbClr val="000000"/>
                </a:solidFill>
                <a:effectLst/>
                <a:uLnTx/>
                <a:uFillTx/>
                <a:latin typeface="KingsBureauGrot FiveOne" panose="02000506040000020004" pitchFamily="2" charset="0"/>
              </a:rPr>
              <a:t> used capacity</a:t>
            </a:r>
          </a:p>
          <a:p>
            <a:pPr marL="0" marR="0" lvl="0" indent="0" algn="l" defTabSz="242486" rtl="0" eaLnBrk="1" fontAlgn="auto" latinLnBrk="0" hangingPunct="1">
              <a:lnSpc>
                <a:spcPts val="2200"/>
              </a:lnSpc>
              <a:spcBef>
                <a:spcPts val="0"/>
              </a:spcBef>
              <a:spcAft>
                <a:spcPts val="0"/>
              </a:spcAft>
              <a:buClr>
                <a:srgbClr val="01A88F"/>
              </a:buClr>
              <a:buSzTx/>
              <a:buFont typeface="Arial"/>
              <a:buNone/>
              <a:tabLst/>
              <a:defRPr/>
            </a:pPr>
            <a:r>
              <a:rPr kumimoji="0" lang="en-GB" sz="2133" b="0" i="0" u="none" strike="noStrike" kern="1200" cap="none" spc="0" normalizeH="0" baseline="0" noProof="0" dirty="0">
                <a:ln>
                  <a:noFill/>
                </a:ln>
                <a:solidFill>
                  <a:srgbClr val="000000"/>
                </a:solidFill>
                <a:effectLst/>
                <a:uLnTx/>
                <a:uFillTx/>
                <a:latin typeface="KingsBureauGrot FiveOne" panose="02000506040000020004" pitchFamily="2" charset="0"/>
              </a:rPr>
              <a:t>	</a:t>
            </a:r>
            <a:r>
              <a:rPr kumimoji="0" lang="en-GB" sz="2133" b="0" i="0" u="none" strike="noStrike" kern="1200" cap="none" spc="0" normalizeH="0" baseline="0" noProof="0" dirty="0">
                <a:ln>
                  <a:noFill/>
                </a:ln>
                <a:solidFill>
                  <a:srgbClr val="000000"/>
                </a:solidFill>
                <a:effectLst/>
                <a:uLnTx/>
                <a:uFillTx/>
                <a:latin typeface="KingsBureauGrot FiveOne" panose="02000506040000020004" pitchFamily="2" charset="0"/>
                <a:sym typeface="Symbol" panose="05050102010706020507" pitchFamily="18" charset="2"/>
              </a:rPr>
              <a:t></a:t>
            </a:r>
            <a:r>
              <a:rPr kumimoji="0" lang="en-GB" sz="2133" b="0" i="0" u="none" strike="noStrike" kern="1200" cap="none" spc="0" normalizeH="0" baseline="0" noProof="0" dirty="0">
                <a:ln>
                  <a:noFill/>
                </a:ln>
                <a:solidFill>
                  <a:srgbClr val="000000"/>
                </a:solidFill>
                <a:effectLst/>
                <a:uLnTx/>
                <a:uFillTx/>
                <a:latin typeface="KingsBureauGrot FiveOne" panose="02000506040000020004" pitchFamily="2" charset="0"/>
              </a:rPr>
              <a:t> number of users</a:t>
            </a:r>
          </a:p>
          <a:p>
            <a:pPr marL="0" marR="0" lvl="0" indent="0" algn="l" defTabSz="242486" rtl="0" eaLnBrk="1" fontAlgn="auto" latinLnBrk="0" hangingPunct="1">
              <a:lnSpc>
                <a:spcPts val="2200"/>
              </a:lnSpc>
              <a:spcBef>
                <a:spcPts val="0"/>
              </a:spcBef>
              <a:spcAft>
                <a:spcPts val="0"/>
              </a:spcAft>
              <a:buClr>
                <a:srgbClr val="01A88F"/>
              </a:buClr>
              <a:buSzTx/>
              <a:buFont typeface="Arial"/>
              <a:buNone/>
              <a:tabLst/>
              <a:defRPr/>
            </a:pPr>
            <a:endParaRPr kumimoji="0" lang="en-GB" sz="2133" b="1" i="0" u="none" strike="noStrike" kern="1200" cap="none" spc="0" normalizeH="0" baseline="0" noProof="0" dirty="0">
              <a:ln>
                <a:noFill/>
              </a:ln>
              <a:solidFill>
                <a:srgbClr val="000000"/>
              </a:solidFill>
              <a:effectLst/>
              <a:uLnTx/>
              <a:uFillTx/>
              <a:latin typeface="KingsBureauGrot FiveOne" panose="02000506040000020004" pitchFamily="2" charset="0"/>
            </a:endParaRPr>
          </a:p>
          <a:p>
            <a:pPr marL="0" marR="0" lvl="0" indent="0" algn="l" defTabSz="242486" rtl="0" eaLnBrk="1" fontAlgn="auto" latinLnBrk="0" hangingPunct="1">
              <a:lnSpc>
                <a:spcPts val="2200"/>
              </a:lnSpc>
              <a:spcBef>
                <a:spcPts val="0"/>
              </a:spcBef>
              <a:spcAft>
                <a:spcPts val="0"/>
              </a:spcAft>
              <a:buClr>
                <a:srgbClr val="01A88F"/>
              </a:buClr>
              <a:buSzTx/>
              <a:buFont typeface="Arial"/>
              <a:buNone/>
              <a:tabLst/>
              <a:defRPr/>
            </a:pPr>
            <a:endParaRPr kumimoji="0" lang="en-GB" sz="2133" b="1" i="0" u="none" strike="noStrike" kern="1200" cap="none" spc="0" normalizeH="0" baseline="0" noProof="0" dirty="0">
              <a:ln>
                <a:noFill/>
              </a:ln>
              <a:solidFill>
                <a:srgbClr val="000000"/>
              </a:solidFill>
              <a:effectLst/>
              <a:uLnTx/>
              <a:uFillTx/>
              <a:latin typeface="KingsBureauGrot FiveOne" panose="02000506040000020004" pitchFamily="2" charset="0"/>
              <a:sym typeface="Symbol" panose="05050102010706020507" pitchFamily="18" charset="2"/>
            </a:endParaRPr>
          </a:p>
          <a:p>
            <a:pPr marL="0" marR="0" lvl="0" indent="0" algn="l" defTabSz="242486" rtl="0" eaLnBrk="1" fontAlgn="auto" latinLnBrk="0" hangingPunct="1">
              <a:lnSpc>
                <a:spcPts val="2200"/>
              </a:lnSpc>
              <a:spcBef>
                <a:spcPts val="0"/>
              </a:spcBef>
              <a:spcAft>
                <a:spcPts val="0"/>
              </a:spcAft>
              <a:buClr>
                <a:srgbClr val="01A88F"/>
              </a:buClr>
              <a:buSzTx/>
              <a:buFont typeface="Arial"/>
              <a:buNone/>
              <a:tabLst/>
              <a:defRPr/>
            </a:pPr>
            <a:r>
              <a:rPr kumimoji="0" lang="en-GB" sz="2133" b="1" i="0" u="none" strike="noStrike" kern="1200" cap="none" spc="0" normalizeH="0" baseline="0" noProof="0" dirty="0">
                <a:ln>
                  <a:noFill/>
                </a:ln>
                <a:solidFill>
                  <a:srgbClr val="000000"/>
                </a:solidFill>
                <a:effectLst/>
                <a:uLnTx/>
                <a:uFillTx/>
                <a:latin typeface="KingsBureauGrot FiveOne" panose="02000506040000020004" pitchFamily="2" charset="0"/>
                <a:sym typeface="Symbol" panose="05050102010706020507" pitchFamily="18" charset="2"/>
              </a:rPr>
              <a:t></a:t>
            </a:r>
            <a:r>
              <a:rPr kumimoji="0" lang="en-GB" sz="2133" b="1" i="0" u="none" strike="noStrike" kern="1200" cap="none" spc="0" normalizeH="0" baseline="0" noProof="0" dirty="0">
                <a:ln>
                  <a:noFill/>
                </a:ln>
                <a:solidFill>
                  <a:srgbClr val="000000"/>
                </a:solidFill>
                <a:effectLst/>
                <a:uLnTx/>
                <a:uFillTx/>
                <a:latin typeface="KingsBureauGrot FiveOne" panose="02000506040000020004" pitchFamily="2" charset="0"/>
              </a:rPr>
              <a:t> </a:t>
            </a:r>
            <a:r>
              <a:rPr kumimoji="0" lang="en-GB" sz="2133" b="1" i="0" u="none" strike="noStrike" kern="1200" cap="none" spc="0" normalizeH="0" baseline="0" noProof="0" dirty="0">
                <a:ln>
                  <a:noFill/>
                </a:ln>
                <a:solidFill>
                  <a:srgbClr val="632382">
                    <a:lumMod val="60000"/>
                    <a:lumOff val="40000"/>
                  </a:srgbClr>
                </a:solidFill>
                <a:effectLst/>
                <a:uLnTx/>
                <a:uFillTx/>
                <a:latin typeface="KingsBureauGrot FiveOne" panose="02000506040000020004" pitchFamily="2" charset="0"/>
              </a:rPr>
              <a:t>travel experience</a:t>
            </a:r>
          </a:p>
          <a:p>
            <a:pPr marL="0" marR="0" lvl="0" indent="0" algn="l" defTabSz="242486" rtl="0" eaLnBrk="1" fontAlgn="auto" latinLnBrk="0" hangingPunct="1">
              <a:lnSpc>
                <a:spcPts val="2200"/>
              </a:lnSpc>
              <a:spcBef>
                <a:spcPts val="0"/>
              </a:spcBef>
              <a:spcAft>
                <a:spcPts val="0"/>
              </a:spcAft>
              <a:buClr>
                <a:srgbClr val="01A88F"/>
              </a:buClr>
              <a:buSzTx/>
              <a:buFont typeface="Arial"/>
              <a:buNone/>
              <a:tabLst/>
              <a:defRPr/>
            </a:pPr>
            <a:endParaRPr kumimoji="0" lang="en-GB" sz="1733" b="1" i="0" u="none" strike="noStrike" kern="1200" cap="none" spc="0" normalizeH="0" baseline="0" noProof="0" dirty="0">
              <a:ln>
                <a:noFill/>
              </a:ln>
              <a:solidFill>
                <a:srgbClr val="B3BD10"/>
              </a:solidFill>
              <a:effectLst/>
              <a:uLnTx/>
              <a:uFillTx/>
              <a:latin typeface="KingsBureauGrot ThreeSeven" charset="0"/>
            </a:endParaRPr>
          </a:p>
        </p:txBody>
      </p:sp>
      <p:sp>
        <p:nvSpPr>
          <p:cNvPr id="6" name="Content Placeholder 3">
            <a:extLst>
              <a:ext uri="{FF2B5EF4-FFF2-40B4-BE49-F238E27FC236}">
                <a16:creationId xmlns:a16="http://schemas.microsoft.com/office/drawing/2014/main" id="{AE26BD70-F330-6623-E970-EB6971F4A19B}"/>
              </a:ext>
            </a:extLst>
          </p:cNvPr>
          <p:cNvSpPr txBox="1">
            <a:spLocks/>
          </p:cNvSpPr>
          <p:nvPr/>
        </p:nvSpPr>
        <p:spPr>
          <a:xfrm>
            <a:off x="7488766" y="2114754"/>
            <a:ext cx="4014121" cy="4538133"/>
          </a:xfrm>
          <a:prstGeom prst="rect">
            <a:avLst/>
          </a:prstGeom>
        </p:spPr>
        <p:txBody>
          <a:bodyPr vert="horz" lIns="0" tIns="0" rIns="0" bIns="0" rtlCol="0">
            <a:normAutofit/>
          </a:bodyPr>
          <a:lstStyle>
            <a:lvl1pPr marL="0" indent="0" algn="l" defTabSz="242486" rtl="0" eaLnBrk="1" latinLnBrk="0" hangingPunct="1">
              <a:lnSpc>
                <a:spcPts val="2200"/>
              </a:lnSpc>
              <a:spcBef>
                <a:spcPts val="0"/>
              </a:spcBef>
              <a:buClr>
                <a:schemeClr val="accent2"/>
              </a:buClr>
              <a:buFont typeface="Arial"/>
              <a:buNone/>
              <a:defRPr sz="1733" b="1" i="0" kern="1200">
                <a:solidFill>
                  <a:schemeClr val="accent1"/>
                </a:solidFill>
                <a:latin typeface="KingsBureauGrot ThreeSeven" charset="0"/>
                <a:ea typeface="KingsBureauGrot ThreeSeven" charset="0"/>
                <a:cs typeface="KingsBureauGrot ThreeSeven" charset="0"/>
              </a:defRPr>
            </a:lvl1pPr>
            <a:lvl2pPr marL="6351" indent="0" algn="l" defTabSz="242486" rtl="0" eaLnBrk="1" latinLnBrk="0" hangingPunct="1">
              <a:lnSpc>
                <a:spcPts val="2200"/>
              </a:lnSpc>
              <a:spcBef>
                <a:spcPts val="0"/>
              </a:spcBef>
              <a:buClr>
                <a:schemeClr val="accent2"/>
              </a:buClr>
              <a:buFont typeface="Arial"/>
              <a:buNone/>
              <a:tabLst/>
              <a:defRPr sz="1733" b="0" i="0" kern="1200">
                <a:solidFill>
                  <a:schemeClr val="accent1"/>
                </a:solidFill>
                <a:latin typeface="KingsBureauGrot FiveOne" charset="0"/>
                <a:ea typeface="KingsBureauGrot FiveOne" charset="0"/>
                <a:cs typeface="KingsBureauGrot FiveOne" charset="0"/>
              </a:defRPr>
            </a:lvl2pPr>
            <a:lvl3pPr marL="6349" indent="0" algn="l" defTabSz="242486" rtl="0" eaLnBrk="1" latinLnBrk="0" hangingPunct="1">
              <a:lnSpc>
                <a:spcPts val="2200"/>
              </a:lnSpc>
              <a:spcBef>
                <a:spcPts val="0"/>
              </a:spcBef>
              <a:buClr>
                <a:schemeClr val="accent2"/>
              </a:buClr>
              <a:buFontTx/>
              <a:buNone/>
              <a:tabLst/>
              <a:defRPr sz="1867" b="0" i="0" kern="1200">
                <a:solidFill>
                  <a:schemeClr val="tx1"/>
                </a:solidFill>
                <a:latin typeface="Kings Caslon Text" charset="0"/>
                <a:ea typeface="Kings Caslon Text" charset="0"/>
                <a:cs typeface="Kings Caslon Text" charset="0"/>
              </a:defRPr>
            </a:lvl3pPr>
            <a:lvl4pPr marL="239178" indent="-234945" algn="l" defTabSz="242486" rtl="0" eaLnBrk="1" latinLnBrk="0" hangingPunct="1">
              <a:lnSpc>
                <a:spcPts val="2200"/>
              </a:lnSpc>
              <a:spcBef>
                <a:spcPts val="0"/>
              </a:spcBef>
              <a:buClr>
                <a:schemeClr val="accent1"/>
              </a:buClr>
              <a:buFont typeface="Arial"/>
              <a:buChar char="•"/>
              <a:tabLst/>
              <a:defRPr sz="1867" b="0" i="0" kern="1200">
                <a:solidFill>
                  <a:schemeClr val="tx1"/>
                </a:solidFill>
                <a:latin typeface="Kings Caslon Text" charset="0"/>
                <a:ea typeface="Kings Caslon Text" charset="0"/>
                <a:cs typeface="Kings Caslon Text" charset="0"/>
              </a:defRPr>
            </a:lvl4pPr>
            <a:lvl5pPr marL="474121" indent="-234945" algn="l" defTabSz="242486" rtl="0" eaLnBrk="1" latinLnBrk="0" hangingPunct="1">
              <a:lnSpc>
                <a:spcPts val="2200"/>
              </a:lnSpc>
              <a:spcBef>
                <a:spcPts val="0"/>
              </a:spcBef>
              <a:buClr>
                <a:schemeClr val="accent1"/>
              </a:buClr>
              <a:buFont typeface="Arial"/>
              <a:buChar char="•"/>
              <a:tabLst/>
              <a:defRPr sz="1867" b="0" i="0" kern="1200">
                <a:solidFill>
                  <a:schemeClr val="tx1"/>
                </a:solidFill>
                <a:latin typeface="Kings Caslon Text" charset="0"/>
                <a:ea typeface="Kings Caslon Text" charset="0"/>
                <a:cs typeface="Kings Caslon Text" charset="0"/>
              </a:defRPr>
            </a:lvl5pPr>
            <a:lvl6pPr marL="1333671" indent="-121242" algn="l" defTabSz="242486" rtl="0" eaLnBrk="1" latinLnBrk="0" hangingPunct="1">
              <a:spcBef>
                <a:spcPct val="20000"/>
              </a:spcBef>
              <a:buFont typeface="Arial"/>
              <a:buChar char="•"/>
              <a:defRPr sz="1061" kern="1200">
                <a:solidFill>
                  <a:schemeClr val="tx1"/>
                </a:solidFill>
                <a:latin typeface="+mn-lt"/>
                <a:ea typeface="+mn-ea"/>
                <a:cs typeface="+mn-cs"/>
              </a:defRPr>
            </a:lvl6pPr>
            <a:lvl7pPr marL="1576157" indent="-121242" algn="l" defTabSz="242486" rtl="0" eaLnBrk="1" latinLnBrk="0" hangingPunct="1">
              <a:spcBef>
                <a:spcPct val="20000"/>
              </a:spcBef>
              <a:buFont typeface="Arial"/>
              <a:buChar char="•"/>
              <a:defRPr sz="1061" kern="1200">
                <a:solidFill>
                  <a:schemeClr val="tx1"/>
                </a:solidFill>
                <a:latin typeface="+mn-lt"/>
                <a:ea typeface="+mn-ea"/>
                <a:cs typeface="+mn-cs"/>
              </a:defRPr>
            </a:lvl7pPr>
            <a:lvl8pPr marL="1818643" indent="-121242" algn="l" defTabSz="242486" rtl="0" eaLnBrk="1" latinLnBrk="0" hangingPunct="1">
              <a:spcBef>
                <a:spcPct val="20000"/>
              </a:spcBef>
              <a:buFont typeface="Arial"/>
              <a:buChar char="•"/>
              <a:defRPr sz="1061" kern="1200">
                <a:solidFill>
                  <a:schemeClr val="tx1"/>
                </a:solidFill>
                <a:latin typeface="+mn-lt"/>
                <a:ea typeface="+mn-ea"/>
                <a:cs typeface="+mn-cs"/>
              </a:defRPr>
            </a:lvl8pPr>
            <a:lvl9pPr marL="2061127" indent="-121242" algn="l" defTabSz="242486" rtl="0" eaLnBrk="1" latinLnBrk="0" hangingPunct="1">
              <a:spcBef>
                <a:spcPct val="20000"/>
              </a:spcBef>
              <a:buFont typeface="Arial"/>
              <a:buChar char="•"/>
              <a:defRPr sz="1061" kern="1200">
                <a:solidFill>
                  <a:schemeClr val="tx1"/>
                </a:solidFill>
                <a:latin typeface="+mn-lt"/>
                <a:ea typeface="+mn-ea"/>
                <a:cs typeface="+mn-cs"/>
              </a:defRPr>
            </a:lvl9pPr>
          </a:lstStyle>
          <a:p>
            <a:pPr marL="0" marR="0" lvl="0" indent="0" algn="l" defTabSz="242486" rtl="0" eaLnBrk="1" fontAlgn="auto" latinLnBrk="0" hangingPunct="1">
              <a:lnSpc>
                <a:spcPts val="2200"/>
              </a:lnSpc>
              <a:spcBef>
                <a:spcPts val="0"/>
              </a:spcBef>
              <a:spcAft>
                <a:spcPts val="0"/>
              </a:spcAft>
              <a:buClr>
                <a:srgbClr val="01A88F"/>
              </a:buClr>
              <a:buSzTx/>
              <a:buFont typeface="Arial"/>
              <a:buNone/>
              <a:tabLst/>
              <a:defRPr/>
            </a:pPr>
            <a:r>
              <a:rPr kumimoji="0" lang="en-GB" sz="2133" b="1" i="0" u="none" strike="noStrike" kern="1200" cap="none" spc="0" normalizeH="0" baseline="0" noProof="0" dirty="0">
                <a:ln>
                  <a:noFill/>
                </a:ln>
                <a:solidFill>
                  <a:srgbClr val="B3BD10"/>
                </a:solidFill>
                <a:effectLst/>
                <a:uLnTx/>
                <a:uFillTx/>
                <a:latin typeface="KingsBureauGrot ThreeSeven" charset="0"/>
              </a:rPr>
              <a:t>Low-CO</a:t>
            </a:r>
            <a:r>
              <a:rPr kumimoji="0" lang="en-GB" sz="2133" b="1" i="0" u="none" strike="noStrike" kern="1200" cap="none" spc="0" normalizeH="0" baseline="-25000" noProof="0" dirty="0">
                <a:ln>
                  <a:noFill/>
                </a:ln>
                <a:solidFill>
                  <a:srgbClr val="B3BD10"/>
                </a:solidFill>
                <a:effectLst/>
                <a:uLnTx/>
                <a:uFillTx/>
                <a:latin typeface="KingsBureauGrot ThreeSeven" charset="0"/>
              </a:rPr>
              <a:t>2</a:t>
            </a:r>
          </a:p>
          <a:p>
            <a:pPr marL="0" marR="0" lvl="0" indent="0" algn="l" defTabSz="242486" rtl="0" eaLnBrk="1" fontAlgn="auto" latinLnBrk="0" hangingPunct="1">
              <a:lnSpc>
                <a:spcPts val="2200"/>
              </a:lnSpc>
              <a:spcBef>
                <a:spcPts val="0"/>
              </a:spcBef>
              <a:spcAft>
                <a:spcPts val="0"/>
              </a:spcAft>
              <a:buClr>
                <a:srgbClr val="01A88F"/>
              </a:buClr>
              <a:buSzTx/>
              <a:buFont typeface="Arial"/>
              <a:buNone/>
              <a:tabLst/>
              <a:defRPr/>
            </a:pPr>
            <a:endParaRPr kumimoji="0" lang="en-GB" sz="2133" b="1" i="0" u="none" strike="noStrike" kern="1200" cap="none" spc="0" normalizeH="0" baseline="0" noProof="0" dirty="0">
              <a:ln>
                <a:noFill/>
              </a:ln>
              <a:solidFill>
                <a:srgbClr val="000000"/>
              </a:solidFill>
              <a:effectLst/>
              <a:uLnTx/>
              <a:uFillTx/>
              <a:latin typeface="KingsBureauGrot FiveOne" panose="02000506040000020004" pitchFamily="2" charset="0"/>
            </a:endParaRPr>
          </a:p>
          <a:p>
            <a:pPr marL="0" marR="0" lvl="0" indent="0" algn="l" defTabSz="242486" rtl="0" eaLnBrk="1" fontAlgn="auto" latinLnBrk="0" hangingPunct="1">
              <a:lnSpc>
                <a:spcPts val="2200"/>
              </a:lnSpc>
              <a:spcBef>
                <a:spcPts val="0"/>
              </a:spcBef>
              <a:spcAft>
                <a:spcPts val="0"/>
              </a:spcAft>
              <a:buClr>
                <a:srgbClr val="01A88F"/>
              </a:buClr>
              <a:buSzTx/>
              <a:buFont typeface="Arial"/>
              <a:buNone/>
              <a:tabLst/>
              <a:defRPr/>
            </a:pPr>
            <a:r>
              <a:rPr kumimoji="0" lang="en-GB" sz="2133" b="1" i="0" u="none" strike="noStrike" kern="1200" cap="none" spc="0" normalizeH="0" baseline="0" noProof="0" dirty="0">
                <a:ln>
                  <a:noFill/>
                </a:ln>
                <a:solidFill>
                  <a:srgbClr val="000000"/>
                </a:solidFill>
                <a:effectLst/>
                <a:uLnTx/>
                <a:uFillTx/>
                <a:latin typeface="KingsBureauGrot FiveOne" panose="02000506040000020004" pitchFamily="2" charset="0"/>
              </a:rPr>
              <a:t>Optimised itineraries</a:t>
            </a:r>
          </a:p>
          <a:p>
            <a:pPr marL="0" marR="0" lvl="0" indent="0" algn="l" defTabSz="242486" rtl="0" eaLnBrk="1" fontAlgn="auto" latinLnBrk="0" hangingPunct="1">
              <a:lnSpc>
                <a:spcPts val="2200"/>
              </a:lnSpc>
              <a:spcBef>
                <a:spcPts val="0"/>
              </a:spcBef>
              <a:spcAft>
                <a:spcPts val="0"/>
              </a:spcAft>
              <a:buClr>
                <a:srgbClr val="01A88F"/>
              </a:buClr>
              <a:buSzTx/>
              <a:buFont typeface="Arial"/>
              <a:buNone/>
              <a:tabLst/>
              <a:defRPr/>
            </a:pPr>
            <a:endParaRPr kumimoji="0" lang="en-GB" sz="2133" b="1" i="0" u="none" strike="noStrike" kern="1200" cap="none" spc="0" normalizeH="0" baseline="0" noProof="0" dirty="0">
              <a:ln>
                <a:noFill/>
              </a:ln>
              <a:solidFill>
                <a:srgbClr val="000000"/>
              </a:solidFill>
              <a:effectLst/>
              <a:uLnTx/>
              <a:uFillTx/>
              <a:latin typeface="KingsBureauGrot FiveOne" panose="02000506040000020004" pitchFamily="2" charset="0"/>
            </a:endParaRPr>
          </a:p>
          <a:p>
            <a:pPr marL="0" marR="0" lvl="0" indent="0" algn="l" defTabSz="242486" rtl="0" eaLnBrk="1" fontAlgn="auto" latinLnBrk="0" hangingPunct="1">
              <a:lnSpc>
                <a:spcPts val="2200"/>
              </a:lnSpc>
              <a:spcBef>
                <a:spcPts val="0"/>
              </a:spcBef>
              <a:spcAft>
                <a:spcPts val="0"/>
              </a:spcAft>
              <a:buClr>
                <a:srgbClr val="01A88F"/>
              </a:buClr>
              <a:buSzTx/>
              <a:buFont typeface="Arial"/>
              <a:buNone/>
              <a:tabLst/>
              <a:defRPr/>
            </a:pPr>
            <a:r>
              <a:rPr kumimoji="0" lang="en-GB" sz="2133" b="1" i="0" u="none" strike="noStrike" kern="1200" cap="none" spc="0" normalizeH="0" baseline="0" noProof="0" dirty="0">
                <a:ln>
                  <a:noFill/>
                </a:ln>
                <a:solidFill>
                  <a:srgbClr val="000000"/>
                </a:solidFill>
                <a:effectLst/>
                <a:uLnTx/>
                <a:uFillTx/>
                <a:latin typeface="KingsBureauGrot FiveOne" panose="02000506040000020004" pitchFamily="2" charset="0"/>
              </a:rPr>
              <a:t>Informed congestion-aware routes</a:t>
            </a:r>
          </a:p>
          <a:p>
            <a:pPr marL="0" marR="0" lvl="0" indent="0" algn="l" defTabSz="242486" rtl="0" eaLnBrk="1" fontAlgn="auto" latinLnBrk="0" hangingPunct="1">
              <a:lnSpc>
                <a:spcPts val="2200"/>
              </a:lnSpc>
              <a:spcBef>
                <a:spcPts val="0"/>
              </a:spcBef>
              <a:spcAft>
                <a:spcPts val="0"/>
              </a:spcAft>
              <a:buClr>
                <a:srgbClr val="01A88F"/>
              </a:buClr>
              <a:buSzTx/>
              <a:buFont typeface="Arial"/>
              <a:buNone/>
              <a:tabLst/>
              <a:defRPr/>
            </a:pPr>
            <a:r>
              <a:rPr kumimoji="0" lang="en-GB" sz="2133" b="1" i="0" u="none" strike="noStrike" kern="1200" cap="none" spc="0" normalizeH="0" baseline="0" noProof="0" dirty="0">
                <a:ln>
                  <a:noFill/>
                </a:ln>
                <a:solidFill>
                  <a:srgbClr val="000000"/>
                </a:solidFill>
                <a:effectLst/>
                <a:uLnTx/>
                <a:uFillTx/>
                <a:latin typeface="KingsBureauGrot FiveOne" panose="02000506040000020004" pitchFamily="2" charset="0"/>
              </a:rPr>
              <a:t> </a:t>
            </a:r>
          </a:p>
          <a:p>
            <a:pPr marL="0" marR="0" lvl="0" indent="0" algn="l" defTabSz="242486" rtl="0" eaLnBrk="1" fontAlgn="auto" latinLnBrk="0" hangingPunct="1">
              <a:lnSpc>
                <a:spcPts val="2200"/>
              </a:lnSpc>
              <a:spcBef>
                <a:spcPts val="0"/>
              </a:spcBef>
              <a:spcAft>
                <a:spcPts val="0"/>
              </a:spcAft>
              <a:buClr>
                <a:srgbClr val="01A88F"/>
              </a:buClr>
              <a:buSzTx/>
              <a:buFont typeface="Arial"/>
              <a:buNone/>
              <a:tabLst/>
              <a:defRPr/>
            </a:pPr>
            <a:r>
              <a:rPr kumimoji="0" lang="en-GB" sz="2133" b="1" i="0" u="none" strike="noStrike" kern="1200" cap="none" spc="0" normalizeH="0" baseline="0" noProof="0" dirty="0">
                <a:ln>
                  <a:noFill/>
                </a:ln>
                <a:solidFill>
                  <a:srgbClr val="000000"/>
                </a:solidFill>
                <a:effectLst/>
                <a:uLnTx/>
                <a:uFillTx/>
                <a:latin typeface="KingsBureauGrot FiveOne" panose="02000506040000020004" pitchFamily="2" charset="0"/>
              </a:rPr>
              <a:t>Sharing </a:t>
            </a:r>
            <a:r>
              <a:rPr kumimoji="0" lang="en-GB" sz="2133" b="0" i="0" u="none" strike="noStrike" kern="1200" cap="none" spc="0" normalizeH="0" baseline="0" noProof="0" dirty="0">
                <a:ln>
                  <a:noFill/>
                </a:ln>
                <a:solidFill>
                  <a:srgbClr val="201F1E"/>
                </a:solidFill>
                <a:effectLst/>
                <a:uLnTx/>
                <a:uFillTx/>
                <a:latin typeface="KingsBureauGrot FiveOne" panose="02000506040000020004" pitchFamily="2" charset="0"/>
              </a:rPr>
              <a:t>a vehicle with other passengers (collected or dropped off along the route)</a:t>
            </a:r>
            <a:r>
              <a:rPr kumimoji="0" lang="en-GB" sz="2133" b="0" i="0" u="none" strike="noStrike" kern="1200" cap="none" spc="0" normalizeH="0" baseline="0" noProof="0" dirty="0">
                <a:ln>
                  <a:noFill/>
                </a:ln>
                <a:solidFill>
                  <a:srgbClr val="000000"/>
                </a:solidFill>
                <a:effectLst/>
                <a:uLnTx/>
                <a:uFillTx/>
                <a:latin typeface="KingsBureauGrot FiveOne" panose="02000506040000020004" pitchFamily="2" charset="0"/>
              </a:rPr>
              <a:t> </a:t>
            </a:r>
            <a:endParaRPr kumimoji="0" lang="en-GB" sz="2133" b="1" i="0" u="none" strike="noStrike" kern="1200" cap="none" spc="0" normalizeH="0" baseline="0" noProof="0" dirty="0">
              <a:ln>
                <a:noFill/>
              </a:ln>
              <a:solidFill>
                <a:srgbClr val="000000"/>
              </a:solidFill>
              <a:effectLst/>
              <a:uLnTx/>
              <a:uFillTx/>
              <a:latin typeface="KingsBureauGrot FiveOne" panose="02000506040000020004" pitchFamily="2" charset="0"/>
            </a:endParaRPr>
          </a:p>
          <a:p>
            <a:pPr marL="0" marR="0" lvl="0" indent="0" algn="l" defTabSz="242486" rtl="0" eaLnBrk="1" fontAlgn="auto" latinLnBrk="0" hangingPunct="1">
              <a:lnSpc>
                <a:spcPts val="2200"/>
              </a:lnSpc>
              <a:spcBef>
                <a:spcPts val="0"/>
              </a:spcBef>
              <a:spcAft>
                <a:spcPts val="0"/>
              </a:spcAft>
              <a:buClr>
                <a:srgbClr val="01A88F"/>
              </a:buClr>
              <a:buSzTx/>
              <a:buFont typeface="Arial"/>
              <a:buNone/>
              <a:tabLst/>
              <a:defRPr/>
            </a:pPr>
            <a:endParaRPr kumimoji="0" lang="en-GB" sz="2133" b="1" i="0" u="none" strike="noStrike" kern="1200" cap="none" spc="0" normalizeH="0" baseline="0" noProof="0" dirty="0">
              <a:ln>
                <a:noFill/>
              </a:ln>
              <a:solidFill>
                <a:srgbClr val="000000"/>
              </a:solidFill>
              <a:effectLst/>
              <a:uLnTx/>
              <a:uFillTx/>
              <a:latin typeface="KingsBureauGrot FiveOne" panose="02000506040000020004" pitchFamily="2" charset="0"/>
            </a:endParaRPr>
          </a:p>
          <a:p>
            <a:pPr marL="0" marR="0" lvl="0" indent="0" algn="l" defTabSz="242486" rtl="0" eaLnBrk="1" fontAlgn="auto" latinLnBrk="0" hangingPunct="1">
              <a:lnSpc>
                <a:spcPts val="2200"/>
              </a:lnSpc>
              <a:spcBef>
                <a:spcPts val="0"/>
              </a:spcBef>
              <a:spcAft>
                <a:spcPts val="0"/>
              </a:spcAft>
              <a:buClr>
                <a:srgbClr val="01A88F"/>
              </a:buClr>
              <a:buSzTx/>
              <a:buFont typeface="Arial"/>
              <a:buNone/>
              <a:tabLst/>
              <a:defRPr/>
            </a:pPr>
            <a:r>
              <a:rPr kumimoji="0" lang="en-GB" sz="2133" b="1" i="0" u="none" strike="noStrike" kern="1200" cap="none" spc="0" normalizeH="0" baseline="0" noProof="0" dirty="0">
                <a:ln>
                  <a:noFill/>
                </a:ln>
                <a:solidFill>
                  <a:srgbClr val="000000"/>
                </a:solidFill>
                <a:effectLst/>
                <a:uLnTx/>
                <a:uFillTx/>
                <a:latin typeface="KingsBureauGrot FiveOne" panose="02000506040000020004" pitchFamily="2" charset="0"/>
              </a:rPr>
              <a:t>Adapted vehicles’ assignment</a:t>
            </a:r>
          </a:p>
          <a:p>
            <a:pPr marL="380990" marR="0" lvl="0" indent="-380990" algn="l" defTabSz="242486" rtl="0" eaLnBrk="1" fontAlgn="auto" latinLnBrk="0" hangingPunct="1">
              <a:lnSpc>
                <a:spcPts val="2200"/>
              </a:lnSpc>
              <a:spcBef>
                <a:spcPts val="0"/>
              </a:spcBef>
              <a:spcAft>
                <a:spcPts val="0"/>
              </a:spcAft>
              <a:buClr>
                <a:srgbClr val="01A88F"/>
              </a:buClr>
              <a:buSzTx/>
              <a:buFont typeface="Arial" panose="020B0604020202020204" pitchFamily="34" charset="0"/>
              <a:buChar char="•"/>
              <a:tabLst/>
              <a:defRPr/>
            </a:pPr>
            <a:r>
              <a:rPr kumimoji="0" lang="en-GB" sz="2133" b="0" i="0" u="none" strike="noStrike" kern="1200" cap="none" spc="0" normalizeH="0" baseline="0" noProof="0" dirty="0">
                <a:ln>
                  <a:noFill/>
                </a:ln>
                <a:solidFill>
                  <a:srgbClr val="000000"/>
                </a:solidFill>
                <a:effectLst/>
                <a:uLnTx/>
                <a:uFillTx/>
                <a:latin typeface="KingsBureauGrot FiveOne" panose="02000506040000020004" pitchFamily="2" charset="0"/>
              </a:rPr>
              <a:t>journeys</a:t>
            </a:r>
          </a:p>
          <a:p>
            <a:pPr marL="380990" marR="0" lvl="0" indent="-380990" algn="l" defTabSz="242486" rtl="0" eaLnBrk="1" fontAlgn="auto" latinLnBrk="0" hangingPunct="1">
              <a:lnSpc>
                <a:spcPts val="2200"/>
              </a:lnSpc>
              <a:spcBef>
                <a:spcPts val="0"/>
              </a:spcBef>
              <a:spcAft>
                <a:spcPts val="0"/>
              </a:spcAft>
              <a:buClr>
                <a:srgbClr val="01A88F"/>
              </a:buClr>
              <a:buSzTx/>
              <a:buFont typeface="Arial" panose="020B0604020202020204" pitchFamily="34" charset="0"/>
              <a:buChar char="•"/>
              <a:tabLst/>
              <a:defRPr/>
            </a:pPr>
            <a:r>
              <a:rPr kumimoji="0" lang="en-GB" sz="2133" b="0" i="0" u="none" strike="noStrike" kern="1200" cap="none" spc="0" normalizeH="0" baseline="0" noProof="0" dirty="0">
                <a:ln>
                  <a:noFill/>
                </a:ln>
                <a:solidFill>
                  <a:srgbClr val="000000"/>
                </a:solidFill>
                <a:effectLst/>
                <a:uLnTx/>
                <a:uFillTx/>
                <a:latin typeface="KingsBureauGrot FiveOne" panose="02000506040000020004" pitchFamily="2" charset="0"/>
              </a:rPr>
              <a:t>pooling</a:t>
            </a:r>
          </a:p>
          <a:p>
            <a:pPr marL="380990" marR="0" lvl="0" indent="-380990" algn="l" defTabSz="242486" rtl="0" eaLnBrk="1" fontAlgn="auto" latinLnBrk="0" hangingPunct="1">
              <a:lnSpc>
                <a:spcPts val="2200"/>
              </a:lnSpc>
              <a:spcBef>
                <a:spcPts val="0"/>
              </a:spcBef>
              <a:spcAft>
                <a:spcPts val="0"/>
              </a:spcAft>
              <a:buClr>
                <a:srgbClr val="01A88F"/>
              </a:buClr>
              <a:buSzTx/>
              <a:buFont typeface="Arial" panose="020B0604020202020204" pitchFamily="34" charset="0"/>
              <a:buChar char="•"/>
              <a:tabLst/>
              <a:defRPr/>
            </a:pPr>
            <a:r>
              <a:rPr kumimoji="0" lang="en-GB" sz="2133" b="0" i="0" u="none" strike="noStrike" kern="1200" cap="none" spc="0" normalizeH="0" baseline="0" noProof="0" dirty="0">
                <a:ln>
                  <a:noFill/>
                </a:ln>
                <a:solidFill>
                  <a:srgbClr val="000000"/>
                </a:solidFill>
                <a:effectLst/>
                <a:uLnTx/>
                <a:uFillTx/>
                <a:latin typeface="KingsBureauGrot FiveOne" panose="02000506040000020004" pitchFamily="2" charset="0"/>
              </a:rPr>
              <a:t>Accessibility</a:t>
            </a:r>
          </a:p>
          <a:p>
            <a:pPr marL="380990" marR="0" lvl="0" indent="-380990" algn="l" defTabSz="242486" rtl="0" eaLnBrk="1" fontAlgn="auto" latinLnBrk="0" hangingPunct="1">
              <a:lnSpc>
                <a:spcPts val="2200"/>
              </a:lnSpc>
              <a:spcBef>
                <a:spcPts val="0"/>
              </a:spcBef>
              <a:spcAft>
                <a:spcPts val="0"/>
              </a:spcAft>
              <a:buClr>
                <a:srgbClr val="01A88F"/>
              </a:buClr>
              <a:buSzTx/>
              <a:buFont typeface="Arial" panose="020B0604020202020204" pitchFamily="34" charset="0"/>
              <a:buChar char="•"/>
              <a:tabLst/>
              <a:defRPr/>
            </a:pPr>
            <a:r>
              <a:rPr kumimoji="0" lang="en-GB" sz="2133" b="0" i="0" u="none" strike="noStrike" kern="1200" cap="none" spc="0" normalizeH="0" baseline="0" noProof="0" dirty="0">
                <a:ln>
                  <a:noFill/>
                </a:ln>
                <a:solidFill>
                  <a:srgbClr val="000000"/>
                </a:solidFill>
                <a:effectLst/>
                <a:uLnTx/>
                <a:uFillTx/>
                <a:latin typeface="KingsBureauGrot FiveOne" panose="02000506040000020004" pitchFamily="2" charset="0"/>
              </a:rPr>
              <a:t>Anticipated demand</a:t>
            </a:r>
            <a:r>
              <a:rPr kumimoji="0" lang="en-GB" sz="2133" b="1" i="0" u="none" strike="noStrike" kern="1200" cap="none" spc="0" normalizeH="0" baseline="0" noProof="0" dirty="0">
                <a:ln>
                  <a:noFill/>
                </a:ln>
                <a:solidFill>
                  <a:srgbClr val="000000"/>
                </a:solidFill>
                <a:effectLst/>
                <a:uLnTx/>
                <a:uFillTx/>
                <a:latin typeface="KingsBureauGrot FiveOne" panose="02000506040000020004" pitchFamily="2" charset="0"/>
              </a:rPr>
              <a:t> </a:t>
            </a:r>
          </a:p>
        </p:txBody>
      </p:sp>
      <p:sp>
        <p:nvSpPr>
          <p:cNvPr id="7" name="Content Placeholder 4">
            <a:extLst>
              <a:ext uri="{FF2B5EF4-FFF2-40B4-BE49-F238E27FC236}">
                <a16:creationId xmlns:a16="http://schemas.microsoft.com/office/drawing/2014/main" id="{22123C5E-A2D7-F1CF-681C-D5EAE586867B}"/>
              </a:ext>
            </a:extLst>
          </p:cNvPr>
          <p:cNvSpPr txBox="1">
            <a:spLocks/>
          </p:cNvSpPr>
          <p:nvPr/>
        </p:nvSpPr>
        <p:spPr>
          <a:xfrm>
            <a:off x="3600451" y="2114754"/>
            <a:ext cx="3755333" cy="4538133"/>
          </a:xfrm>
          <a:prstGeom prst="rect">
            <a:avLst/>
          </a:prstGeom>
        </p:spPr>
        <p:txBody>
          <a:bodyPr vert="horz" lIns="0" tIns="0" rIns="0" bIns="0" rtlCol="0">
            <a:normAutofit/>
          </a:bodyPr>
          <a:lstStyle>
            <a:lvl1pPr marL="0" indent="0" algn="l" defTabSz="242486" rtl="0" eaLnBrk="1" latinLnBrk="0" hangingPunct="1">
              <a:lnSpc>
                <a:spcPts val="2200"/>
              </a:lnSpc>
              <a:spcBef>
                <a:spcPts val="0"/>
              </a:spcBef>
              <a:buClr>
                <a:schemeClr val="accent2"/>
              </a:buClr>
              <a:buFont typeface="Arial"/>
              <a:buNone/>
              <a:defRPr sz="1733" b="1" i="0" kern="1200">
                <a:solidFill>
                  <a:schemeClr val="accent1"/>
                </a:solidFill>
                <a:latin typeface="KingsBureauGrot ThreeSeven" charset="0"/>
                <a:ea typeface="KingsBureauGrot ThreeSeven" charset="0"/>
                <a:cs typeface="KingsBureauGrot ThreeSeven" charset="0"/>
              </a:defRPr>
            </a:lvl1pPr>
            <a:lvl2pPr marL="6351" indent="0" algn="l" defTabSz="242486" rtl="0" eaLnBrk="1" latinLnBrk="0" hangingPunct="1">
              <a:lnSpc>
                <a:spcPts val="2200"/>
              </a:lnSpc>
              <a:spcBef>
                <a:spcPts val="0"/>
              </a:spcBef>
              <a:buClr>
                <a:schemeClr val="accent2"/>
              </a:buClr>
              <a:buFont typeface="Arial"/>
              <a:buNone/>
              <a:tabLst/>
              <a:defRPr sz="1733" b="0" i="0" kern="1200">
                <a:solidFill>
                  <a:schemeClr val="accent1"/>
                </a:solidFill>
                <a:latin typeface="KingsBureauGrot FiveOne" charset="0"/>
                <a:ea typeface="KingsBureauGrot FiveOne" charset="0"/>
                <a:cs typeface="KingsBureauGrot FiveOne" charset="0"/>
              </a:defRPr>
            </a:lvl2pPr>
            <a:lvl3pPr marL="6349" indent="0" algn="l" defTabSz="242486" rtl="0" eaLnBrk="1" latinLnBrk="0" hangingPunct="1">
              <a:lnSpc>
                <a:spcPts val="2200"/>
              </a:lnSpc>
              <a:spcBef>
                <a:spcPts val="0"/>
              </a:spcBef>
              <a:buClr>
                <a:schemeClr val="accent2"/>
              </a:buClr>
              <a:buFontTx/>
              <a:buNone/>
              <a:tabLst/>
              <a:defRPr sz="1867" b="0" i="0" kern="1200">
                <a:solidFill>
                  <a:schemeClr val="tx1"/>
                </a:solidFill>
                <a:latin typeface="Kings Caslon Text" charset="0"/>
                <a:ea typeface="Kings Caslon Text" charset="0"/>
                <a:cs typeface="Kings Caslon Text" charset="0"/>
              </a:defRPr>
            </a:lvl3pPr>
            <a:lvl4pPr marL="239178" indent="-234945" algn="l" defTabSz="242486" rtl="0" eaLnBrk="1" latinLnBrk="0" hangingPunct="1">
              <a:lnSpc>
                <a:spcPts val="2200"/>
              </a:lnSpc>
              <a:spcBef>
                <a:spcPts val="0"/>
              </a:spcBef>
              <a:buClr>
                <a:schemeClr val="accent1"/>
              </a:buClr>
              <a:buFont typeface="Arial"/>
              <a:buChar char="•"/>
              <a:tabLst/>
              <a:defRPr sz="1867" b="0" i="0" kern="1200">
                <a:solidFill>
                  <a:schemeClr val="tx1"/>
                </a:solidFill>
                <a:latin typeface="Kings Caslon Text" charset="0"/>
                <a:ea typeface="Kings Caslon Text" charset="0"/>
                <a:cs typeface="Kings Caslon Text" charset="0"/>
              </a:defRPr>
            </a:lvl4pPr>
            <a:lvl5pPr marL="474121" indent="-234945" algn="l" defTabSz="242486" rtl="0" eaLnBrk="1" latinLnBrk="0" hangingPunct="1">
              <a:lnSpc>
                <a:spcPts val="2200"/>
              </a:lnSpc>
              <a:spcBef>
                <a:spcPts val="0"/>
              </a:spcBef>
              <a:buClr>
                <a:schemeClr val="accent1"/>
              </a:buClr>
              <a:buFont typeface="Arial"/>
              <a:buChar char="•"/>
              <a:tabLst/>
              <a:defRPr sz="1867" b="0" i="0" kern="1200">
                <a:solidFill>
                  <a:schemeClr val="tx1"/>
                </a:solidFill>
                <a:latin typeface="Kings Caslon Text" charset="0"/>
                <a:ea typeface="Kings Caslon Text" charset="0"/>
                <a:cs typeface="Kings Caslon Text" charset="0"/>
              </a:defRPr>
            </a:lvl5pPr>
            <a:lvl6pPr marL="1333671" indent="-121242" algn="l" defTabSz="242486" rtl="0" eaLnBrk="1" latinLnBrk="0" hangingPunct="1">
              <a:spcBef>
                <a:spcPct val="20000"/>
              </a:spcBef>
              <a:buFont typeface="Arial"/>
              <a:buChar char="•"/>
              <a:defRPr sz="1061" kern="1200">
                <a:solidFill>
                  <a:schemeClr val="tx1"/>
                </a:solidFill>
                <a:latin typeface="+mn-lt"/>
                <a:ea typeface="+mn-ea"/>
                <a:cs typeface="+mn-cs"/>
              </a:defRPr>
            </a:lvl6pPr>
            <a:lvl7pPr marL="1576157" indent="-121242" algn="l" defTabSz="242486" rtl="0" eaLnBrk="1" latinLnBrk="0" hangingPunct="1">
              <a:spcBef>
                <a:spcPct val="20000"/>
              </a:spcBef>
              <a:buFont typeface="Arial"/>
              <a:buChar char="•"/>
              <a:defRPr sz="1061" kern="1200">
                <a:solidFill>
                  <a:schemeClr val="tx1"/>
                </a:solidFill>
                <a:latin typeface="+mn-lt"/>
                <a:ea typeface="+mn-ea"/>
                <a:cs typeface="+mn-cs"/>
              </a:defRPr>
            </a:lvl7pPr>
            <a:lvl8pPr marL="1818643" indent="-121242" algn="l" defTabSz="242486" rtl="0" eaLnBrk="1" latinLnBrk="0" hangingPunct="1">
              <a:spcBef>
                <a:spcPct val="20000"/>
              </a:spcBef>
              <a:buFont typeface="Arial"/>
              <a:buChar char="•"/>
              <a:defRPr sz="1061" kern="1200">
                <a:solidFill>
                  <a:schemeClr val="tx1"/>
                </a:solidFill>
                <a:latin typeface="+mn-lt"/>
                <a:ea typeface="+mn-ea"/>
                <a:cs typeface="+mn-cs"/>
              </a:defRPr>
            </a:lvl8pPr>
            <a:lvl9pPr marL="2061127" indent="-121242" algn="l" defTabSz="242486" rtl="0" eaLnBrk="1" latinLnBrk="0" hangingPunct="1">
              <a:spcBef>
                <a:spcPct val="20000"/>
              </a:spcBef>
              <a:buFont typeface="Arial"/>
              <a:buChar char="•"/>
              <a:defRPr sz="1061" kern="1200">
                <a:solidFill>
                  <a:schemeClr val="tx1"/>
                </a:solidFill>
                <a:latin typeface="+mn-lt"/>
                <a:ea typeface="+mn-ea"/>
                <a:cs typeface="+mn-cs"/>
              </a:defRPr>
            </a:lvl9pPr>
          </a:lstStyle>
          <a:p>
            <a:pPr marL="0" marR="0" lvl="0" indent="0" algn="l" defTabSz="242486" rtl="0" eaLnBrk="1" fontAlgn="auto" latinLnBrk="0" hangingPunct="1">
              <a:lnSpc>
                <a:spcPts val="2200"/>
              </a:lnSpc>
              <a:spcBef>
                <a:spcPts val="0"/>
              </a:spcBef>
              <a:spcAft>
                <a:spcPts val="0"/>
              </a:spcAft>
              <a:buClr>
                <a:srgbClr val="01A88F"/>
              </a:buClr>
              <a:buSzTx/>
              <a:buFont typeface="Arial"/>
              <a:buNone/>
              <a:tabLst/>
              <a:defRPr/>
            </a:pPr>
            <a:r>
              <a:rPr kumimoji="0" lang="en-GB" sz="2133" b="1" i="0" u="none" strike="noStrike" kern="1200" cap="none" spc="0" normalizeH="0" baseline="0" noProof="0" dirty="0">
                <a:ln>
                  <a:noFill/>
                </a:ln>
                <a:solidFill>
                  <a:srgbClr val="B3BD10"/>
                </a:solidFill>
                <a:effectLst/>
                <a:uLnTx/>
                <a:uFillTx/>
                <a:latin typeface="KingsBureauGrot ThreeSeven" charset="0"/>
              </a:rPr>
              <a:t>Flexible</a:t>
            </a:r>
          </a:p>
          <a:p>
            <a:pPr marL="0" marR="0" lvl="0" indent="0" algn="l" defTabSz="242486" rtl="0" eaLnBrk="1" fontAlgn="auto" latinLnBrk="0" hangingPunct="1">
              <a:lnSpc>
                <a:spcPts val="2200"/>
              </a:lnSpc>
              <a:spcBef>
                <a:spcPts val="0"/>
              </a:spcBef>
              <a:spcAft>
                <a:spcPts val="0"/>
              </a:spcAft>
              <a:buClr>
                <a:srgbClr val="01A88F"/>
              </a:buClr>
              <a:buSzTx/>
              <a:buFont typeface="Arial"/>
              <a:buNone/>
              <a:tabLst/>
              <a:defRPr/>
            </a:pPr>
            <a:endParaRPr kumimoji="0" lang="en-GB" sz="2133" b="1" i="0" u="none" strike="noStrike" kern="1200" cap="none" spc="0" normalizeH="0" baseline="0" noProof="0" dirty="0">
              <a:ln>
                <a:noFill/>
              </a:ln>
              <a:solidFill>
                <a:srgbClr val="B3BD10"/>
              </a:solidFill>
              <a:effectLst/>
              <a:uLnTx/>
              <a:uFillTx/>
              <a:latin typeface="KingsBureauGrot ThreeSeven" charset="0"/>
            </a:endParaRPr>
          </a:p>
          <a:p>
            <a:pPr marL="0" marR="0" lvl="0" indent="0" algn="l" defTabSz="242486" rtl="0" eaLnBrk="1" fontAlgn="auto" latinLnBrk="0" hangingPunct="1">
              <a:lnSpc>
                <a:spcPts val="2200"/>
              </a:lnSpc>
              <a:spcBef>
                <a:spcPts val="0"/>
              </a:spcBef>
              <a:spcAft>
                <a:spcPts val="0"/>
              </a:spcAft>
              <a:buClr>
                <a:srgbClr val="01A88F"/>
              </a:buClr>
              <a:buSzTx/>
              <a:buFont typeface="Arial"/>
              <a:buNone/>
              <a:tabLst/>
              <a:defRPr/>
            </a:pPr>
            <a:r>
              <a:rPr kumimoji="0" lang="en-GB" sz="2133" b="1" i="0" u="none" strike="noStrike" kern="1200" cap="none" spc="0" normalizeH="0" baseline="0" noProof="0" dirty="0">
                <a:ln>
                  <a:noFill/>
                </a:ln>
                <a:solidFill>
                  <a:srgbClr val="632382">
                    <a:lumMod val="60000"/>
                    <a:lumOff val="40000"/>
                  </a:srgbClr>
                </a:solidFill>
                <a:effectLst/>
                <a:uLnTx/>
                <a:uFillTx/>
                <a:latin typeface="KingsBureauGrot FiveOne" panose="02000506040000020004" pitchFamily="2" charset="0"/>
                <a:sym typeface="Symbol" panose="05050102010706020507" pitchFamily="18" charset="2"/>
              </a:rPr>
              <a:t></a:t>
            </a:r>
            <a:r>
              <a:rPr kumimoji="0" lang="en-GB" sz="2133" b="1" i="0" u="none" strike="noStrike" kern="1200" cap="none" spc="0" normalizeH="0" baseline="0" noProof="0" dirty="0">
                <a:ln>
                  <a:noFill/>
                </a:ln>
                <a:solidFill>
                  <a:srgbClr val="632382">
                    <a:lumMod val="60000"/>
                    <a:lumOff val="40000"/>
                  </a:srgbClr>
                </a:solidFill>
                <a:effectLst/>
                <a:uLnTx/>
                <a:uFillTx/>
                <a:latin typeface="KingsBureauGrot FiveOne" panose="02000506040000020004" pitchFamily="2" charset="0"/>
              </a:rPr>
              <a:t> dependence on private cars</a:t>
            </a:r>
          </a:p>
          <a:p>
            <a:pPr marL="0" marR="0" lvl="0" indent="0" algn="l" defTabSz="242486" rtl="0" eaLnBrk="1" fontAlgn="auto" latinLnBrk="0" hangingPunct="1">
              <a:lnSpc>
                <a:spcPts val="2200"/>
              </a:lnSpc>
              <a:spcBef>
                <a:spcPts val="0"/>
              </a:spcBef>
              <a:spcAft>
                <a:spcPts val="0"/>
              </a:spcAft>
              <a:buClr>
                <a:srgbClr val="01A88F"/>
              </a:buClr>
              <a:buSzTx/>
              <a:buFont typeface="Arial"/>
              <a:buNone/>
              <a:tabLst/>
              <a:defRPr/>
            </a:pPr>
            <a:endParaRPr kumimoji="0" lang="en-GB" sz="2133" b="1" i="0" u="none" strike="noStrike" kern="1200" cap="none" spc="0" normalizeH="0" baseline="0" noProof="0" dirty="0">
              <a:ln>
                <a:noFill/>
              </a:ln>
              <a:solidFill>
                <a:srgbClr val="632382">
                  <a:lumMod val="60000"/>
                  <a:lumOff val="40000"/>
                </a:srgbClr>
              </a:solidFill>
              <a:effectLst/>
              <a:uLnTx/>
              <a:uFillTx/>
              <a:latin typeface="KingsBureauGrot FiveOne" panose="02000506040000020004" pitchFamily="2" charset="0"/>
            </a:endParaRPr>
          </a:p>
          <a:p>
            <a:pPr marL="0" marR="0" lvl="0" indent="0" algn="l" defTabSz="242486" rtl="0" eaLnBrk="1" fontAlgn="auto" latinLnBrk="0" hangingPunct="1">
              <a:lnSpc>
                <a:spcPts val="2200"/>
              </a:lnSpc>
              <a:spcBef>
                <a:spcPts val="0"/>
              </a:spcBef>
              <a:spcAft>
                <a:spcPts val="0"/>
              </a:spcAft>
              <a:buClr>
                <a:srgbClr val="01A88F"/>
              </a:buClr>
              <a:buSzTx/>
              <a:buFont typeface="Arial"/>
              <a:buNone/>
              <a:tabLst/>
              <a:defRPr/>
            </a:pPr>
            <a:r>
              <a:rPr kumimoji="0" lang="en-GB" sz="2133" b="1" i="0" u="none" strike="noStrike" kern="1200" cap="none" spc="0" normalizeH="0" baseline="0" noProof="0" dirty="0">
                <a:ln>
                  <a:noFill/>
                </a:ln>
                <a:solidFill>
                  <a:srgbClr val="632382">
                    <a:lumMod val="60000"/>
                    <a:lumOff val="40000"/>
                  </a:srgbClr>
                </a:solidFill>
                <a:effectLst/>
                <a:uLnTx/>
                <a:uFillTx/>
                <a:latin typeface="KingsBureauGrot FiveOne" panose="02000506040000020004" pitchFamily="2" charset="0"/>
                <a:sym typeface="Symbol" panose="05050102010706020507" pitchFamily="18" charset="2"/>
              </a:rPr>
              <a:t></a:t>
            </a:r>
            <a:r>
              <a:rPr kumimoji="0" lang="en-GB" sz="2133" b="1" i="0" u="none" strike="noStrike" kern="1200" cap="none" spc="0" normalizeH="0" baseline="0" noProof="0" dirty="0">
                <a:ln>
                  <a:noFill/>
                </a:ln>
                <a:solidFill>
                  <a:srgbClr val="632382">
                    <a:lumMod val="60000"/>
                    <a:lumOff val="40000"/>
                  </a:srgbClr>
                </a:solidFill>
                <a:effectLst/>
                <a:uLnTx/>
                <a:uFillTx/>
                <a:latin typeface="KingsBureauGrot FiveOne" panose="02000506040000020004" pitchFamily="2" charset="0"/>
              </a:rPr>
              <a:t> autonomy of travel</a:t>
            </a:r>
          </a:p>
          <a:p>
            <a:pPr marL="0" marR="0" lvl="0" indent="0" algn="l" defTabSz="242486" rtl="0" eaLnBrk="1" fontAlgn="auto" latinLnBrk="0" hangingPunct="1">
              <a:lnSpc>
                <a:spcPts val="2200"/>
              </a:lnSpc>
              <a:spcBef>
                <a:spcPts val="0"/>
              </a:spcBef>
              <a:spcAft>
                <a:spcPts val="0"/>
              </a:spcAft>
              <a:buClr>
                <a:srgbClr val="01A88F"/>
              </a:buClr>
              <a:buSzTx/>
              <a:buFont typeface="Arial"/>
              <a:buNone/>
              <a:tabLst/>
              <a:defRPr/>
            </a:pPr>
            <a:endParaRPr kumimoji="0" lang="en-GB" sz="2133" b="1" i="0" u="none" strike="noStrike" kern="1200" cap="none" spc="0" normalizeH="0" baseline="0" noProof="0" dirty="0">
              <a:ln>
                <a:noFill/>
              </a:ln>
              <a:solidFill>
                <a:srgbClr val="000000"/>
              </a:solidFill>
              <a:effectLst/>
              <a:uLnTx/>
              <a:uFillTx/>
              <a:latin typeface="KingsBureauGrot FiveOne" panose="02000506040000020004" pitchFamily="2" charset="0"/>
            </a:endParaRPr>
          </a:p>
          <a:p>
            <a:pPr marL="0" marR="0" lvl="0" indent="0" algn="l" defTabSz="242486" rtl="0" eaLnBrk="1" fontAlgn="auto" latinLnBrk="0" hangingPunct="1">
              <a:lnSpc>
                <a:spcPts val="2200"/>
              </a:lnSpc>
              <a:spcBef>
                <a:spcPts val="0"/>
              </a:spcBef>
              <a:spcAft>
                <a:spcPts val="0"/>
              </a:spcAft>
              <a:buClr>
                <a:srgbClr val="01A88F"/>
              </a:buClr>
              <a:buSzTx/>
              <a:buFont typeface="Arial"/>
              <a:buNone/>
              <a:tabLst/>
              <a:defRPr/>
            </a:pPr>
            <a:r>
              <a:rPr kumimoji="0" lang="en-GB" sz="2133" b="1" i="0" u="none" strike="noStrike" kern="1200" cap="none" spc="0" normalizeH="0" baseline="0" noProof="0" dirty="0">
                <a:ln>
                  <a:noFill/>
                </a:ln>
                <a:solidFill>
                  <a:srgbClr val="000000"/>
                </a:solidFill>
                <a:effectLst/>
                <a:uLnTx/>
                <a:uFillTx/>
                <a:latin typeface="KingsBureauGrot FiveOne" panose="02000506040000020004" pitchFamily="2" charset="0"/>
              </a:rPr>
              <a:t>Considers local constraints</a:t>
            </a:r>
          </a:p>
          <a:p>
            <a:pPr marL="387341" marR="0" lvl="1" indent="-380990" algn="l" defTabSz="242486" rtl="0" eaLnBrk="1" fontAlgn="auto" latinLnBrk="0" hangingPunct="1">
              <a:lnSpc>
                <a:spcPts val="2200"/>
              </a:lnSpc>
              <a:spcBef>
                <a:spcPts val="0"/>
              </a:spcBef>
              <a:spcAft>
                <a:spcPts val="0"/>
              </a:spcAft>
              <a:buClr>
                <a:srgbClr val="01A88F"/>
              </a:buClr>
              <a:buSzTx/>
              <a:buFont typeface="Arial" panose="020B0604020202020204" pitchFamily="34" charset="0"/>
              <a:buChar char="•"/>
              <a:tabLst/>
              <a:defRPr/>
            </a:pPr>
            <a:r>
              <a:rPr kumimoji="0" lang="en-GB" sz="2133" b="0" i="0" u="none" strike="noStrike" kern="1200" cap="none" spc="0" normalizeH="0" baseline="0" noProof="0" dirty="0">
                <a:ln>
                  <a:noFill/>
                </a:ln>
                <a:solidFill>
                  <a:srgbClr val="000000"/>
                </a:solidFill>
                <a:effectLst/>
                <a:uLnTx/>
                <a:uFillTx/>
                <a:latin typeface="KingsBureauGrot FiveOne" panose="02000506040000020004" pitchFamily="2" charset="0"/>
              </a:rPr>
              <a:t>Door-to-door journeys</a:t>
            </a:r>
          </a:p>
          <a:p>
            <a:pPr marL="387341" marR="0" lvl="1" indent="-380990" algn="l" defTabSz="242486" rtl="0" eaLnBrk="1" fontAlgn="auto" latinLnBrk="0" hangingPunct="1">
              <a:lnSpc>
                <a:spcPts val="2200"/>
              </a:lnSpc>
              <a:spcBef>
                <a:spcPts val="0"/>
              </a:spcBef>
              <a:spcAft>
                <a:spcPts val="0"/>
              </a:spcAft>
              <a:buClr>
                <a:srgbClr val="01A88F"/>
              </a:buClr>
              <a:buSzTx/>
              <a:buFont typeface="Arial" panose="020B0604020202020204" pitchFamily="34" charset="0"/>
              <a:buChar char="•"/>
              <a:tabLst/>
              <a:defRPr/>
            </a:pPr>
            <a:r>
              <a:rPr kumimoji="0" lang="en-GB" sz="2133" b="0" i="0" u="none" strike="noStrike" kern="1200" cap="none" spc="0" normalizeH="0" baseline="0" noProof="0" dirty="0">
                <a:ln>
                  <a:noFill/>
                </a:ln>
                <a:solidFill>
                  <a:srgbClr val="000000"/>
                </a:solidFill>
                <a:effectLst/>
                <a:uLnTx/>
                <a:uFillTx/>
                <a:latin typeface="KingsBureauGrot FiveOne" panose="02000506040000020004" pitchFamily="2" charset="0"/>
              </a:rPr>
              <a:t>Pickup, drop-off times</a:t>
            </a:r>
          </a:p>
          <a:p>
            <a:pPr marL="387341" marR="0" lvl="1" indent="-380990" algn="l" defTabSz="242486" rtl="0" eaLnBrk="1" fontAlgn="auto" latinLnBrk="0" hangingPunct="1">
              <a:lnSpc>
                <a:spcPts val="2200"/>
              </a:lnSpc>
              <a:spcBef>
                <a:spcPts val="0"/>
              </a:spcBef>
              <a:spcAft>
                <a:spcPts val="0"/>
              </a:spcAft>
              <a:buClr>
                <a:srgbClr val="01A88F"/>
              </a:buClr>
              <a:buSzTx/>
              <a:buFont typeface="Arial" panose="020B0604020202020204" pitchFamily="34" charset="0"/>
              <a:buChar char="•"/>
              <a:tabLst/>
              <a:defRPr/>
            </a:pPr>
            <a:r>
              <a:rPr kumimoji="0" lang="en-GB" sz="2133" b="0" i="0" u="none" strike="noStrike" kern="1200" cap="none" spc="0" normalizeH="0" baseline="0" noProof="0" dirty="0">
                <a:ln>
                  <a:noFill/>
                </a:ln>
                <a:solidFill>
                  <a:srgbClr val="000000"/>
                </a:solidFill>
                <a:effectLst/>
                <a:uLnTx/>
                <a:uFillTx/>
                <a:latin typeface="KingsBureauGrot FiveOne" panose="02000506040000020004" pitchFamily="2" charset="0"/>
              </a:rPr>
              <a:t>Journey length </a:t>
            </a:r>
          </a:p>
          <a:p>
            <a:pPr marL="0" marR="0" lvl="0" indent="0" algn="l" defTabSz="242486" rtl="0" eaLnBrk="1" fontAlgn="auto" latinLnBrk="0" hangingPunct="1">
              <a:lnSpc>
                <a:spcPts val="2200"/>
              </a:lnSpc>
              <a:spcBef>
                <a:spcPts val="0"/>
              </a:spcBef>
              <a:spcAft>
                <a:spcPts val="0"/>
              </a:spcAft>
              <a:buClr>
                <a:srgbClr val="01A88F"/>
              </a:buClr>
              <a:buSzTx/>
              <a:buFont typeface="Arial"/>
              <a:buNone/>
              <a:tabLst/>
              <a:defRPr/>
            </a:pPr>
            <a:endParaRPr kumimoji="0" lang="en-GB" sz="2133" b="1" i="0" u="none" strike="noStrike" kern="1200" cap="none" spc="0" normalizeH="0" baseline="0" noProof="0" dirty="0">
              <a:ln>
                <a:noFill/>
              </a:ln>
              <a:solidFill>
                <a:srgbClr val="000000"/>
              </a:solidFill>
              <a:effectLst/>
              <a:uLnTx/>
              <a:uFillTx/>
              <a:latin typeface="KingsBureauGrot FiveOne" panose="02000506040000020004" pitchFamily="2" charset="0"/>
            </a:endParaRPr>
          </a:p>
          <a:p>
            <a:pPr marL="0" marR="0" lvl="0" indent="0" algn="just" defTabSz="242486" rtl="0" eaLnBrk="1" fontAlgn="auto" latinLnBrk="0" hangingPunct="1">
              <a:lnSpc>
                <a:spcPts val="2200"/>
              </a:lnSpc>
              <a:spcBef>
                <a:spcPts val="0"/>
              </a:spcBef>
              <a:spcAft>
                <a:spcPts val="0"/>
              </a:spcAft>
              <a:buClr>
                <a:srgbClr val="01A88F"/>
              </a:buClr>
              <a:buSzTx/>
              <a:buFont typeface="Arial"/>
              <a:buNone/>
              <a:tabLst/>
              <a:defRPr/>
            </a:pPr>
            <a:r>
              <a:rPr kumimoji="0" lang="en-GB" sz="2133" b="0" i="0" u="none" strike="noStrike" kern="1200" cap="none" spc="0" normalizeH="0" baseline="0" noProof="0" dirty="0">
                <a:ln>
                  <a:noFill/>
                </a:ln>
                <a:solidFill>
                  <a:srgbClr val="000000"/>
                </a:solidFill>
                <a:effectLst/>
                <a:uLnTx/>
                <a:uFillTx/>
                <a:latin typeface="KingsBureauGrot FiveOne" panose="02000506040000020004" pitchFamily="2" charset="0"/>
              </a:rPr>
              <a:t>Bookings</a:t>
            </a:r>
          </a:p>
          <a:p>
            <a:pPr marL="380990" marR="0" lvl="0" indent="-380990" algn="just" defTabSz="242486" rtl="0" eaLnBrk="1" fontAlgn="auto" latinLnBrk="0" hangingPunct="1">
              <a:lnSpc>
                <a:spcPts val="2200"/>
              </a:lnSpc>
              <a:spcBef>
                <a:spcPts val="0"/>
              </a:spcBef>
              <a:spcAft>
                <a:spcPts val="0"/>
              </a:spcAft>
              <a:buClr>
                <a:srgbClr val="01A88F"/>
              </a:buClr>
              <a:buSzTx/>
              <a:buFont typeface="Arial" panose="020B0604020202020204" pitchFamily="34" charset="0"/>
              <a:buChar char="•"/>
              <a:tabLst/>
              <a:defRPr/>
            </a:pPr>
            <a:r>
              <a:rPr kumimoji="0" lang="en-GB" sz="2133" b="0" i="0" u="none" strike="noStrike" kern="1200" cap="none" spc="0" normalizeH="0" baseline="0" noProof="0" dirty="0">
                <a:ln>
                  <a:noFill/>
                </a:ln>
                <a:solidFill>
                  <a:srgbClr val="000000"/>
                </a:solidFill>
                <a:effectLst/>
                <a:uLnTx/>
                <a:uFillTx/>
                <a:latin typeface="KingsBureauGrot FiveOne" panose="02000506040000020004" pitchFamily="2" charset="0"/>
              </a:rPr>
              <a:t>real-time </a:t>
            </a:r>
          </a:p>
          <a:p>
            <a:pPr marL="380990" marR="0" lvl="0" indent="-380990" algn="just" defTabSz="242486" rtl="0" eaLnBrk="1" fontAlgn="auto" latinLnBrk="0" hangingPunct="1">
              <a:lnSpc>
                <a:spcPts val="2200"/>
              </a:lnSpc>
              <a:spcBef>
                <a:spcPts val="0"/>
              </a:spcBef>
              <a:spcAft>
                <a:spcPts val="0"/>
              </a:spcAft>
              <a:buClr>
                <a:srgbClr val="01A88F"/>
              </a:buClr>
              <a:buSzTx/>
              <a:buFont typeface="Arial" panose="020B0604020202020204" pitchFamily="34" charset="0"/>
              <a:buChar char="•"/>
              <a:tabLst/>
              <a:defRPr/>
            </a:pPr>
            <a:r>
              <a:rPr kumimoji="0" lang="en-GB" sz="2133" b="0" i="0" u="none" strike="noStrike" kern="1200" cap="none" spc="0" normalizeH="0" baseline="0" noProof="0" dirty="0">
                <a:ln>
                  <a:noFill/>
                </a:ln>
                <a:solidFill>
                  <a:srgbClr val="000000"/>
                </a:solidFill>
                <a:effectLst/>
                <a:uLnTx/>
                <a:uFillTx/>
                <a:latin typeface="KingsBureauGrot FiveOne" panose="02000506040000020004" pitchFamily="2" charset="0"/>
              </a:rPr>
              <a:t>multi-dates</a:t>
            </a:r>
          </a:p>
          <a:p>
            <a:pPr marL="380990" marR="0" lvl="0" indent="-380990" algn="just" defTabSz="242486" rtl="0" eaLnBrk="1" fontAlgn="auto" latinLnBrk="0" hangingPunct="1">
              <a:lnSpc>
                <a:spcPts val="2200"/>
              </a:lnSpc>
              <a:spcBef>
                <a:spcPts val="0"/>
              </a:spcBef>
              <a:spcAft>
                <a:spcPts val="0"/>
              </a:spcAft>
              <a:buClr>
                <a:srgbClr val="01A88F"/>
              </a:buClr>
              <a:buSzTx/>
              <a:buFont typeface="Arial" panose="020B0604020202020204" pitchFamily="34" charset="0"/>
              <a:buChar char="•"/>
              <a:tabLst/>
              <a:defRPr/>
            </a:pPr>
            <a:r>
              <a:rPr kumimoji="0" lang="en-GB" sz="2133" b="0" i="0" u="none" strike="noStrike" kern="1200" cap="none" spc="0" normalizeH="0" baseline="0" noProof="0" dirty="0">
                <a:ln>
                  <a:noFill/>
                </a:ln>
                <a:solidFill>
                  <a:srgbClr val="000000"/>
                </a:solidFill>
                <a:effectLst/>
                <a:uLnTx/>
                <a:uFillTx/>
                <a:latin typeface="KingsBureauGrot FiveOne" panose="02000506040000020004" pitchFamily="2" charset="0"/>
              </a:rPr>
              <a:t>recurrent</a:t>
            </a:r>
            <a:endParaRPr kumimoji="0" lang="en-GB" sz="2133" b="1" i="0" u="none" strike="noStrike" kern="1200" cap="none" spc="0" normalizeH="0" baseline="0" noProof="0" dirty="0">
              <a:ln>
                <a:noFill/>
              </a:ln>
              <a:solidFill>
                <a:srgbClr val="000000"/>
              </a:solidFill>
              <a:effectLst/>
              <a:uLnTx/>
              <a:uFillTx/>
              <a:latin typeface="KingsBureauGrot FiveOne" panose="02000506040000020004" pitchFamily="2" charset="0"/>
            </a:endParaRPr>
          </a:p>
          <a:p>
            <a:pPr marL="0" marR="0" lvl="0" indent="0" algn="l" defTabSz="242486" rtl="0" eaLnBrk="1" fontAlgn="auto" latinLnBrk="0" hangingPunct="1">
              <a:lnSpc>
                <a:spcPts val="2200"/>
              </a:lnSpc>
              <a:spcBef>
                <a:spcPts val="0"/>
              </a:spcBef>
              <a:spcAft>
                <a:spcPts val="0"/>
              </a:spcAft>
              <a:buClr>
                <a:srgbClr val="01A88F"/>
              </a:buClr>
              <a:buSzTx/>
              <a:buFont typeface="Arial"/>
              <a:buNone/>
              <a:tabLst/>
              <a:defRPr/>
            </a:pPr>
            <a:endParaRPr kumimoji="0" lang="en-GB" sz="1733" b="1" i="0" u="none" strike="noStrike" kern="1200" cap="none" spc="0" normalizeH="0" baseline="0" noProof="0" dirty="0">
              <a:ln>
                <a:noFill/>
              </a:ln>
              <a:solidFill>
                <a:srgbClr val="B3BD10"/>
              </a:solidFill>
              <a:effectLst/>
              <a:uLnTx/>
              <a:uFillTx/>
              <a:latin typeface="KingsBureauGrot ThreeSeven" charset="0"/>
            </a:endParaRPr>
          </a:p>
        </p:txBody>
      </p:sp>
      <p:sp>
        <p:nvSpPr>
          <p:cNvPr id="8" name="TextBox 7">
            <a:extLst>
              <a:ext uri="{FF2B5EF4-FFF2-40B4-BE49-F238E27FC236}">
                <a16:creationId xmlns:a16="http://schemas.microsoft.com/office/drawing/2014/main" id="{63B31F2D-C4EA-6E8C-B790-2475C1A6AEB5}"/>
              </a:ext>
            </a:extLst>
          </p:cNvPr>
          <p:cNvSpPr txBox="1"/>
          <p:nvPr/>
        </p:nvSpPr>
        <p:spPr>
          <a:xfrm>
            <a:off x="10160468" y="6642556"/>
            <a:ext cx="1980029" cy="215444"/>
          </a:xfrm>
          <a:prstGeom prst="rect">
            <a:avLst/>
          </a:prstGeom>
          <a:noFill/>
        </p:spPr>
        <p:txBody>
          <a:bodyPr wrap="none" rtlCol="0">
            <a:spAutoFit/>
          </a:bodyPr>
          <a:lstStyle/>
          <a:p>
            <a:r>
              <a:rPr lang="en-GB" sz="800" dirty="0">
                <a:solidFill>
                  <a:schemeClr val="bg2">
                    <a:lumMod val="50000"/>
                  </a:schemeClr>
                </a:solidFill>
              </a:rPr>
              <a:t>Currie et al. (2024): ADROIT Group meeting</a:t>
            </a:r>
          </a:p>
        </p:txBody>
      </p:sp>
      <p:sp>
        <p:nvSpPr>
          <p:cNvPr id="9" name="Date Placeholder 8">
            <a:extLst>
              <a:ext uri="{FF2B5EF4-FFF2-40B4-BE49-F238E27FC236}">
                <a16:creationId xmlns:a16="http://schemas.microsoft.com/office/drawing/2014/main" id="{5FBFA717-12BF-0921-F506-7EE114724B81}"/>
              </a:ext>
            </a:extLst>
          </p:cNvPr>
          <p:cNvSpPr>
            <a:spLocks noGrp="1"/>
          </p:cNvSpPr>
          <p:nvPr>
            <p:ph type="dt" sz="half" idx="10"/>
          </p:nvPr>
        </p:nvSpPr>
        <p:spPr/>
        <p:txBody>
          <a:bodyPr/>
          <a:lstStyle/>
          <a:p>
            <a:fld id="{D0C52F8A-D09E-4E26-B495-63A713545CA6}" type="datetime1">
              <a:rPr lang="en-US" smtClean="0"/>
              <a:t>4/12/2024</a:t>
            </a:fld>
            <a:endParaRPr lang="en-US"/>
          </a:p>
        </p:txBody>
      </p:sp>
      <p:sp>
        <p:nvSpPr>
          <p:cNvPr id="10" name="Slide Number Placeholder 9">
            <a:extLst>
              <a:ext uri="{FF2B5EF4-FFF2-40B4-BE49-F238E27FC236}">
                <a16:creationId xmlns:a16="http://schemas.microsoft.com/office/drawing/2014/main" id="{5184757D-42DD-4AE8-3ABB-7846CE7D47E3}"/>
              </a:ext>
            </a:extLst>
          </p:cNvPr>
          <p:cNvSpPr>
            <a:spLocks noGrp="1"/>
          </p:cNvSpPr>
          <p:nvPr>
            <p:ph type="sldNum" sz="quarter" idx="12"/>
          </p:nvPr>
        </p:nvSpPr>
        <p:spPr/>
        <p:txBody>
          <a:bodyPr/>
          <a:lstStyle/>
          <a:p>
            <a:fld id="{03E8056C-9350-3E4B-911C-FCF80EDBFE79}" type="slidenum">
              <a:rPr lang="en-US" smtClean="0"/>
              <a:t>4</a:t>
            </a:fld>
            <a:endParaRPr lang="en-US"/>
          </a:p>
        </p:txBody>
      </p:sp>
    </p:spTree>
    <p:extLst>
      <p:ext uri="{BB962C8B-B14F-4D97-AF65-F5344CB8AC3E}">
        <p14:creationId xmlns:p14="http://schemas.microsoft.com/office/powerpoint/2010/main" val="9125264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5" name="Title 4" hidden="1">
            <a:extLst>
              <a:ext uri="{FF2B5EF4-FFF2-40B4-BE49-F238E27FC236}">
                <a16:creationId xmlns:a16="http://schemas.microsoft.com/office/drawing/2014/main" id="{9C499387-EE9A-E34B-AA58-B200FAA1602B}"/>
              </a:ext>
            </a:extLst>
          </p:cNvPr>
          <p:cNvSpPr>
            <a:spLocks noGrp="1"/>
          </p:cNvSpPr>
          <p:nvPr>
            <p:ph type="ctrTitle"/>
          </p:nvPr>
        </p:nvSpPr>
        <p:spPr/>
        <p:txBody>
          <a:bodyPr/>
          <a:lstStyle/>
          <a:p>
            <a:r>
              <a:rPr lang="en-US" sz="4400" kern="1200" dirty="0">
                <a:solidFill>
                  <a:srgbClr val="000000"/>
                </a:solidFill>
                <a:effectLst/>
                <a:latin typeface="Calibri Light" panose="020F0302020204030204" pitchFamily="34" charset="0"/>
                <a:ea typeface="+mj-ea"/>
                <a:cs typeface="+mj-cs"/>
              </a:rPr>
              <a:t>Text hierarchy</a:t>
            </a:r>
            <a:r>
              <a:rPr lang="en-US" sz="4400" kern="1200" baseline="0" dirty="0">
                <a:solidFill>
                  <a:srgbClr val="000000"/>
                </a:solidFill>
                <a:effectLst/>
                <a:latin typeface="Calibri Light" panose="020F0302020204030204" pitchFamily="34" charset="0"/>
                <a:ea typeface="+mj-ea"/>
                <a:cs typeface="+mj-cs"/>
              </a:rPr>
              <a:t> and formatting with two images slide</a:t>
            </a:r>
            <a:r>
              <a:rPr lang="en-US" dirty="0"/>
              <a:t> </a:t>
            </a:r>
          </a:p>
        </p:txBody>
      </p:sp>
      <p:sp>
        <p:nvSpPr>
          <p:cNvPr id="6" name="Text Placeholder 1">
            <a:extLst>
              <a:ext uri="{FF2B5EF4-FFF2-40B4-BE49-F238E27FC236}">
                <a16:creationId xmlns:a16="http://schemas.microsoft.com/office/drawing/2014/main" id="{EC393349-B484-EF98-05B3-843909947586}"/>
              </a:ext>
            </a:extLst>
          </p:cNvPr>
          <p:cNvSpPr txBox="1">
            <a:spLocks/>
          </p:cNvSpPr>
          <p:nvPr/>
        </p:nvSpPr>
        <p:spPr>
          <a:xfrm>
            <a:off x="310696" y="1987755"/>
            <a:ext cx="9315085" cy="4314722"/>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spcBef>
                <a:spcPts val="600"/>
              </a:spcBef>
              <a:buFont typeface="Arial" panose="020B0604020202020204" pitchFamily="34" charset="0"/>
              <a:buChar char="•"/>
            </a:pPr>
            <a:r>
              <a:rPr lang="en-US" sz="1600" dirty="0">
                <a:solidFill>
                  <a:schemeClr val="tx1"/>
                </a:solidFill>
                <a:latin typeface="Arial" charset="0"/>
                <a:ea typeface="Arial" charset="0"/>
                <a:cs typeface="Arial" charset="0"/>
              </a:rPr>
              <a:t>Operational zones and times (availability)</a:t>
            </a:r>
          </a:p>
          <a:p>
            <a:pPr marL="285750" indent="-285750">
              <a:spcBef>
                <a:spcPts val="600"/>
              </a:spcBef>
              <a:buFont typeface="Arial" panose="020B0604020202020204" pitchFamily="34" charset="0"/>
              <a:buChar char="•"/>
            </a:pPr>
            <a:r>
              <a:rPr lang="en-US" sz="1600" dirty="0">
                <a:solidFill>
                  <a:schemeClr val="tx1"/>
                </a:solidFill>
                <a:latin typeface="Arial" charset="0"/>
                <a:ea typeface="Arial" charset="0"/>
                <a:cs typeface="Arial" charset="0"/>
              </a:rPr>
              <a:t>Type of service – Door to door vs corner to corner</a:t>
            </a:r>
          </a:p>
          <a:p>
            <a:pPr marL="742950" lvl="1" indent="-285750">
              <a:spcBef>
                <a:spcPts val="600"/>
              </a:spcBef>
              <a:buFont typeface="Arial" panose="020B0604020202020204" pitchFamily="34" charset="0"/>
              <a:buChar char="•"/>
            </a:pPr>
            <a:r>
              <a:rPr lang="en-US" sz="1600" dirty="0">
                <a:solidFill>
                  <a:schemeClr val="tx1"/>
                </a:solidFill>
                <a:latin typeface="Arial" charset="0"/>
                <a:ea typeface="Arial" charset="0"/>
                <a:cs typeface="Arial" charset="0"/>
              </a:rPr>
              <a:t>Access and egress</a:t>
            </a:r>
          </a:p>
          <a:p>
            <a:pPr marL="285750" indent="-285750">
              <a:spcBef>
                <a:spcPts val="600"/>
              </a:spcBef>
              <a:buFont typeface="Arial" panose="020B0604020202020204" pitchFamily="34" charset="0"/>
              <a:buChar char="•"/>
            </a:pPr>
            <a:r>
              <a:rPr lang="en-US" sz="1600" dirty="0">
                <a:solidFill>
                  <a:schemeClr val="tx1"/>
                </a:solidFill>
                <a:latin typeface="Arial" charset="0"/>
                <a:ea typeface="Arial" charset="0"/>
                <a:cs typeface="Arial" charset="0"/>
              </a:rPr>
              <a:t>Arrival and departure windows:</a:t>
            </a:r>
          </a:p>
          <a:p>
            <a:pPr marL="742950" lvl="1" indent="-285750">
              <a:spcBef>
                <a:spcPts val="600"/>
              </a:spcBef>
              <a:buFont typeface="Arial" panose="020B0604020202020204" pitchFamily="34" charset="0"/>
              <a:buChar char="•"/>
            </a:pPr>
            <a:r>
              <a:rPr lang="en-US" sz="1600" dirty="0">
                <a:latin typeface="Arial" charset="0"/>
                <a:ea typeface="Arial" charset="0"/>
                <a:cs typeface="Arial" charset="0"/>
              </a:rPr>
              <a:t>Width (duration) of windows</a:t>
            </a:r>
          </a:p>
          <a:p>
            <a:pPr marL="742950" lvl="1" indent="-285750">
              <a:spcBef>
                <a:spcPts val="600"/>
              </a:spcBef>
              <a:buFont typeface="Arial" panose="020B0604020202020204" pitchFamily="34" charset="0"/>
              <a:buChar char="•"/>
            </a:pPr>
            <a:r>
              <a:rPr lang="en-US" sz="1600" dirty="0">
                <a:solidFill>
                  <a:schemeClr val="tx1"/>
                </a:solidFill>
                <a:latin typeface="Arial" charset="0"/>
                <a:ea typeface="Arial" charset="0"/>
                <a:cs typeface="Arial" charset="0"/>
              </a:rPr>
              <a:t>Positioning of time windows (i.e., arrive before/depart by)</a:t>
            </a:r>
          </a:p>
          <a:p>
            <a:pPr marL="285750" indent="-285750">
              <a:spcBef>
                <a:spcPts val="600"/>
              </a:spcBef>
              <a:buFont typeface="Arial" panose="020B0604020202020204" pitchFamily="34" charset="0"/>
              <a:buChar char="•"/>
            </a:pPr>
            <a:r>
              <a:rPr lang="en-US" sz="1600" dirty="0">
                <a:solidFill>
                  <a:schemeClr val="tx1"/>
                </a:solidFill>
                <a:latin typeface="Arial" charset="0"/>
                <a:ea typeface="Arial" charset="0"/>
                <a:cs typeface="Arial" charset="0"/>
              </a:rPr>
              <a:t>Additional travel time (</a:t>
            </a:r>
            <a:r>
              <a:rPr lang="en-US" sz="1600" b="1" dirty="0">
                <a:solidFill>
                  <a:schemeClr val="tx1"/>
                </a:solidFill>
                <a:latin typeface="Arial" charset="0"/>
                <a:ea typeface="Arial" charset="0"/>
                <a:cs typeface="Arial" charset="0"/>
              </a:rPr>
              <a:t>detour</a:t>
            </a:r>
            <a:r>
              <a:rPr lang="en-US" sz="1600" dirty="0">
                <a:solidFill>
                  <a:schemeClr val="tx1"/>
                </a:solidFill>
                <a:latin typeface="Arial" charset="0"/>
                <a:ea typeface="Arial" charset="0"/>
                <a:cs typeface="Arial" charset="0"/>
              </a:rPr>
              <a:t> because of enroute pickups and drop-off)</a:t>
            </a:r>
          </a:p>
          <a:p>
            <a:pPr marL="742950" lvl="1" indent="-285750">
              <a:spcBef>
                <a:spcPts val="600"/>
              </a:spcBef>
              <a:buFont typeface="Arial" panose="020B0604020202020204" pitchFamily="34" charset="0"/>
              <a:buChar char="•"/>
            </a:pPr>
            <a:r>
              <a:rPr lang="en-US" sz="1600" dirty="0">
                <a:solidFill>
                  <a:schemeClr val="tx1"/>
                </a:solidFill>
                <a:latin typeface="Arial" charset="0"/>
                <a:ea typeface="Arial" charset="0"/>
                <a:cs typeface="Arial" charset="0"/>
              </a:rPr>
              <a:t>Number of co-passengers</a:t>
            </a:r>
          </a:p>
          <a:p>
            <a:pPr marL="742950" lvl="1" indent="-285750">
              <a:spcBef>
                <a:spcPts val="600"/>
              </a:spcBef>
              <a:buFont typeface="Arial" panose="020B0604020202020204" pitchFamily="34" charset="0"/>
              <a:buChar char="•"/>
            </a:pPr>
            <a:r>
              <a:rPr lang="en-US" sz="1600" dirty="0">
                <a:latin typeface="Arial" charset="0"/>
                <a:ea typeface="Arial" charset="0"/>
                <a:cs typeface="Arial" charset="0"/>
              </a:rPr>
              <a:t>Number of stops</a:t>
            </a:r>
          </a:p>
          <a:p>
            <a:pPr marL="285750" indent="-285750">
              <a:spcBef>
                <a:spcPts val="600"/>
              </a:spcBef>
              <a:buFont typeface="Arial" panose="020B0604020202020204" pitchFamily="34" charset="0"/>
              <a:buChar char="•"/>
            </a:pPr>
            <a:r>
              <a:rPr lang="en-US" sz="1600" dirty="0">
                <a:solidFill>
                  <a:schemeClr val="tx1"/>
                </a:solidFill>
                <a:latin typeface="Arial" charset="0"/>
                <a:ea typeface="Arial" charset="0"/>
                <a:cs typeface="Arial" charset="0"/>
              </a:rPr>
              <a:t>Pricing strategies (fixed vs dynamic)</a:t>
            </a:r>
          </a:p>
          <a:p>
            <a:pPr marL="171450" indent="-171450">
              <a:buFont typeface="Arial" panose="020B0604020202020204" pitchFamily="34" charset="0"/>
              <a:buChar char="•"/>
            </a:pPr>
            <a:r>
              <a:rPr lang="en-US" sz="1600" dirty="0">
                <a:solidFill>
                  <a:schemeClr val="tx1"/>
                </a:solidFill>
                <a:latin typeface="Arial" charset="0"/>
                <a:ea typeface="Arial" charset="0"/>
                <a:cs typeface="Arial" charset="0"/>
              </a:rPr>
              <a:t>Vehicle type – passenger car (</a:t>
            </a:r>
            <a:r>
              <a:rPr lang="en-US" sz="1600" b="1" dirty="0">
                <a:solidFill>
                  <a:schemeClr val="tx1"/>
                </a:solidFill>
                <a:latin typeface="Arial" charset="0"/>
                <a:ea typeface="Arial" charset="0"/>
                <a:cs typeface="Arial" charset="0"/>
              </a:rPr>
              <a:t>4-seater)</a:t>
            </a:r>
            <a:r>
              <a:rPr lang="en-US" sz="1600" dirty="0">
                <a:solidFill>
                  <a:schemeClr val="tx1"/>
                </a:solidFill>
                <a:latin typeface="Arial" charset="0"/>
                <a:ea typeface="Arial" charset="0"/>
                <a:cs typeface="Arial" charset="0"/>
              </a:rPr>
              <a:t> vs van (</a:t>
            </a:r>
            <a:r>
              <a:rPr lang="en-US" sz="1600" b="1" dirty="0">
                <a:solidFill>
                  <a:schemeClr val="tx1"/>
                </a:solidFill>
                <a:latin typeface="Arial" charset="0"/>
                <a:ea typeface="Arial" charset="0"/>
                <a:cs typeface="Arial" charset="0"/>
              </a:rPr>
              <a:t>4-9 seater) </a:t>
            </a:r>
            <a:r>
              <a:rPr lang="en-US" sz="1600" dirty="0">
                <a:solidFill>
                  <a:schemeClr val="tx1"/>
                </a:solidFill>
                <a:latin typeface="Arial" charset="0"/>
                <a:ea typeface="Arial" charset="0"/>
                <a:cs typeface="Arial" charset="0"/>
              </a:rPr>
              <a:t>vs mini-bus (</a:t>
            </a:r>
            <a:r>
              <a:rPr lang="en-US" sz="1600" b="1" dirty="0">
                <a:solidFill>
                  <a:schemeClr val="tx1"/>
                </a:solidFill>
                <a:latin typeface="Arial" charset="0"/>
                <a:ea typeface="Arial" charset="0"/>
                <a:cs typeface="Arial" charset="0"/>
              </a:rPr>
              <a:t>9-16 seater)</a:t>
            </a:r>
          </a:p>
          <a:p>
            <a:pPr marL="171450" indent="-171450">
              <a:buFont typeface="Arial" panose="020B0604020202020204" pitchFamily="34" charset="0"/>
              <a:buChar char="•"/>
            </a:pPr>
            <a:endParaRPr lang="en-US" sz="1600" dirty="0">
              <a:solidFill>
                <a:schemeClr val="tx1"/>
              </a:solidFill>
              <a:latin typeface="Arial" charset="0"/>
              <a:ea typeface="Arial" charset="0"/>
              <a:cs typeface="Arial" charset="0"/>
            </a:endParaRPr>
          </a:p>
          <a:p>
            <a:pPr marL="171450" indent="-171450">
              <a:buFont typeface="Arial" panose="020B0604020202020204" pitchFamily="34" charset="0"/>
              <a:buChar char="•"/>
            </a:pPr>
            <a:endParaRPr lang="en-US" sz="1600" b="1" dirty="0">
              <a:solidFill>
                <a:schemeClr val="tx1"/>
              </a:solidFill>
              <a:latin typeface="Arial" charset="0"/>
              <a:ea typeface="Arial" charset="0"/>
              <a:cs typeface="Arial" charset="0"/>
            </a:endParaRPr>
          </a:p>
        </p:txBody>
      </p:sp>
      <p:sp>
        <p:nvSpPr>
          <p:cNvPr id="10" name="Text Placeholder 2">
            <a:extLst>
              <a:ext uri="{FF2B5EF4-FFF2-40B4-BE49-F238E27FC236}">
                <a16:creationId xmlns:a16="http://schemas.microsoft.com/office/drawing/2014/main" id="{6A0DECB1-B7DD-DEB7-B37B-F268B59065B5}"/>
              </a:ext>
            </a:extLst>
          </p:cNvPr>
          <p:cNvSpPr txBox="1">
            <a:spLocks/>
          </p:cNvSpPr>
          <p:nvPr/>
        </p:nvSpPr>
        <p:spPr>
          <a:xfrm>
            <a:off x="236311" y="970989"/>
            <a:ext cx="5819775" cy="82800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spcBef>
                <a:spcPts val="600"/>
              </a:spcBef>
            </a:pPr>
            <a:r>
              <a:rPr lang="en-US" sz="2800" b="1" dirty="0">
                <a:solidFill>
                  <a:schemeClr val="tx1"/>
                </a:solidFill>
                <a:latin typeface="Times New Roman" panose="02020603050405020304" pitchFamily="18" charset="0"/>
                <a:ea typeface="Arial" charset="0"/>
                <a:cs typeface="Times New Roman" panose="02020603050405020304" pitchFamily="18" charset="0"/>
              </a:rPr>
              <a:t>Service attributes of DRT</a:t>
            </a:r>
          </a:p>
        </p:txBody>
      </p:sp>
      <p:sp>
        <p:nvSpPr>
          <p:cNvPr id="2" name="Date Placeholder 1">
            <a:extLst>
              <a:ext uri="{FF2B5EF4-FFF2-40B4-BE49-F238E27FC236}">
                <a16:creationId xmlns:a16="http://schemas.microsoft.com/office/drawing/2014/main" id="{536E05D6-5732-5B3A-8A19-E0B200FB1A32}"/>
              </a:ext>
            </a:extLst>
          </p:cNvPr>
          <p:cNvSpPr>
            <a:spLocks noGrp="1"/>
          </p:cNvSpPr>
          <p:nvPr>
            <p:ph type="dt" sz="half" idx="10"/>
          </p:nvPr>
        </p:nvSpPr>
        <p:spPr/>
        <p:txBody>
          <a:bodyPr/>
          <a:lstStyle/>
          <a:p>
            <a:fld id="{44AEFC0E-E4BA-490E-968D-655A4E0EF2DF}" type="datetime1">
              <a:rPr lang="en-US" smtClean="0"/>
              <a:t>4/12/2024</a:t>
            </a:fld>
            <a:endParaRPr lang="en-US"/>
          </a:p>
        </p:txBody>
      </p:sp>
      <p:sp>
        <p:nvSpPr>
          <p:cNvPr id="7" name="Slide Number Placeholder 6">
            <a:extLst>
              <a:ext uri="{FF2B5EF4-FFF2-40B4-BE49-F238E27FC236}">
                <a16:creationId xmlns:a16="http://schemas.microsoft.com/office/drawing/2014/main" id="{FED346AE-DB3C-4AB7-68AE-103F2BC82D17}"/>
              </a:ext>
            </a:extLst>
          </p:cNvPr>
          <p:cNvSpPr>
            <a:spLocks noGrp="1"/>
          </p:cNvSpPr>
          <p:nvPr>
            <p:ph type="sldNum" sz="quarter" idx="12"/>
          </p:nvPr>
        </p:nvSpPr>
        <p:spPr/>
        <p:txBody>
          <a:bodyPr/>
          <a:lstStyle/>
          <a:p>
            <a:fld id="{03E8056C-9350-3E4B-911C-FCF80EDBFE79}" type="slidenum">
              <a:rPr lang="en-US" smtClean="0"/>
              <a:t>5</a:t>
            </a:fld>
            <a:endParaRPr lang="en-US"/>
          </a:p>
        </p:txBody>
      </p:sp>
    </p:spTree>
    <p:extLst>
      <p:ext uri="{BB962C8B-B14F-4D97-AF65-F5344CB8AC3E}">
        <p14:creationId xmlns:p14="http://schemas.microsoft.com/office/powerpoint/2010/main" val="16518429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3" name="Title 2" hidden="1">
            <a:extLst>
              <a:ext uri="{FF2B5EF4-FFF2-40B4-BE49-F238E27FC236}">
                <a16:creationId xmlns:a16="http://schemas.microsoft.com/office/drawing/2014/main" id="{516C9AB1-01F0-C145-A5B8-F8EE375D37F1}"/>
              </a:ext>
            </a:extLst>
          </p:cNvPr>
          <p:cNvSpPr>
            <a:spLocks noGrp="1"/>
          </p:cNvSpPr>
          <p:nvPr>
            <p:ph type="title"/>
          </p:nvPr>
        </p:nvSpPr>
        <p:spPr/>
        <p:txBody>
          <a:bodyPr/>
          <a:lstStyle/>
          <a:p>
            <a:r>
              <a:rPr lang="en-US" dirty="0"/>
              <a:t>Text hierarchy</a:t>
            </a:r>
            <a:r>
              <a:rPr lang="en-US" baseline="0" dirty="0"/>
              <a:t> and formatting with an image slide</a:t>
            </a:r>
            <a:endParaRPr lang="en-US" dirty="0"/>
          </a:p>
        </p:txBody>
      </p:sp>
      <p:sp>
        <p:nvSpPr>
          <p:cNvPr id="5" name="Text Placeholder 2">
            <a:extLst>
              <a:ext uri="{FF2B5EF4-FFF2-40B4-BE49-F238E27FC236}">
                <a16:creationId xmlns:a16="http://schemas.microsoft.com/office/drawing/2014/main" id="{4AD593B8-98C5-CFDF-C549-A454D2639F5B}"/>
              </a:ext>
            </a:extLst>
          </p:cNvPr>
          <p:cNvSpPr txBox="1">
            <a:spLocks/>
          </p:cNvSpPr>
          <p:nvPr/>
        </p:nvSpPr>
        <p:spPr>
          <a:xfrm>
            <a:off x="236311" y="970989"/>
            <a:ext cx="5819775" cy="82800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2800" b="1" dirty="0">
                <a:solidFill>
                  <a:schemeClr val="tx1"/>
                </a:solidFill>
                <a:latin typeface="Arial" charset="0"/>
                <a:ea typeface="Arial" charset="0"/>
                <a:cs typeface="Arial" charset="0"/>
              </a:rPr>
              <a:t>Broad level framework</a:t>
            </a:r>
          </a:p>
        </p:txBody>
      </p:sp>
      <p:sp>
        <p:nvSpPr>
          <p:cNvPr id="8" name="TextBox 7">
            <a:extLst>
              <a:ext uri="{FF2B5EF4-FFF2-40B4-BE49-F238E27FC236}">
                <a16:creationId xmlns:a16="http://schemas.microsoft.com/office/drawing/2014/main" id="{3463D68E-D9C9-F7DC-62A3-74CC5E4A041F}"/>
              </a:ext>
            </a:extLst>
          </p:cNvPr>
          <p:cNvSpPr txBox="1"/>
          <p:nvPr/>
        </p:nvSpPr>
        <p:spPr>
          <a:xfrm>
            <a:off x="1042204" y="4741297"/>
            <a:ext cx="2261419" cy="1661993"/>
          </a:xfrm>
          <a:prstGeom prst="rect">
            <a:avLst/>
          </a:prstGeom>
          <a:ln w="38100"/>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GB" b="1" dirty="0"/>
              <a:t>User’s input</a:t>
            </a:r>
          </a:p>
          <a:p>
            <a:pPr marL="285750" indent="-285750">
              <a:buFont typeface="Arial" panose="020B0604020202020204" pitchFamily="34" charset="0"/>
              <a:buChar char="•"/>
            </a:pPr>
            <a:r>
              <a:rPr lang="en-GB" sz="1400" dirty="0"/>
              <a:t>Origin and destination</a:t>
            </a:r>
          </a:p>
          <a:p>
            <a:pPr marL="285750" indent="-285750">
              <a:buFont typeface="Arial" panose="020B0604020202020204" pitchFamily="34" charset="0"/>
              <a:buChar char="•"/>
            </a:pPr>
            <a:r>
              <a:rPr lang="en-GB" sz="1400" u="sng" dirty="0"/>
              <a:t>Hard/soft constraints</a:t>
            </a:r>
          </a:p>
          <a:p>
            <a:pPr marL="742950" lvl="1" indent="-285750">
              <a:buFont typeface="Arial" panose="020B0604020202020204" pitchFamily="34" charset="0"/>
              <a:buChar char="•"/>
            </a:pPr>
            <a:r>
              <a:rPr lang="en-GB" sz="1400" dirty="0"/>
              <a:t>Departure time window</a:t>
            </a:r>
          </a:p>
          <a:p>
            <a:pPr marL="742950" lvl="1" indent="-285750">
              <a:buFont typeface="Arial" panose="020B0604020202020204" pitchFamily="34" charset="0"/>
              <a:buChar char="•"/>
            </a:pPr>
            <a:r>
              <a:rPr lang="en-GB" sz="1400" dirty="0"/>
              <a:t>Arrival time window</a:t>
            </a:r>
          </a:p>
        </p:txBody>
      </p:sp>
      <p:sp>
        <p:nvSpPr>
          <p:cNvPr id="11" name="TextBox 10">
            <a:extLst>
              <a:ext uri="{FF2B5EF4-FFF2-40B4-BE49-F238E27FC236}">
                <a16:creationId xmlns:a16="http://schemas.microsoft.com/office/drawing/2014/main" id="{5736CC6D-76C9-FE67-7E2D-0A9CC45E47AA}"/>
              </a:ext>
            </a:extLst>
          </p:cNvPr>
          <p:cNvSpPr txBox="1"/>
          <p:nvPr/>
        </p:nvSpPr>
        <p:spPr>
          <a:xfrm>
            <a:off x="7384038" y="4680155"/>
            <a:ext cx="2261419" cy="646331"/>
          </a:xfrm>
          <a:prstGeom prst="rect">
            <a:avLst/>
          </a:prstGeom>
          <a:ln w="38100"/>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GB" b="1" dirty="0"/>
              <a:t>Potential itineraries</a:t>
            </a:r>
          </a:p>
          <a:p>
            <a:pPr algn="ctr"/>
            <a:endParaRPr lang="en-GB" b="1" dirty="0"/>
          </a:p>
        </p:txBody>
      </p:sp>
      <p:graphicFrame>
        <p:nvGraphicFramePr>
          <p:cNvPr id="13" name="Table 13">
            <a:extLst>
              <a:ext uri="{FF2B5EF4-FFF2-40B4-BE49-F238E27FC236}">
                <a16:creationId xmlns:a16="http://schemas.microsoft.com/office/drawing/2014/main" id="{5E92D60B-4951-5DE9-70BB-6E06EC2DF9F1}"/>
              </a:ext>
            </a:extLst>
          </p:cNvPr>
          <p:cNvGraphicFramePr>
            <a:graphicFrameLocks noGrp="1"/>
          </p:cNvGraphicFramePr>
          <p:nvPr>
            <p:extLst>
              <p:ext uri="{D42A27DB-BD31-4B8C-83A1-F6EECF244321}">
                <p14:modId xmlns:p14="http://schemas.microsoft.com/office/powerpoint/2010/main" val="3968329180"/>
              </p:ext>
            </p:extLst>
          </p:nvPr>
        </p:nvGraphicFramePr>
        <p:xfrm>
          <a:off x="7038269" y="4967887"/>
          <a:ext cx="2952956" cy="1371600"/>
        </p:xfrm>
        <a:graphic>
          <a:graphicData uri="http://schemas.openxmlformats.org/drawingml/2006/table">
            <a:tbl>
              <a:tblPr firstRow="1" bandRow="1">
                <a:tableStyleId>{21E4AEA4-8DFA-4A89-87EB-49C32662AFE0}</a:tableStyleId>
              </a:tblPr>
              <a:tblGrid>
                <a:gridCol w="738239">
                  <a:extLst>
                    <a:ext uri="{9D8B030D-6E8A-4147-A177-3AD203B41FA5}">
                      <a16:colId xmlns:a16="http://schemas.microsoft.com/office/drawing/2014/main" val="2176967365"/>
                    </a:ext>
                  </a:extLst>
                </a:gridCol>
                <a:gridCol w="738239">
                  <a:extLst>
                    <a:ext uri="{9D8B030D-6E8A-4147-A177-3AD203B41FA5}">
                      <a16:colId xmlns:a16="http://schemas.microsoft.com/office/drawing/2014/main" val="2813102549"/>
                    </a:ext>
                  </a:extLst>
                </a:gridCol>
                <a:gridCol w="738239">
                  <a:extLst>
                    <a:ext uri="{9D8B030D-6E8A-4147-A177-3AD203B41FA5}">
                      <a16:colId xmlns:a16="http://schemas.microsoft.com/office/drawing/2014/main" val="3096883169"/>
                    </a:ext>
                  </a:extLst>
                </a:gridCol>
                <a:gridCol w="738239">
                  <a:extLst>
                    <a:ext uri="{9D8B030D-6E8A-4147-A177-3AD203B41FA5}">
                      <a16:colId xmlns:a16="http://schemas.microsoft.com/office/drawing/2014/main" val="2002544951"/>
                    </a:ext>
                  </a:extLst>
                </a:gridCol>
              </a:tblGrid>
              <a:tr h="448369">
                <a:tc>
                  <a:txBody>
                    <a:bodyPr/>
                    <a:lstStyle/>
                    <a:p>
                      <a:r>
                        <a:rPr lang="en-GB" sz="1200" dirty="0"/>
                        <a:t>Pick up time</a:t>
                      </a:r>
                    </a:p>
                  </a:txBody>
                  <a:tcPr/>
                </a:tc>
                <a:tc>
                  <a:txBody>
                    <a:bodyPr/>
                    <a:lstStyle/>
                    <a:p>
                      <a:r>
                        <a:rPr lang="en-GB" sz="1200" dirty="0"/>
                        <a:t>Drop off time</a:t>
                      </a:r>
                    </a:p>
                  </a:txBody>
                  <a:tcPr/>
                </a:tc>
                <a:tc>
                  <a:txBody>
                    <a:bodyPr/>
                    <a:lstStyle/>
                    <a:p>
                      <a:r>
                        <a:rPr lang="en-GB" sz="1200" dirty="0"/>
                        <a:t>Journey duration</a:t>
                      </a:r>
                    </a:p>
                  </a:txBody>
                  <a:tcPr/>
                </a:tc>
                <a:tc>
                  <a:txBody>
                    <a:bodyPr/>
                    <a:lstStyle/>
                    <a:p>
                      <a:r>
                        <a:rPr lang="en-GB" sz="1200" dirty="0"/>
                        <a:t>Price</a:t>
                      </a:r>
                    </a:p>
                  </a:txBody>
                  <a:tcPr/>
                </a:tc>
                <a:extLst>
                  <a:ext uri="{0D108BD9-81ED-4DB2-BD59-A6C34878D82A}">
                    <a16:rowId xmlns:a16="http://schemas.microsoft.com/office/drawing/2014/main" val="2075857861"/>
                  </a:ext>
                </a:extLst>
              </a:tr>
              <a:tr h="448369">
                <a:tc>
                  <a:txBody>
                    <a:bodyPr/>
                    <a:lstStyle/>
                    <a:p>
                      <a:r>
                        <a:rPr lang="en-GB" sz="1200" dirty="0"/>
                        <a:t>8-8:15 AM</a:t>
                      </a:r>
                    </a:p>
                  </a:txBody>
                  <a:tcPr/>
                </a:tc>
                <a:tc>
                  <a:txBody>
                    <a:bodyPr/>
                    <a:lstStyle/>
                    <a:p>
                      <a:r>
                        <a:rPr lang="en-GB" sz="1200" dirty="0"/>
                        <a:t>8:30-8:45 AM</a:t>
                      </a:r>
                    </a:p>
                  </a:txBody>
                  <a:tcPr/>
                </a:tc>
                <a:tc>
                  <a:txBody>
                    <a:bodyPr/>
                    <a:lstStyle/>
                    <a:p>
                      <a:r>
                        <a:rPr lang="en-GB" sz="1200" dirty="0"/>
                        <a:t>30 min</a:t>
                      </a:r>
                    </a:p>
                  </a:txBody>
                  <a:tcPr/>
                </a:tc>
                <a:tc>
                  <a:txBody>
                    <a:bodyPr/>
                    <a:lstStyle/>
                    <a:p>
                      <a:r>
                        <a:rPr lang="en-GB" sz="1200" dirty="0"/>
                        <a:t>£5</a:t>
                      </a:r>
                    </a:p>
                  </a:txBody>
                  <a:tcPr/>
                </a:tc>
                <a:extLst>
                  <a:ext uri="{0D108BD9-81ED-4DB2-BD59-A6C34878D82A}">
                    <a16:rowId xmlns:a16="http://schemas.microsoft.com/office/drawing/2014/main" val="1305576701"/>
                  </a:ext>
                </a:extLst>
              </a:tr>
              <a:tr h="448369">
                <a:tc>
                  <a:txBody>
                    <a:bodyPr/>
                    <a:lstStyle/>
                    <a:p>
                      <a:r>
                        <a:rPr lang="en-GB" sz="1200" dirty="0"/>
                        <a:t>7:45-8 AM</a:t>
                      </a:r>
                    </a:p>
                  </a:txBody>
                  <a:tcPr/>
                </a:tc>
                <a:tc>
                  <a:txBody>
                    <a:bodyPr/>
                    <a:lstStyle/>
                    <a:p>
                      <a:r>
                        <a:rPr lang="en-GB" sz="1200" dirty="0"/>
                        <a:t>8:20 – 8:35 AM</a:t>
                      </a:r>
                    </a:p>
                  </a:txBody>
                  <a:tcPr/>
                </a:tc>
                <a:tc>
                  <a:txBody>
                    <a:bodyPr/>
                    <a:lstStyle/>
                    <a:p>
                      <a:r>
                        <a:rPr lang="en-GB" sz="1200" dirty="0"/>
                        <a:t>35 min</a:t>
                      </a:r>
                    </a:p>
                  </a:txBody>
                  <a:tcPr/>
                </a:tc>
                <a:tc>
                  <a:txBody>
                    <a:bodyPr/>
                    <a:lstStyle/>
                    <a:p>
                      <a:r>
                        <a:rPr lang="en-GB" sz="1200" dirty="0"/>
                        <a:t>£3.50</a:t>
                      </a:r>
                    </a:p>
                  </a:txBody>
                  <a:tcPr/>
                </a:tc>
                <a:extLst>
                  <a:ext uri="{0D108BD9-81ED-4DB2-BD59-A6C34878D82A}">
                    <a16:rowId xmlns:a16="http://schemas.microsoft.com/office/drawing/2014/main" val="306914584"/>
                  </a:ext>
                </a:extLst>
              </a:tr>
            </a:tbl>
          </a:graphicData>
        </a:graphic>
      </p:graphicFrame>
      <p:grpSp>
        <p:nvGrpSpPr>
          <p:cNvPr id="35" name="Group 34">
            <a:extLst>
              <a:ext uri="{FF2B5EF4-FFF2-40B4-BE49-F238E27FC236}">
                <a16:creationId xmlns:a16="http://schemas.microsoft.com/office/drawing/2014/main" id="{73713835-A941-46DB-0D4A-0E4A3FB2D8C8}"/>
              </a:ext>
            </a:extLst>
          </p:cNvPr>
          <p:cNvGrpSpPr/>
          <p:nvPr/>
        </p:nvGrpSpPr>
        <p:grpSpPr>
          <a:xfrm>
            <a:off x="2428568" y="2076889"/>
            <a:ext cx="6105833" cy="2111653"/>
            <a:chOff x="2949677" y="2449576"/>
            <a:chExt cx="6105833" cy="2271053"/>
          </a:xfrm>
        </p:grpSpPr>
        <p:sp>
          <p:nvSpPr>
            <p:cNvPr id="14" name="TextBox 13">
              <a:extLst>
                <a:ext uri="{FF2B5EF4-FFF2-40B4-BE49-F238E27FC236}">
                  <a16:creationId xmlns:a16="http://schemas.microsoft.com/office/drawing/2014/main" id="{115219B9-4EB3-F041-40BF-2926EA4C2310}"/>
                </a:ext>
              </a:extLst>
            </p:cNvPr>
            <p:cNvSpPr txBox="1"/>
            <p:nvPr/>
          </p:nvSpPr>
          <p:spPr>
            <a:xfrm>
              <a:off x="3059455" y="3304091"/>
              <a:ext cx="2789459" cy="923330"/>
            </a:xfrm>
            <a:prstGeom prst="rect">
              <a:avLst/>
            </a:prstGeom>
            <a:ln w="38100"/>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GB" dirty="0"/>
                <a:t>Supply model</a:t>
              </a:r>
            </a:p>
            <a:p>
              <a:pPr algn="ctr"/>
              <a:r>
                <a:rPr lang="en-GB" dirty="0"/>
                <a:t>(routing and scheduling model)</a:t>
              </a:r>
            </a:p>
          </p:txBody>
        </p:sp>
        <p:cxnSp>
          <p:nvCxnSpPr>
            <p:cNvPr id="16" name="Straight Arrow Connector 15">
              <a:extLst>
                <a:ext uri="{FF2B5EF4-FFF2-40B4-BE49-F238E27FC236}">
                  <a16:creationId xmlns:a16="http://schemas.microsoft.com/office/drawing/2014/main" id="{898F8FC2-C9FE-A015-0CCC-F2ED357D0FA3}"/>
                </a:ext>
              </a:extLst>
            </p:cNvPr>
            <p:cNvCxnSpPr>
              <a:cxnSpLocks/>
            </p:cNvCxnSpPr>
            <p:nvPr/>
          </p:nvCxnSpPr>
          <p:spPr>
            <a:xfrm flipV="1">
              <a:off x="7777334" y="2824457"/>
              <a:ext cx="0" cy="646331"/>
            </a:xfrm>
            <a:prstGeom prst="straightConnector1">
              <a:avLst/>
            </a:prstGeom>
            <a:ln>
              <a:prstDash val="dash"/>
              <a:tailEnd type="triangle"/>
            </a:ln>
          </p:spPr>
          <p:style>
            <a:lnRef idx="3">
              <a:schemeClr val="accent1"/>
            </a:lnRef>
            <a:fillRef idx="0">
              <a:schemeClr val="accent1"/>
            </a:fillRef>
            <a:effectRef idx="2">
              <a:schemeClr val="accent1"/>
            </a:effectRef>
            <a:fontRef idx="minor">
              <a:schemeClr val="tx1"/>
            </a:fontRef>
          </p:style>
        </p:cxnSp>
        <p:sp>
          <p:nvSpPr>
            <p:cNvPr id="19" name="TextBox 18">
              <a:extLst>
                <a:ext uri="{FF2B5EF4-FFF2-40B4-BE49-F238E27FC236}">
                  <a16:creationId xmlns:a16="http://schemas.microsoft.com/office/drawing/2014/main" id="{2D2C3125-5B2D-AFC0-F637-2FE16141C616}"/>
                </a:ext>
              </a:extLst>
            </p:cNvPr>
            <p:cNvSpPr txBox="1"/>
            <p:nvPr/>
          </p:nvSpPr>
          <p:spPr>
            <a:xfrm>
              <a:off x="6130978" y="3470788"/>
              <a:ext cx="2711314" cy="646331"/>
            </a:xfrm>
            <a:prstGeom prst="rect">
              <a:avLst/>
            </a:prstGeom>
            <a:ln w="38100"/>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GB" dirty="0"/>
                <a:t>Demand model</a:t>
              </a:r>
            </a:p>
            <a:p>
              <a:pPr algn="ctr"/>
              <a:r>
                <a:rPr lang="en-GB" dirty="0"/>
                <a:t>(mode choice model)</a:t>
              </a:r>
            </a:p>
          </p:txBody>
        </p:sp>
        <p:sp>
          <p:nvSpPr>
            <p:cNvPr id="22" name="TextBox 21">
              <a:extLst>
                <a:ext uri="{FF2B5EF4-FFF2-40B4-BE49-F238E27FC236}">
                  <a16:creationId xmlns:a16="http://schemas.microsoft.com/office/drawing/2014/main" id="{22C5AD15-BB14-5ADC-0F02-3583FEF1675A}"/>
                </a:ext>
              </a:extLst>
            </p:cNvPr>
            <p:cNvSpPr txBox="1"/>
            <p:nvPr/>
          </p:nvSpPr>
          <p:spPr>
            <a:xfrm>
              <a:off x="4798141" y="2582846"/>
              <a:ext cx="2582231" cy="562716"/>
            </a:xfrm>
            <a:prstGeom prst="rect">
              <a:avLst/>
            </a:prstGeom>
            <a:ln w="38100"/>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GB" sz="1400" dirty="0"/>
                <a:t>Probability of choosing a specific configuration of DRT</a:t>
              </a:r>
            </a:p>
          </p:txBody>
        </p:sp>
        <p:cxnSp>
          <p:nvCxnSpPr>
            <p:cNvPr id="26" name="Straight Arrow Connector 25">
              <a:extLst>
                <a:ext uri="{FF2B5EF4-FFF2-40B4-BE49-F238E27FC236}">
                  <a16:creationId xmlns:a16="http://schemas.microsoft.com/office/drawing/2014/main" id="{3774B487-EBBD-7557-165C-59609523D7A2}"/>
                </a:ext>
              </a:extLst>
            </p:cNvPr>
            <p:cNvCxnSpPr>
              <a:cxnSpLocks/>
              <a:endCxn id="22" idx="3"/>
            </p:cNvCxnSpPr>
            <p:nvPr/>
          </p:nvCxnSpPr>
          <p:spPr>
            <a:xfrm flipH="1">
              <a:off x="7380372" y="2859287"/>
              <a:ext cx="396962" cy="4917"/>
            </a:xfrm>
            <a:prstGeom prst="straightConnector1">
              <a:avLst/>
            </a:prstGeom>
            <a:ln>
              <a:prstDash val="dash"/>
              <a:tailEnd type="triangle"/>
            </a:ln>
          </p:spPr>
          <p:style>
            <a:lnRef idx="3">
              <a:schemeClr val="accent1"/>
            </a:lnRef>
            <a:fillRef idx="0">
              <a:schemeClr val="accent1"/>
            </a:fillRef>
            <a:effectRef idx="2">
              <a:schemeClr val="accent1"/>
            </a:effectRef>
            <a:fontRef idx="minor">
              <a:schemeClr val="tx1"/>
            </a:fontRef>
          </p:style>
        </p:cxnSp>
        <p:cxnSp>
          <p:nvCxnSpPr>
            <p:cNvPr id="29" name="Straight Arrow Connector 28">
              <a:extLst>
                <a:ext uri="{FF2B5EF4-FFF2-40B4-BE49-F238E27FC236}">
                  <a16:creationId xmlns:a16="http://schemas.microsoft.com/office/drawing/2014/main" id="{2B555AD7-79B8-6BCF-F4D7-E8FDB1C05BC4}"/>
                </a:ext>
              </a:extLst>
            </p:cNvPr>
            <p:cNvCxnSpPr>
              <a:cxnSpLocks/>
            </p:cNvCxnSpPr>
            <p:nvPr/>
          </p:nvCxnSpPr>
          <p:spPr>
            <a:xfrm flipH="1" flipV="1">
              <a:off x="4401292" y="2865458"/>
              <a:ext cx="360000" cy="4917"/>
            </a:xfrm>
            <a:prstGeom prst="straightConnector1">
              <a:avLst/>
            </a:prstGeom>
            <a:ln>
              <a:prstDash val="dash"/>
              <a:tailEnd type="triangle"/>
            </a:ln>
          </p:spPr>
          <p:style>
            <a:lnRef idx="3">
              <a:schemeClr val="accent1"/>
            </a:lnRef>
            <a:fillRef idx="0">
              <a:schemeClr val="accent1"/>
            </a:fillRef>
            <a:effectRef idx="2">
              <a:schemeClr val="accent1"/>
            </a:effectRef>
            <a:fontRef idx="minor">
              <a:schemeClr val="tx1"/>
            </a:fontRef>
          </p:style>
        </p:cxnSp>
        <p:cxnSp>
          <p:nvCxnSpPr>
            <p:cNvPr id="30" name="Straight Arrow Connector 29">
              <a:extLst>
                <a:ext uri="{FF2B5EF4-FFF2-40B4-BE49-F238E27FC236}">
                  <a16:creationId xmlns:a16="http://schemas.microsoft.com/office/drawing/2014/main" id="{1EB027D0-9AE0-BAB8-2408-B6A601551764}"/>
                </a:ext>
              </a:extLst>
            </p:cNvPr>
            <p:cNvCxnSpPr>
              <a:cxnSpLocks/>
            </p:cNvCxnSpPr>
            <p:nvPr/>
          </p:nvCxnSpPr>
          <p:spPr>
            <a:xfrm flipH="1">
              <a:off x="4401292" y="2870375"/>
              <a:ext cx="4934" cy="433716"/>
            </a:xfrm>
            <a:prstGeom prst="straightConnector1">
              <a:avLst/>
            </a:prstGeom>
            <a:ln>
              <a:prstDash val="dash"/>
              <a:tailEnd type="triangle"/>
            </a:ln>
          </p:spPr>
          <p:style>
            <a:lnRef idx="3">
              <a:schemeClr val="accent1"/>
            </a:lnRef>
            <a:fillRef idx="0">
              <a:schemeClr val="accent1"/>
            </a:fillRef>
            <a:effectRef idx="2">
              <a:schemeClr val="accent1"/>
            </a:effectRef>
            <a:fontRef idx="minor">
              <a:schemeClr val="tx1"/>
            </a:fontRef>
          </p:style>
        </p:cxnSp>
        <p:sp>
          <p:nvSpPr>
            <p:cNvPr id="34" name="Rectangle 33">
              <a:extLst>
                <a:ext uri="{FF2B5EF4-FFF2-40B4-BE49-F238E27FC236}">
                  <a16:creationId xmlns:a16="http://schemas.microsoft.com/office/drawing/2014/main" id="{CEDD9D8E-FE98-DD5E-EB1E-98153B7B3DFD}"/>
                </a:ext>
              </a:extLst>
            </p:cNvPr>
            <p:cNvSpPr/>
            <p:nvPr/>
          </p:nvSpPr>
          <p:spPr>
            <a:xfrm>
              <a:off x="2949677" y="2449576"/>
              <a:ext cx="6105833" cy="2271053"/>
            </a:xfrm>
            <a:prstGeom prst="rect">
              <a:avLst/>
            </a:prstGeom>
            <a:noFill/>
            <a:ln w="28575">
              <a:solidFill>
                <a:schemeClr val="accent1"/>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grpSp>
      <p:cxnSp>
        <p:nvCxnSpPr>
          <p:cNvPr id="37" name="Straight Arrow Connector 36">
            <a:extLst>
              <a:ext uri="{FF2B5EF4-FFF2-40B4-BE49-F238E27FC236}">
                <a16:creationId xmlns:a16="http://schemas.microsoft.com/office/drawing/2014/main" id="{B32271AA-6AA4-03D9-BF80-AED1115F4D4D}"/>
              </a:ext>
            </a:extLst>
          </p:cNvPr>
          <p:cNvCxnSpPr/>
          <p:nvPr/>
        </p:nvCxnSpPr>
        <p:spPr>
          <a:xfrm>
            <a:off x="5338914" y="5572293"/>
            <a:ext cx="1728000" cy="0"/>
          </a:xfrm>
          <a:prstGeom prst="straightConnector1">
            <a:avLst/>
          </a:prstGeom>
          <a:ln>
            <a:prstDash val="dash"/>
            <a:tailEnd type="triangle"/>
          </a:ln>
        </p:spPr>
        <p:style>
          <a:lnRef idx="3">
            <a:schemeClr val="accent1"/>
          </a:lnRef>
          <a:fillRef idx="0">
            <a:schemeClr val="accent1"/>
          </a:fillRef>
          <a:effectRef idx="2">
            <a:schemeClr val="accent1"/>
          </a:effectRef>
          <a:fontRef idx="minor">
            <a:schemeClr val="tx1"/>
          </a:fontRef>
        </p:style>
      </p:cxnSp>
      <p:cxnSp>
        <p:nvCxnSpPr>
          <p:cNvPr id="39" name="Straight Arrow Connector 38">
            <a:extLst>
              <a:ext uri="{FF2B5EF4-FFF2-40B4-BE49-F238E27FC236}">
                <a16:creationId xmlns:a16="http://schemas.microsoft.com/office/drawing/2014/main" id="{4E57B185-C0A4-AB84-B5CE-02CC4A554730}"/>
              </a:ext>
            </a:extLst>
          </p:cNvPr>
          <p:cNvCxnSpPr/>
          <p:nvPr/>
        </p:nvCxnSpPr>
        <p:spPr>
          <a:xfrm>
            <a:off x="5327805" y="4188542"/>
            <a:ext cx="0" cy="1383751"/>
          </a:xfrm>
          <a:prstGeom prst="straightConnector1">
            <a:avLst/>
          </a:prstGeom>
          <a:ln w="28575">
            <a:prstDash val="dash"/>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EDFAC26D-F48B-48E3-B311-5305744E9FCC}"/>
              </a:ext>
            </a:extLst>
          </p:cNvPr>
          <p:cNvCxnSpPr>
            <a:cxnSpLocks/>
          </p:cNvCxnSpPr>
          <p:nvPr/>
        </p:nvCxnSpPr>
        <p:spPr>
          <a:xfrm flipV="1">
            <a:off x="5347469" y="3324309"/>
            <a:ext cx="252000" cy="2598"/>
          </a:xfrm>
          <a:prstGeom prst="straightConnector1">
            <a:avLst/>
          </a:prstGeom>
          <a:ln>
            <a:prstDash val="dash"/>
            <a:tailEnd type="triangle"/>
          </a:ln>
        </p:spPr>
        <p:style>
          <a:lnRef idx="3">
            <a:schemeClr val="accent1"/>
          </a:lnRef>
          <a:fillRef idx="0">
            <a:schemeClr val="accent1"/>
          </a:fillRef>
          <a:effectRef idx="2">
            <a:schemeClr val="accent1"/>
          </a:effectRef>
          <a:fontRef idx="minor">
            <a:schemeClr val="tx1"/>
          </a:fontRef>
        </p:style>
      </p:cxnSp>
      <p:sp>
        <p:nvSpPr>
          <p:cNvPr id="48" name="TextBox 47">
            <a:extLst>
              <a:ext uri="{FF2B5EF4-FFF2-40B4-BE49-F238E27FC236}">
                <a16:creationId xmlns:a16="http://schemas.microsoft.com/office/drawing/2014/main" id="{329A4652-1D55-B428-950E-653B04A840C2}"/>
              </a:ext>
            </a:extLst>
          </p:cNvPr>
          <p:cNvSpPr txBox="1"/>
          <p:nvPr/>
        </p:nvSpPr>
        <p:spPr>
          <a:xfrm>
            <a:off x="10490751" y="5003320"/>
            <a:ext cx="826445" cy="369332"/>
          </a:xfrm>
          <a:prstGeom prst="rect">
            <a:avLst/>
          </a:prstGeom>
          <a:ln w="28575"/>
        </p:spPr>
        <p:style>
          <a:lnRef idx="2">
            <a:schemeClr val="accent6"/>
          </a:lnRef>
          <a:fillRef idx="1">
            <a:schemeClr val="lt1"/>
          </a:fillRef>
          <a:effectRef idx="0">
            <a:schemeClr val="accent6"/>
          </a:effectRef>
          <a:fontRef idx="minor">
            <a:schemeClr val="dk1"/>
          </a:fontRef>
        </p:style>
        <p:txBody>
          <a:bodyPr wrap="none" rtlCol="0">
            <a:spAutoFit/>
          </a:bodyPr>
          <a:lstStyle/>
          <a:p>
            <a:r>
              <a:rPr lang="en-GB" dirty="0">
                <a:solidFill>
                  <a:schemeClr val="accent6"/>
                </a:solidFill>
              </a:rPr>
              <a:t>Accept</a:t>
            </a:r>
          </a:p>
        </p:txBody>
      </p:sp>
      <p:sp>
        <p:nvSpPr>
          <p:cNvPr id="49" name="TextBox 48">
            <a:extLst>
              <a:ext uri="{FF2B5EF4-FFF2-40B4-BE49-F238E27FC236}">
                <a16:creationId xmlns:a16="http://schemas.microsoft.com/office/drawing/2014/main" id="{14AA6065-CBFD-CB79-ED99-49D8727EB4D1}"/>
              </a:ext>
            </a:extLst>
          </p:cNvPr>
          <p:cNvSpPr txBox="1"/>
          <p:nvPr/>
        </p:nvSpPr>
        <p:spPr>
          <a:xfrm>
            <a:off x="10544740" y="5838353"/>
            <a:ext cx="718466" cy="369332"/>
          </a:xfrm>
          <a:prstGeom prst="rect">
            <a:avLst/>
          </a:prstGeom>
          <a:ln w="28575">
            <a:solidFill>
              <a:srgbClr val="FF0000"/>
            </a:solidFill>
          </a:ln>
        </p:spPr>
        <p:style>
          <a:lnRef idx="2">
            <a:schemeClr val="accent6"/>
          </a:lnRef>
          <a:fillRef idx="1">
            <a:schemeClr val="lt1"/>
          </a:fillRef>
          <a:effectRef idx="0">
            <a:schemeClr val="accent6"/>
          </a:effectRef>
          <a:fontRef idx="minor">
            <a:schemeClr val="dk1"/>
          </a:fontRef>
        </p:style>
        <p:txBody>
          <a:bodyPr wrap="none" rtlCol="0">
            <a:spAutoFit/>
          </a:bodyPr>
          <a:lstStyle/>
          <a:p>
            <a:r>
              <a:rPr lang="en-GB" dirty="0">
                <a:solidFill>
                  <a:srgbClr val="FF0000"/>
                </a:solidFill>
              </a:rPr>
              <a:t>Abort</a:t>
            </a:r>
          </a:p>
        </p:txBody>
      </p:sp>
      <p:cxnSp>
        <p:nvCxnSpPr>
          <p:cNvPr id="51" name="Straight Arrow Connector 50">
            <a:extLst>
              <a:ext uri="{FF2B5EF4-FFF2-40B4-BE49-F238E27FC236}">
                <a16:creationId xmlns:a16="http://schemas.microsoft.com/office/drawing/2014/main" id="{FB902810-411F-8D8C-E4DC-5FF9FDA03E9E}"/>
              </a:ext>
            </a:extLst>
          </p:cNvPr>
          <p:cNvCxnSpPr>
            <a:stCxn id="8" idx="0"/>
          </p:cNvCxnSpPr>
          <p:nvPr/>
        </p:nvCxnSpPr>
        <p:spPr>
          <a:xfrm flipH="1" flipV="1">
            <a:off x="2172913" y="3429000"/>
            <a:ext cx="1" cy="1312297"/>
          </a:xfrm>
          <a:prstGeom prst="straightConnector1">
            <a:avLst/>
          </a:prstGeom>
          <a:ln w="19050">
            <a:prstDash val="dash"/>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B9CB102D-5197-85DA-07B7-99E05A650B9F}"/>
              </a:ext>
            </a:extLst>
          </p:cNvPr>
          <p:cNvCxnSpPr/>
          <p:nvPr/>
        </p:nvCxnSpPr>
        <p:spPr>
          <a:xfrm>
            <a:off x="2215350" y="3429000"/>
            <a:ext cx="181964" cy="0"/>
          </a:xfrm>
          <a:prstGeom prst="straightConnector1">
            <a:avLst/>
          </a:prstGeom>
          <a:ln w="19050">
            <a:prstDash val="dash"/>
            <a:tailEnd type="triangle"/>
          </a:ln>
        </p:spPr>
        <p:style>
          <a:lnRef idx="1">
            <a:schemeClr val="accent1"/>
          </a:lnRef>
          <a:fillRef idx="0">
            <a:schemeClr val="accent1"/>
          </a:fillRef>
          <a:effectRef idx="0">
            <a:schemeClr val="accent1"/>
          </a:effectRef>
          <a:fontRef idx="minor">
            <a:schemeClr val="tx1"/>
          </a:fontRef>
        </p:style>
      </p:cxnSp>
      <p:sp>
        <p:nvSpPr>
          <p:cNvPr id="55" name="TextBox 54">
            <a:extLst>
              <a:ext uri="{FF2B5EF4-FFF2-40B4-BE49-F238E27FC236}">
                <a16:creationId xmlns:a16="http://schemas.microsoft.com/office/drawing/2014/main" id="{A674FD0F-1C06-A4DB-010D-B0B3CCAE14C1}"/>
              </a:ext>
            </a:extLst>
          </p:cNvPr>
          <p:cNvSpPr txBox="1"/>
          <p:nvPr/>
        </p:nvSpPr>
        <p:spPr>
          <a:xfrm>
            <a:off x="10704073" y="5418404"/>
            <a:ext cx="365806" cy="307777"/>
          </a:xfrm>
          <a:prstGeom prst="rect">
            <a:avLst/>
          </a:prstGeom>
          <a:noFill/>
        </p:spPr>
        <p:txBody>
          <a:bodyPr wrap="none" rtlCol="0">
            <a:spAutoFit/>
          </a:bodyPr>
          <a:lstStyle/>
          <a:p>
            <a:r>
              <a:rPr lang="en-GB" sz="1400" dirty="0"/>
              <a:t>Or</a:t>
            </a:r>
          </a:p>
        </p:txBody>
      </p:sp>
      <p:sp>
        <p:nvSpPr>
          <p:cNvPr id="56" name="Date Placeholder 55">
            <a:extLst>
              <a:ext uri="{FF2B5EF4-FFF2-40B4-BE49-F238E27FC236}">
                <a16:creationId xmlns:a16="http://schemas.microsoft.com/office/drawing/2014/main" id="{5B7C28A2-DF60-84A8-56AF-553C8E23B8EE}"/>
              </a:ext>
            </a:extLst>
          </p:cNvPr>
          <p:cNvSpPr>
            <a:spLocks noGrp="1"/>
          </p:cNvSpPr>
          <p:nvPr>
            <p:ph type="dt" sz="half" idx="10"/>
          </p:nvPr>
        </p:nvSpPr>
        <p:spPr/>
        <p:txBody>
          <a:bodyPr/>
          <a:lstStyle/>
          <a:p>
            <a:fld id="{9067C92B-382E-451A-BBB2-8F0ECB6A967D}" type="datetime1">
              <a:rPr lang="en-US" smtClean="0"/>
              <a:t>4/12/2024</a:t>
            </a:fld>
            <a:endParaRPr lang="en-US"/>
          </a:p>
        </p:txBody>
      </p:sp>
      <p:sp>
        <p:nvSpPr>
          <p:cNvPr id="57" name="Slide Number Placeholder 56">
            <a:extLst>
              <a:ext uri="{FF2B5EF4-FFF2-40B4-BE49-F238E27FC236}">
                <a16:creationId xmlns:a16="http://schemas.microsoft.com/office/drawing/2014/main" id="{450F7DC7-A62D-4845-D29B-1FEF9DB1A214}"/>
              </a:ext>
            </a:extLst>
          </p:cNvPr>
          <p:cNvSpPr>
            <a:spLocks noGrp="1"/>
          </p:cNvSpPr>
          <p:nvPr>
            <p:ph type="sldNum" sz="quarter" idx="12"/>
          </p:nvPr>
        </p:nvSpPr>
        <p:spPr/>
        <p:txBody>
          <a:bodyPr/>
          <a:lstStyle/>
          <a:p>
            <a:fld id="{03E8056C-9350-3E4B-911C-FCF80EDBFE79}" type="slidenum">
              <a:rPr lang="en-US" smtClean="0"/>
              <a:t>6</a:t>
            </a:fld>
            <a:endParaRPr lang="en-US"/>
          </a:p>
        </p:txBody>
      </p:sp>
    </p:spTree>
    <p:extLst>
      <p:ext uri="{BB962C8B-B14F-4D97-AF65-F5344CB8AC3E}">
        <p14:creationId xmlns:p14="http://schemas.microsoft.com/office/powerpoint/2010/main" val="14634403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3" name="Title 2" hidden="1">
            <a:extLst>
              <a:ext uri="{FF2B5EF4-FFF2-40B4-BE49-F238E27FC236}">
                <a16:creationId xmlns:a16="http://schemas.microsoft.com/office/drawing/2014/main" id="{7D116104-B4E7-6642-8EAB-49A402AED74A}"/>
              </a:ext>
            </a:extLst>
          </p:cNvPr>
          <p:cNvSpPr>
            <a:spLocks noGrp="1"/>
          </p:cNvSpPr>
          <p:nvPr>
            <p:ph type="ctrTitle"/>
          </p:nvPr>
        </p:nvSpPr>
        <p:spPr/>
        <p:txBody>
          <a:bodyPr/>
          <a:lstStyle/>
          <a:p>
            <a:r>
              <a:rPr lang="en-US" dirty="0"/>
              <a:t>Information on how to use images</a:t>
            </a:r>
          </a:p>
        </p:txBody>
      </p:sp>
      <p:sp>
        <p:nvSpPr>
          <p:cNvPr id="2" name="Text Placeholder 1"/>
          <p:cNvSpPr txBox="1">
            <a:spLocks/>
          </p:cNvSpPr>
          <p:nvPr/>
        </p:nvSpPr>
        <p:spPr>
          <a:xfrm>
            <a:off x="310696" y="1879599"/>
            <a:ext cx="11532961" cy="4619523"/>
          </a:xfrm>
          <a:prstGeom prst="rect">
            <a:avLst/>
          </a:prstGeom>
        </p:spPr>
        <p:txBody>
          <a:bodyPr vert="horz" lIns="91440" tIns="45720" rIns="91440" bIns="45720" rtlCol="0" anchor="t"/>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ts val="600"/>
              </a:spcBef>
            </a:pPr>
            <a:r>
              <a:rPr lang="en-US" sz="2400" b="1" dirty="0">
                <a:solidFill>
                  <a:schemeClr val="tx1"/>
                </a:solidFill>
                <a:latin typeface="Times New Roman" panose="02020603050405020304" pitchFamily="18" charset="0"/>
                <a:ea typeface="Arial" charset="0"/>
                <a:cs typeface="Times New Roman" panose="02020603050405020304" pitchFamily="18" charset="0"/>
              </a:rPr>
              <a:t>Socio demographic information</a:t>
            </a:r>
          </a:p>
          <a:p>
            <a:pPr>
              <a:spcBef>
                <a:spcPts val="600"/>
              </a:spcBef>
            </a:pPr>
            <a:r>
              <a:rPr lang="en-US" sz="1600" dirty="0">
                <a:solidFill>
                  <a:schemeClr val="tx1"/>
                </a:solidFill>
                <a:latin typeface="Arial" charset="0"/>
                <a:ea typeface="Arial" charset="0"/>
                <a:cs typeface="Arial" charset="0"/>
              </a:rPr>
              <a:t>Information on a </a:t>
            </a:r>
            <a:r>
              <a:rPr lang="en-US" sz="1600" b="1" dirty="0">
                <a:solidFill>
                  <a:schemeClr val="tx1"/>
                </a:solidFill>
                <a:latin typeface="Arial" charset="0"/>
                <a:ea typeface="Arial" charset="0"/>
                <a:cs typeface="Arial" charset="0"/>
              </a:rPr>
              <a:t>socio-demographic information </a:t>
            </a:r>
            <a:r>
              <a:rPr lang="en-US" sz="1600" dirty="0">
                <a:solidFill>
                  <a:schemeClr val="tx1"/>
                </a:solidFill>
                <a:latin typeface="Arial" charset="0"/>
                <a:ea typeface="Arial" charset="0"/>
                <a:cs typeface="Arial" charset="0"/>
              </a:rPr>
              <a:t>of the respondent:</a:t>
            </a:r>
          </a:p>
          <a:p>
            <a:pPr marL="285750" indent="-285750">
              <a:spcBef>
                <a:spcPts val="600"/>
              </a:spcBef>
              <a:buFont typeface="Arial" panose="020B0604020202020204" pitchFamily="34" charset="0"/>
              <a:buChar char="•"/>
            </a:pPr>
            <a:r>
              <a:rPr lang="en-US" sz="1600" dirty="0">
                <a:solidFill>
                  <a:schemeClr val="tx1"/>
                </a:solidFill>
                <a:latin typeface="Arial" charset="0"/>
                <a:ea typeface="Arial" charset="0"/>
                <a:cs typeface="Arial" charset="0"/>
              </a:rPr>
              <a:t>Demographic information on </a:t>
            </a:r>
            <a:r>
              <a:rPr lang="en-US" sz="1600" b="1" dirty="0">
                <a:solidFill>
                  <a:schemeClr val="tx1"/>
                </a:solidFill>
                <a:latin typeface="Arial" charset="0"/>
                <a:ea typeface="Arial" charset="0"/>
                <a:cs typeface="Arial" charset="0"/>
              </a:rPr>
              <a:t>age, gender, income, education, employment status, occupation and, civil status</a:t>
            </a:r>
          </a:p>
          <a:p>
            <a:pPr marL="285750" indent="-285750">
              <a:spcBef>
                <a:spcPts val="600"/>
              </a:spcBef>
              <a:buFont typeface="Arial" panose="020B0604020202020204" pitchFamily="34" charset="0"/>
              <a:buChar char="•"/>
            </a:pPr>
            <a:r>
              <a:rPr lang="en-US" sz="1600" b="1" dirty="0">
                <a:solidFill>
                  <a:schemeClr val="tx1"/>
                </a:solidFill>
                <a:latin typeface="Arial" charset="0"/>
                <a:ea typeface="Arial" charset="0"/>
                <a:cs typeface="Arial" charset="0"/>
              </a:rPr>
              <a:t>Vehicle ownership and driving status</a:t>
            </a:r>
          </a:p>
          <a:p>
            <a:pPr marL="742950" lvl="1" indent="-285750">
              <a:spcBef>
                <a:spcPts val="600"/>
              </a:spcBef>
              <a:buFont typeface="Arial" panose="020B0604020202020204" pitchFamily="34" charset="0"/>
              <a:buChar char="•"/>
            </a:pPr>
            <a:r>
              <a:rPr lang="en-US" sz="1600" dirty="0">
                <a:latin typeface="Arial" charset="0"/>
                <a:ea typeface="Arial" charset="0"/>
                <a:cs typeface="Arial" charset="0"/>
              </a:rPr>
              <a:t>Number of vehicles</a:t>
            </a:r>
          </a:p>
          <a:p>
            <a:pPr marL="742950" lvl="1" indent="-285750">
              <a:spcBef>
                <a:spcPts val="600"/>
              </a:spcBef>
              <a:buFont typeface="Arial" panose="020B0604020202020204" pitchFamily="34" charset="0"/>
              <a:buChar char="•"/>
            </a:pPr>
            <a:r>
              <a:rPr lang="en-US" sz="1600" dirty="0">
                <a:solidFill>
                  <a:schemeClr val="tx1"/>
                </a:solidFill>
                <a:latin typeface="Arial" charset="0"/>
                <a:ea typeface="Arial" charset="0"/>
                <a:cs typeface="Arial" charset="0"/>
              </a:rPr>
              <a:t>Presence of driving license</a:t>
            </a:r>
          </a:p>
          <a:p>
            <a:pPr marL="742950" lvl="1" indent="-285750">
              <a:spcBef>
                <a:spcPts val="600"/>
              </a:spcBef>
              <a:buFont typeface="Arial" panose="020B0604020202020204" pitchFamily="34" charset="0"/>
              <a:buChar char="•"/>
            </a:pPr>
            <a:r>
              <a:rPr lang="en-US" sz="1600" dirty="0">
                <a:latin typeface="Arial" charset="0"/>
                <a:ea typeface="Arial" charset="0"/>
                <a:cs typeface="Arial" charset="0"/>
              </a:rPr>
              <a:t>*</a:t>
            </a:r>
            <a:r>
              <a:rPr lang="en-US" sz="1600" dirty="0">
                <a:solidFill>
                  <a:schemeClr val="tx1"/>
                </a:solidFill>
                <a:latin typeface="Arial" charset="0"/>
                <a:ea typeface="Arial" charset="0"/>
                <a:cs typeface="Arial" charset="0"/>
              </a:rPr>
              <a:t>Respondents’ most used vehicle type and year of purchase</a:t>
            </a:r>
          </a:p>
          <a:p>
            <a:pPr marL="742950" lvl="1" indent="-285750">
              <a:spcBef>
                <a:spcPts val="600"/>
              </a:spcBef>
              <a:buFont typeface="Arial" panose="020B0604020202020204" pitchFamily="34" charset="0"/>
              <a:buChar char="•"/>
            </a:pPr>
            <a:r>
              <a:rPr lang="en-US" sz="1600" dirty="0">
                <a:latin typeface="Arial" charset="0"/>
                <a:ea typeface="Arial" charset="0"/>
                <a:cs typeface="Arial" charset="0"/>
              </a:rPr>
              <a:t>Ownership status of the vehicle – Owned/leased</a:t>
            </a:r>
          </a:p>
          <a:p>
            <a:pPr marL="1200150" lvl="2" indent="-285750">
              <a:spcBef>
                <a:spcPts val="600"/>
              </a:spcBef>
              <a:buFont typeface="Arial" panose="020B0604020202020204" pitchFamily="34" charset="0"/>
              <a:buChar char="•"/>
            </a:pPr>
            <a:r>
              <a:rPr lang="en-US" sz="1600" dirty="0">
                <a:latin typeface="Arial" charset="0"/>
                <a:ea typeface="Arial" charset="0"/>
                <a:cs typeface="Arial" charset="0"/>
              </a:rPr>
              <a:t>M</a:t>
            </a:r>
            <a:r>
              <a:rPr lang="en-US" sz="1600" dirty="0">
                <a:solidFill>
                  <a:schemeClr val="tx1"/>
                </a:solidFill>
                <a:latin typeface="Arial" charset="0"/>
                <a:ea typeface="Arial" charset="0"/>
                <a:cs typeface="Arial" charset="0"/>
              </a:rPr>
              <a:t>onthly instalments (if applicable)</a:t>
            </a:r>
          </a:p>
          <a:p>
            <a:pPr marL="285750" indent="-285750">
              <a:spcBef>
                <a:spcPts val="600"/>
              </a:spcBef>
              <a:buFont typeface="Arial" panose="020B0604020202020204" pitchFamily="34" charset="0"/>
              <a:buChar char="•"/>
            </a:pPr>
            <a:r>
              <a:rPr lang="en-US" sz="1600" dirty="0">
                <a:solidFill>
                  <a:schemeClr val="tx1"/>
                </a:solidFill>
                <a:latin typeface="Arial" charset="0"/>
                <a:ea typeface="Arial" charset="0"/>
                <a:cs typeface="Arial" charset="0"/>
              </a:rPr>
              <a:t>Presence of bus/rail pass</a:t>
            </a:r>
          </a:p>
          <a:p>
            <a:pPr marL="285750" indent="-285750">
              <a:spcBef>
                <a:spcPts val="600"/>
              </a:spcBef>
              <a:buFont typeface="Arial" panose="020B0604020202020204" pitchFamily="34" charset="0"/>
              <a:buChar char="•"/>
            </a:pPr>
            <a:r>
              <a:rPr lang="en-US" sz="1600" dirty="0">
                <a:solidFill>
                  <a:schemeClr val="tx1"/>
                </a:solidFill>
                <a:latin typeface="Arial" charset="0"/>
                <a:ea typeface="Arial" charset="0"/>
                <a:cs typeface="Arial" charset="0"/>
              </a:rPr>
              <a:t>Requirement of mobility assistance – Yes/No</a:t>
            </a:r>
          </a:p>
          <a:p>
            <a:pPr marL="285750" indent="-285750">
              <a:spcBef>
                <a:spcPts val="600"/>
              </a:spcBef>
              <a:buFont typeface="Arial" panose="020B0604020202020204" pitchFamily="34" charset="0"/>
              <a:buChar char="•"/>
            </a:pPr>
            <a:r>
              <a:rPr lang="en-US" sz="1600" dirty="0">
                <a:solidFill>
                  <a:schemeClr val="tx1"/>
                </a:solidFill>
                <a:latin typeface="Arial" charset="0"/>
                <a:ea typeface="Arial" charset="0"/>
                <a:cs typeface="Arial" charset="0"/>
              </a:rPr>
              <a:t>Parking subscription at workplace</a:t>
            </a:r>
            <a:endParaRPr lang="en-US" sz="1600" dirty="0">
              <a:solidFill>
                <a:schemeClr val="tx1"/>
              </a:solidFill>
              <a:latin typeface="Times New Roman" panose="02020603050405020304" pitchFamily="18" charset="0"/>
              <a:ea typeface="Arial" charset="0"/>
              <a:cs typeface="Times New Roman" panose="02020603050405020304" pitchFamily="18" charset="0"/>
            </a:endParaRPr>
          </a:p>
        </p:txBody>
      </p:sp>
      <p:sp>
        <p:nvSpPr>
          <p:cNvPr id="4" name="Text Placeholder 2">
            <a:extLst>
              <a:ext uri="{FF2B5EF4-FFF2-40B4-BE49-F238E27FC236}">
                <a16:creationId xmlns:a16="http://schemas.microsoft.com/office/drawing/2014/main" id="{903D9683-5D03-1483-2057-16D94CB041F0}"/>
              </a:ext>
            </a:extLst>
          </p:cNvPr>
          <p:cNvSpPr txBox="1">
            <a:spLocks/>
          </p:cNvSpPr>
          <p:nvPr/>
        </p:nvSpPr>
        <p:spPr>
          <a:xfrm>
            <a:off x="236311" y="970989"/>
            <a:ext cx="5819775" cy="82800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2800" b="1" dirty="0">
                <a:solidFill>
                  <a:schemeClr val="tx1"/>
                </a:solidFill>
                <a:latin typeface="Arial" charset="0"/>
                <a:ea typeface="Arial" charset="0"/>
                <a:cs typeface="Arial" charset="0"/>
              </a:rPr>
              <a:t>Survey description</a:t>
            </a:r>
          </a:p>
        </p:txBody>
      </p:sp>
      <p:sp>
        <p:nvSpPr>
          <p:cNvPr id="5" name="Date Placeholder 4">
            <a:extLst>
              <a:ext uri="{FF2B5EF4-FFF2-40B4-BE49-F238E27FC236}">
                <a16:creationId xmlns:a16="http://schemas.microsoft.com/office/drawing/2014/main" id="{3B468039-FD34-46DC-83EB-C5A42881DC10}"/>
              </a:ext>
            </a:extLst>
          </p:cNvPr>
          <p:cNvSpPr>
            <a:spLocks noGrp="1"/>
          </p:cNvSpPr>
          <p:nvPr>
            <p:ph type="dt" sz="half" idx="10"/>
          </p:nvPr>
        </p:nvSpPr>
        <p:spPr/>
        <p:txBody>
          <a:bodyPr/>
          <a:lstStyle/>
          <a:p>
            <a:fld id="{FA0652C8-3D54-44BE-B56A-980BA3EAD5D0}" type="datetime1">
              <a:rPr lang="en-US" smtClean="0"/>
              <a:t>4/12/2024</a:t>
            </a:fld>
            <a:endParaRPr lang="en-US"/>
          </a:p>
        </p:txBody>
      </p:sp>
      <p:sp>
        <p:nvSpPr>
          <p:cNvPr id="6" name="Slide Number Placeholder 5">
            <a:extLst>
              <a:ext uri="{FF2B5EF4-FFF2-40B4-BE49-F238E27FC236}">
                <a16:creationId xmlns:a16="http://schemas.microsoft.com/office/drawing/2014/main" id="{F216699F-98FD-54A6-DFA9-3263E097E37D}"/>
              </a:ext>
            </a:extLst>
          </p:cNvPr>
          <p:cNvSpPr>
            <a:spLocks noGrp="1"/>
          </p:cNvSpPr>
          <p:nvPr>
            <p:ph type="sldNum" sz="quarter" idx="12"/>
          </p:nvPr>
        </p:nvSpPr>
        <p:spPr/>
        <p:txBody>
          <a:bodyPr/>
          <a:lstStyle/>
          <a:p>
            <a:fld id="{03E8056C-9350-3E4B-911C-FCF80EDBFE79}" type="slidenum">
              <a:rPr lang="en-US" smtClean="0"/>
              <a:t>7</a:t>
            </a:fld>
            <a:endParaRPr lang="en-US"/>
          </a:p>
        </p:txBody>
      </p:sp>
    </p:spTree>
    <p:extLst>
      <p:ext uri="{BB962C8B-B14F-4D97-AF65-F5344CB8AC3E}">
        <p14:creationId xmlns:p14="http://schemas.microsoft.com/office/powerpoint/2010/main" val="42733005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3" name="Title 2" hidden="1">
            <a:extLst>
              <a:ext uri="{FF2B5EF4-FFF2-40B4-BE49-F238E27FC236}">
                <a16:creationId xmlns:a16="http://schemas.microsoft.com/office/drawing/2014/main" id="{7D116104-B4E7-6642-8EAB-49A402AED74A}"/>
              </a:ext>
            </a:extLst>
          </p:cNvPr>
          <p:cNvSpPr>
            <a:spLocks noGrp="1"/>
          </p:cNvSpPr>
          <p:nvPr>
            <p:ph type="ctrTitle"/>
          </p:nvPr>
        </p:nvSpPr>
        <p:spPr/>
        <p:txBody>
          <a:bodyPr/>
          <a:lstStyle/>
          <a:p>
            <a:r>
              <a:rPr lang="en-US" dirty="0"/>
              <a:t>Information on how to use images</a:t>
            </a:r>
          </a:p>
        </p:txBody>
      </p:sp>
      <p:sp>
        <p:nvSpPr>
          <p:cNvPr id="2" name="Text Placeholder 1"/>
          <p:cNvSpPr txBox="1">
            <a:spLocks/>
          </p:cNvSpPr>
          <p:nvPr/>
        </p:nvSpPr>
        <p:spPr>
          <a:xfrm>
            <a:off x="310696" y="1879599"/>
            <a:ext cx="11532961" cy="4619523"/>
          </a:xfrm>
          <a:prstGeom prst="rect">
            <a:avLst/>
          </a:prstGeom>
        </p:spPr>
        <p:txBody>
          <a:bodyPr vert="horz" lIns="91440" tIns="45720" rIns="91440" bIns="45720" rtlCol="0" anchor="t"/>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ts val="600"/>
              </a:spcBef>
            </a:pPr>
            <a:r>
              <a:rPr lang="en-US" sz="2400" b="1" dirty="0">
                <a:solidFill>
                  <a:schemeClr val="tx1"/>
                </a:solidFill>
                <a:latin typeface="Times New Roman" panose="02020603050405020304" pitchFamily="18" charset="0"/>
                <a:ea typeface="Arial" charset="0"/>
                <a:cs typeface="Times New Roman" panose="02020603050405020304" pitchFamily="18" charset="0"/>
              </a:rPr>
              <a:t>Revealed choice</a:t>
            </a:r>
          </a:p>
          <a:p>
            <a:pPr marL="285750" indent="-285750">
              <a:lnSpc>
                <a:spcPct val="100000"/>
              </a:lnSpc>
              <a:spcBef>
                <a:spcPts val="600"/>
              </a:spcBef>
              <a:buFont typeface="Arial" panose="020B0604020202020204" pitchFamily="34" charset="0"/>
              <a:buChar char="•"/>
            </a:pPr>
            <a:r>
              <a:rPr lang="en-US" sz="1600" u="sng" dirty="0">
                <a:solidFill>
                  <a:schemeClr val="tx1"/>
                </a:solidFill>
                <a:latin typeface="Arial" charset="0"/>
                <a:ea typeface="Arial" charset="0"/>
                <a:cs typeface="Arial" charset="0"/>
              </a:rPr>
              <a:t>Trip information</a:t>
            </a:r>
            <a:r>
              <a:rPr lang="en-US" sz="1600" dirty="0">
                <a:solidFill>
                  <a:schemeClr val="tx1"/>
                </a:solidFill>
                <a:latin typeface="Arial" charset="0"/>
                <a:ea typeface="Arial" charset="0"/>
                <a:cs typeface="Arial" charset="0"/>
              </a:rPr>
              <a:t>:</a:t>
            </a:r>
          </a:p>
          <a:p>
            <a:pPr marL="742950" lvl="1" indent="-285750">
              <a:spcBef>
                <a:spcPts val="600"/>
              </a:spcBef>
              <a:buFont typeface="Arial" panose="020B0604020202020204" pitchFamily="34" charset="0"/>
              <a:buChar char="•"/>
            </a:pPr>
            <a:r>
              <a:rPr lang="en-US" sz="1600" u="sng" dirty="0">
                <a:latin typeface="Arial" charset="0"/>
                <a:ea typeface="Arial" charset="0"/>
                <a:cs typeface="Arial" charset="0"/>
              </a:rPr>
              <a:t>Revealed preference</a:t>
            </a:r>
          </a:p>
          <a:p>
            <a:pPr lvl="1">
              <a:spcBef>
                <a:spcPts val="600"/>
              </a:spcBef>
            </a:pPr>
            <a:r>
              <a:rPr lang="en-US" sz="1600" dirty="0">
                <a:solidFill>
                  <a:schemeClr val="tx1"/>
                </a:solidFill>
                <a:latin typeface="Arial" charset="0"/>
                <a:ea typeface="Arial" charset="0"/>
                <a:cs typeface="Arial" charset="0"/>
              </a:rPr>
              <a:t>Information on </a:t>
            </a:r>
            <a:r>
              <a:rPr lang="en-US" sz="1600" b="1" dirty="0">
                <a:solidFill>
                  <a:schemeClr val="tx1"/>
                </a:solidFill>
                <a:latin typeface="Arial" charset="0"/>
                <a:ea typeface="Arial" charset="0"/>
                <a:cs typeface="Arial" charset="0"/>
              </a:rPr>
              <a:t>3 key trip purposes</a:t>
            </a:r>
            <a:r>
              <a:rPr lang="en-US" sz="1600" dirty="0">
                <a:solidFill>
                  <a:schemeClr val="tx1"/>
                </a:solidFill>
                <a:latin typeface="Arial" charset="0"/>
                <a:ea typeface="Arial" charset="0"/>
                <a:cs typeface="Arial" charset="0"/>
              </a:rPr>
              <a:t> and frequency</a:t>
            </a:r>
            <a:endParaRPr lang="en-US" sz="1600" dirty="0">
              <a:latin typeface="Arial" charset="0"/>
              <a:ea typeface="Arial" charset="0"/>
              <a:cs typeface="Arial" charset="0"/>
            </a:endParaRPr>
          </a:p>
          <a:p>
            <a:pPr>
              <a:spcBef>
                <a:spcPts val="600"/>
              </a:spcBef>
            </a:pPr>
            <a:endParaRPr lang="en-US" sz="1000" dirty="0">
              <a:solidFill>
                <a:schemeClr val="tx1"/>
              </a:solidFill>
              <a:latin typeface="Arial" charset="0"/>
              <a:ea typeface="Arial" charset="0"/>
              <a:cs typeface="Arial" charset="0"/>
            </a:endParaRPr>
          </a:p>
          <a:p>
            <a:pPr marL="285750" indent="-285750">
              <a:spcBef>
                <a:spcPts val="600"/>
              </a:spcBef>
              <a:buFont typeface="Wingdings" panose="05000000000000000000" pitchFamily="2" charset="2"/>
              <a:buChar char="§"/>
            </a:pPr>
            <a:r>
              <a:rPr lang="en-US" sz="1600" dirty="0">
                <a:solidFill>
                  <a:schemeClr val="tx1"/>
                </a:solidFill>
                <a:latin typeface="Arial" charset="0"/>
                <a:ea typeface="Arial" charset="0"/>
                <a:cs typeface="Arial" charset="0"/>
              </a:rPr>
              <a:t>Commute/school – Frequency of travel</a:t>
            </a:r>
          </a:p>
          <a:p>
            <a:pPr marL="285750" indent="-285750">
              <a:spcBef>
                <a:spcPts val="600"/>
              </a:spcBef>
              <a:buFont typeface="Wingdings" panose="05000000000000000000" pitchFamily="2" charset="2"/>
              <a:buChar char="§"/>
            </a:pPr>
            <a:r>
              <a:rPr lang="en-US" sz="1600" dirty="0">
                <a:solidFill>
                  <a:schemeClr val="tx1"/>
                </a:solidFill>
                <a:latin typeface="Arial" charset="0"/>
                <a:ea typeface="Arial" charset="0"/>
                <a:cs typeface="Arial" charset="0"/>
              </a:rPr>
              <a:t>Shopping/Leisure – Frequency of travel</a:t>
            </a:r>
          </a:p>
          <a:p>
            <a:pPr marL="285750" indent="-285750">
              <a:spcBef>
                <a:spcPts val="600"/>
              </a:spcBef>
              <a:buFont typeface="Wingdings" panose="05000000000000000000" pitchFamily="2" charset="2"/>
              <a:buChar char="§"/>
            </a:pPr>
            <a:r>
              <a:rPr lang="en-US" sz="1600" dirty="0">
                <a:solidFill>
                  <a:schemeClr val="tx1"/>
                </a:solidFill>
                <a:latin typeface="Arial" charset="0"/>
                <a:ea typeface="Arial" charset="0"/>
                <a:cs typeface="Arial" charset="0"/>
              </a:rPr>
              <a:t>Maintenance (including appointment-based trips such as doctors visit, bank visit, etc.) – Frequency of travel</a:t>
            </a:r>
          </a:p>
          <a:p>
            <a:pPr>
              <a:spcBef>
                <a:spcPts val="600"/>
              </a:spcBef>
            </a:pPr>
            <a:endParaRPr lang="en-US" sz="1600" dirty="0">
              <a:solidFill>
                <a:schemeClr val="tx1"/>
              </a:solidFill>
              <a:latin typeface="Arial" charset="0"/>
              <a:ea typeface="Arial" charset="0"/>
              <a:cs typeface="Arial" charset="0"/>
            </a:endParaRPr>
          </a:p>
        </p:txBody>
      </p:sp>
      <p:sp>
        <p:nvSpPr>
          <p:cNvPr id="4" name="Text Placeholder 2">
            <a:extLst>
              <a:ext uri="{FF2B5EF4-FFF2-40B4-BE49-F238E27FC236}">
                <a16:creationId xmlns:a16="http://schemas.microsoft.com/office/drawing/2014/main" id="{903D9683-5D03-1483-2057-16D94CB041F0}"/>
              </a:ext>
            </a:extLst>
          </p:cNvPr>
          <p:cNvSpPr txBox="1">
            <a:spLocks/>
          </p:cNvSpPr>
          <p:nvPr/>
        </p:nvSpPr>
        <p:spPr>
          <a:xfrm>
            <a:off x="236311" y="970989"/>
            <a:ext cx="5819775" cy="82800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2800" b="1" dirty="0">
                <a:solidFill>
                  <a:schemeClr val="tx1"/>
                </a:solidFill>
                <a:latin typeface="Arial" charset="0"/>
                <a:ea typeface="Arial" charset="0"/>
                <a:cs typeface="Arial" charset="0"/>
              </a:rPr>
              <a:t>Survey description</a:t>
            </a:r>
          </a:p>
        </p:txBody>
      </p:sp>
      <p:sp>
        <p:nvSpPr>
          <p:cNvPr id="5" name="Date Placeholder 4">
            <a:extLst>
              <a:ext uri="{FF2B5EF4-FFF2-40B4-BE49-F238E27FC236}">
                <a16:creationId xmlns:a16="http://schemas.microsoft.com/office/drawing/2014/main" id="{AE828018-9985-925A-F0F9-8A4CB94011DA}"/>
              </a:ext>
            </a:extLst>
          </p:cNvPr>
          <p:cNvSpPr>
            <a:spLocks noGrp="1"/>
          </p:cNvSpPr>
          <p:nvPr>
            <p:ph type="dt" sz="half" idx="10"/>
          </p:nvPr>
        </p:nvSpPr>
        <p:spPr/>
        <p:txBody>
          <a:bodyPr/>
          <a:lstStyle/>
          <a:p>
            <a:fld id="{491A6936-A3F0-4703-8179-DC88044254E1}" type="datetime1">
              <a:rPr lang="en-US" smtClean="0"/>
              <a:t>4/12/2024</a:t>
            </a:fld>
            <a:endParaRPr lang="en-US"/>
          </a:p>
        </p:txBody>
      </p:sp>
      <p:sp>
        <p:nvSpPr>
          <p:cNvPr id="6" name="Slide Number Placeholder 5">
            <a:extLst>
              <a:ext uri="{FF2B5EF4-FFF2-40B4-BE49-F238E27FC236}">
                <a16:creationId xmlns:a16="http://schemas.microsoft.com/office/drawing/2014/main" id="{D73C14DD-ECF0-706E-43DA-598519A13605}"/>
              </a:ext>
            </a:extLst>
          </p:cNvPr>
          <p:cNvSpPr>
            <a:spLocks noGrp="1"/>
          </p:cNvSpPr>
          <p:nvPr>
            <p:ph type="sldNum" sz="quarter" idx="12"/>
          </p:nvPr>
        </p:nvSpPr>
        <p:spPr/>
        <p:txBody>
          <a:bodyPr/>
          <a:lstStyle/>
          <a:p>
            <a:fld id="{03E8056C-9350-3E4B-911C-FCF80EDBFE79}" type="slidenum">
              <a:rPr lang="en-US" smtClean="0"/>
              <a:t>8</a:t>
            </a:fld>
            <a:endParaRPr lang="en-US"/>
          </a:p>
        </p:txBody>
      </p:sp>
    </p:spTree>
    <p:extLst>
      <p:ext uri="{BB962C8B-B14F-4D97-AF65-F5344CB8AC3E}">
        <p14:creationId xmlns:p14="http://schemas.microsoft.com/office/powerpoint/2010/main" val="16806112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3" name="Title 2" hidden="1">
            <a:extLst>
              <a:ext uri="{FF2B5EF4-FFF2-40B4-BE49-F238E27FC236}">
                <a16:creationId xmlns:a16="http://schemas.microsoft.com/office/drawing/2014/main" id="{7D116104-B4E7-6642-8EAB-49A402AED74A}"/>
              </a:ext>
            </a:extLst>
          </p:cNvPr>
          <p:cNvSpPr>
            <a:spLocks noGrp="1"/>
          </p:cNvSpPr>
          <p:nvPr>
            <p:ph type="ctrTitle"/>
          </p:nvPr>
        </p:nvSpPr>
        <p:spPr/>
        <p:txBody>
          <a:bodyPr/>
          <a:lstStyle/>
          <a:p>
            <a:r>
              <a:rPr lang="en-US" dirty="0"/>
              <a:t>Information on how to use images</a:t>
            </a:r>
          </a:p>
        </p:txBody>
      </p:sp>
      <p:sp>
        <p:nvSpPr>
          <p:cNvPr id="2" name="Text Placeholder 1"/>
          <p:cNvSpPr txBox="1">
            <a:spLocks/>
          </p:cNvSpPr>
          <p:nvPr/>
        </p:nvSpPr>
        <p:spPr>
          <a:xfrm>
            <a:off x="310696" y="1879599"/>
            <a:ext cx="11532961" cy="4835833"/>
          </a:xfrm>
          <a:prstGeom prst="rect">
            <a:avLst/>
          </a:prstGeom>
        </p:spPr>
        <p:txBody>
          <a:bodyPr vert="horz" lIns="91440" tIns="45720" rIns="91440" bIns="45720" rtlCol="0" anchor="t"/>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ts val="600"/>
              </a:spcBef>
            </a:pPr>
            <a:r>
              <a:rPr lang="en-US" sz="2400" b="1" dirty="0">
                <a:solidFill>
                  <a:schemeClr val="tx1"/>
                </a:solidFill>
                <a:latin typeface="Times New Roman" panose="02020603050405020304" pitchFamily="18" charset="0"/>
                <a:ea typeface="Arial" charset="0"/>
                <a:cs typeface="Times New Roman" panose="02020603050405020304" pitchFamily="18" charset="0"/>
              </a:rPr>
              <a:t>Revealed choice</a:t>
            </a:r>
            <a:endParaRPr lang="en-US" sz="1600" dirty="0">
              <a:solidFill>
                <a:schemeClr val="tx1"/>
              </a:solidFill>
              <a:latin typeface="Arial" charset="0"/>
              <a:ea typeface="Arial" charset="0"/>
              <a:cs typeface="Arial" charset="0"/>
            </a:endParaRPr>
          </a:p>
          <a:p>
            <a:pPr marL="285750" indent="-285750">
              <a:spcBef>
                <a:spcPts val="600"/>
              </a:spcBef>
              <a:buFont typeface="Arial" panose="020B0604020202020204" pitchFamily="34" charset="0"/>
              <a:buChar char="•"/>
            </a:pPr>
            <a:r>
              <a:rPr lang="en-US" sz="1600" dirty="0">
                <a:solidFill>
                  <a:schemeClr val="tx1"/>
                </a:solidFill>
                <a:latin typeface="Arial" charset="0"/>
                <a:ea typeface="Arial" charset="0"/>
                <a:cs typeface="Arial" charset="0"/>
              </a:rPr>
              <a:t>Information on a </a:t>
            </a:r>
            <a:r>
              <a:rPr lang="en-US" sz="1600" b="1" dirty="0">
                <a:solidFill>
                  <a:schemeClr val="tx1"/>
                </a:solidFill>
                <a:latin typeface="Arial" charset="0"/>
                <a:ea typeface="Arial" charset="0"/>
                <a:cs typeface="Arial" charset="0"/>
              </a:rPr>
              <a:t>randomly selected trip purpose and its frequency:</a:t>
            </a:r>
            <a:endParaRPr lang="en-US" sz="1600" dirty="0">
              <a:solidFill>
                <a:schemeClr val="tx1"/>
              </a:solidFill>
              <a:latin typeface="Arial" charset="0"/>
              <a:ea typeface="Arial" charset="0"/>
              <a:cs typeface="Arial" charset="0"/>
            </a:endParaRPr>
          </a:p>
          <a:p>
            <a:pPr marL="742950" lvl="1" indent="-285750">
              <a:spcBef>
                <a:spcPts val="600"/>
              </a:spcBef>
              <a:buFont typeface="Wingdings" panose="05000000000000000000" pitchFamily="2" charset="2"/>
              <a:buChar char="§"/>
            </a:pPr>
            <a:r>
              <a:rPr lang="en-US" sz="1600" dirty="0">
                <a:latin typeface="Arial" charset="0"/>
                <a:ea typeface="Arial" charset="0"/>
                <a:cs typeface="Arial" charset="0"/>
              </a:rPr>
              <a:t>Origin and destination of the trip/nearest landmark</a:t>
            </a:r>
          </a:p>
          <a:p>
            <a:pPr marL="742950" lvl="1" indent="-285750">
              <a:spcBef>
                <a:spcPts val="600"/>
              </a:spcBef>
              <a:buFont typeface="Wingdings" panose="05000000000000000000" pitchFamily="2" charset="2"/>
              <a:buChar char="§"/>
            </a:pPr>
            <a:r>
              <a:rPr lang="en-US" sz="1600" dirty="0">
                <a:latin typeface="Arial" charset="0"/>
                <a:ea typeface="Arial" charset="0"/>
                <a:cs typeface="Arial" charset="0"/>
              </a:rPr>
              <a:t>*Presence of an accompanying member in the trip (part or full)</a:t>
            </a:r>
          </a:p>
          <a:p>
            <a:pPr marL="742950" lvl="1" indent="-285750">
              <a:spcBef>
                <a:spcPts val="600"/>
              </a:spcBef>
              <a:buFont typeface="Wingdings" panose="05000000000000000000" pitchFamily="2" charset="2"/>
              <a:buChar char="§"/>
            </a:pPr>
            <a:r>
              <a:rPr lang="en-US" sz="1600" dirty="0">
                <a:solidFill>
                  <a:schemeClr val="tx1"/>
                </a:solidFill>
                <a:latin typeface="Arial" charset="0"/>
                <a:ea typeface="Arial" charset="0"/>
                <a:cs typeface="Arial" charset="0"/>
              </a:rPr>
              <a:t>Most frequently used mode for that trip (Primary mode information)</a:t>
            </a:r>
          </a:p>
          <a:p>
            <a:pPr marL="742950" lvl="1" indent="-285750">
              <a:spcBef>
                <a:spcPts val="600"/>
              </a:spcBef>
              <a:buFont typeface="Wingdings" panose="05000000000000000000" pitchFamily="2" charset="2"/>
              <a:buChar char="§"/>
            </a:pPr>
            <a:r>
              <a:rPr lang="en-US" sz="1600" dirty="0">
                <a:solidFill>
                  <a:schemeClr val="tx1"/>
                </a:solidFill>
                <a:latin typeface="Arial" charset="0"/>
                <a:ea typeface="Arial" charset="0"/>
                <a:cs typeface="Arial" charset="0"/>
              </a:rPr>
              <a:t>Departure time of the trip (starting from home)</a:t>
            </a:r>
          </a:p>
          <a:p>
            <a:pPr marL="742950" lvl="1" indent="-285750">
              <a:spcBef>
                <a:spcPts val="600"/>
              </a:spcBef>
              <a:buFont typeface="Wingdings" panose="05000000000000000000" pitchFamily="2" charset="2"/>
              <a:buChar char="§"/>
            </a:pPr>
            <a:r>
              <a:rPr lang="en-US" sz="1600" dirty="0">
                <a:latin typeface="Arial" charset="0"/>
                <a:ea typeface="Arial" charset="0"/>
                <a:cs typeface="Arial" charset="0"/>
              </a:rPr>
              <a:t>Presence of a time constraint (appointment) – Yes/No</a:t>
            </a:r>
          </a:p>
          <a:p>
            <a:pPr marL="1200150" lvl="2" indent="-285750">
              <a:spcBef>
                <a:spcPts val="600"/>
              </a:spcBef>
              <a:buFont typeface="Wingdings" panose="05000000000000000000" pitchFamily="2" charset="2"/>
              <a:buChar char="§"/>
            </a:pPr>
            <a:r>
              <a:rPr lang="en-US" sz="1600" dirty="0">
                <a:solidFill>
                  <a:schemeClr val="tx1"/>
                </a:solidFill>
                <a:latin typeface="Arial" charset="0"/>
                <a:ea typeface="Arial" charset="0"/>
                <a:cs typeface="Arial" charset="0"/>
              </a:rPr>
              <a:t>If yes, constraint on: time of arrival/departure</a:t>
            </a:r>
          </a:p>
          <a:p>
            <a:pPr marL="742950" lvl="1" indent="-285750">
              <a:spcBef>
                <a:spcPts val="600"/>
              </a:spcBef>
              <a:buFont typeface="Wingdings" panose="05000000000000000000" pitchFamily="2" charset="2"/>
              <a:buChar char="§"/>
            </a:pPr>
            <a:r>
              <a:rPr lang="en-US" sz="1600" dirty="0">
                <a:solidFill>
                  <a:schemeClr val="tx1"/>
                </a:solidFill>
                <a:latin typeface="Arial" charset="0"/>
                <a:ea typeface="Arial" charset="0"/>
                <a:cs typeface="Arial" charset="0"/>
              </a:rPr>
              <a:t>Access and egress information (in case of a primary mode being bus/rail) </a:t>
            </a:r>
          </a:p>
          <a:p>
            <a:pPr marL="1200150" lvl="2" indent="-285750">
              <a:spcBef>
                <a:spcPts val="600"/>
              </a:spcBef>
              <a:buFont typeface="Wingdings" panose="05000000000000000000" pitchFamily="2" charset="2"/>
              <a:buChar char="§"/>
            </a:pPr>
            <a:r>
              <a:rPr lang="en-US" sz="1600" dirty="0">
                <a:latin typeface="Arial" charset="0"/>
                <a:ea typeface="Arial" charset="0"/>
                <a:cs typeface="Arial" charset="0"/>
              </a:rPr>
              <a:t>Access location and egress location for each leg of the journey</a:t>
            </a:r>
          </a:p>
          <a:p>
            <a:pPr marL="1200150" lvl="2" indent="-285750">
              <a:spcBef>
                <a:spcPts val="600"/>
              </a:spcBef>
              <a:buFont typeface="Wingdings" panose="05000000000000000000" pitchFamily="2" charset="2"/>
              <a:buChar char="§"/>
            </a:pPr>
            <a:r>
              <a:rPr lang="en-US" sz="1600" dirty="0">
                <a:solidFill>
                  <a:schemeClr val="tx1"/>
                </a:solidFill>
                <a:latin typeface="Arial" charset="0"/>
                <a:ea typeface="Arial" charset="0"/>
                <a:cs typeface="Arial" charset="0"/>
              </a:rPr>
              <a:t>Access mode and egress mode</a:t>
            </a:r>
          </a:p>
          <a:p>
            <a:pPr marL="742950" lvl="1" indent="-285750">
              <a:spcBef>
                <a:spcPts val="600"/>
              </a:spcBef>
              <a:buFont typeface="Wingdings" panose="05000000000000000000" pitchFamily="2" charset="2"/>
              <a:buChar char="§"/>
            </a:pPr>
            <a:r>
              <a:rPr lang="en-US" sz="1600" dirty="0">
                <a:solidFill>
                  <a:schemeClr val="tx1"/>
                </a:solidFill>
                <a:latin typeface="Arial" charset="0"/>
                <a:ea typeface="Arial" charset="0"/>
                <a:cs typeface="Arial" charset="0"/>
              </a:rPr>
              <a:t>Cost of the trip (in case of taxi/cab being the primary mode)</a:t>
            </a:r>
          </a:p>
          <a:p>
            <a:pPr marL="1200150" lvl="2" indent="-285750">
              <a:spcBef>
                <a:spcPts val="600"/>
              </a:spcBef>
              <a:buFont typeface="Wingdings" panose="05000000000000000000" pitchFamily="2" charset="2"/>
              <a:buChar char="§"/>
            </a:pPr>
            <a:r>
              <a:rPr lang="en-US" sz="1600" dirty="0">
                <a:latin typeface="Arial" charset="0"/>
                <a:ea typeface="Arial" charset="0"/>
                <a:cs typeface="Arial" charset="0"/>
              </a:rPr>
              <a:t>Parking cost</a:t>
            </a:r>
            <a:endParaRPr lang="en-US" sz="1600" dirty="0">
              <a:solidFill>
                <a:schemeClr val="tx1"/>
              </a:solidFill>
              <a:latin typeface="Arial" charset="0"/>
              <a:ea typeface="Arial" charset="0"/>
              <a:cs typeface="Arial" charset="0"/>
            </a:endParaRPr>
          </a:p>
        </p:txBody>
      </p:sp>
      <p:sp>
        <p:nvSpPr>
          <p:cNvPr id="4" name="Text Placeholder 2">
            <a:extLst>
              <a:ext uri="{FF2B5EF4-FFF2-40B4-BE49-F238E27FC236}">
                <a16:creationId xmlns:a16="http://schemas.microsoft.com/office/drawing/2014/main" id="{903D9683-5D03-1483-2057-16D94CB041F0}"/>
              </a:ext>
            </a:extLst>
          </p:cNvPr>
          <p:cNvSpPr txBox="1">
            <a:spLocks/>
          </p:cNvSpPr>
          <p:nvPr/>
        </p:nvSpPr>
        <p:spPr>
          <a:xfrm>
            <a:off x="236311" y="970989"/>
            <a:ext cx="5819775" cy="82800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2800" b="1" dirty="0">
                <a:solidFill>
                  <a:schemeClr val="tx1"/>
                </a:solidFill>
                <a:latin typeface="Arial" charset="0"/>
                <a:ea typeface="Arial" charset="0"/>
                <a:cs typeface="Arial" charset="0"/>
              </a:rPr>
              <a:t>Survey description</a:t>
            </a:r>
          </a:p>
        </p:txBody>
      </p:sp>
      <p:sp>
        <p:nvSpPr>
          <p:cNvPr id="5" name="Date Placeholder 4">
            <a:extLst>
              <a:ext uri="{FF2B5EF4-FFF2-40B4-BE49-F238E27FC236}">
                <a16:creationId xmlns:a16="http://schemas.microsoft.com/office/drawing/2014/main" id="{E3C6D32F-FD0C-3FCE-F8D5-3051AE0C8891}"/>
              </a:ext>
            </a:extLst>
          </p:cNvPr>
          <p:cNvSpPr>
            <a:spLocks noGrp="1"/>
          </p:cNvSpPr>
          <p:nvPr>
            <p:ph type="dt" sz="half" idx="10"/>
          </p:nvPr>
        </p:nvSpPr>
        <p:spPr/>
        <p:txBody>
          <a:bodyPr/>
          <a:lstStyle/>
          <a:p>
            <a:fld id="{279474AD-DB72-4941-AAC5-65CBDCEEA127}" type="datetime1">
              <a:rPr lang="en-US" smtClean="0"/>
              <a:t>4/12/2024</a:t>
            </a:fld>
            <a:endParaRPr lang="en-US" dirty="0"/>
          </a:p>
        </p:txBody>
      </p:sp>
      <p:sp>
        <p:nvSpPr>
          <p:cNvPr id="6" name="Slide Number Placeholder 5">
            <a:extLst>
              <a:ext uri="{FF2B5EF4-FFF2-40B4-BE49-F238E27FC236}">
                <a16:creationId xmlns:a16="http://schemas.microsoft.com/office/drawing/2014/main" id="{390ECE11-2D5A-73ED-067F-4CB2145107EF}"/>
              </a:ext>
            </a:extLst>
          </p:cNvPr>
          <p:cNvSpPr>
            <a:spLocks noGrp="1"/>
          </p:cNvSpPr>
          <p:nvPr>
            <p:ph type="sldNum" sz="quarter" idx="12"/>
          </p:nvPr>
        </p:nvSpPr>
        <p:spPr/>
        <p:txBody>
          <a:bodyPr/>
          <a:lstStyle/>
          <a:p>
            <a:fld id="{03E8056C-9350-3E4B-911C-FCF80EDBFE79}" type="slidenum">
              <a:rPr lang="en-US" smtClean="0"/>
              <a:t>9</a:t>
            </a:fld>
            <a:endParaRPr lang="en-US" dirty="0"/>
          </a:p>
        </p:txBody>
      </p:sp>
    </p:spTree>
    <p:extLst>
      <p:ext uri="{BB962C8B-B14F-4D97-AF65-F5344CB8AC3E}">
        <p14:creationId xmlns:p14="http://schemas.microsoft.com/office/powerpoint/2010/main" val="36319139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3" name="Title 2" hidden="1">
            <a:extLst>
              <a:ext uri="{FF2B5EF4-FFF2-40B4-BE49-F238E27FC236}">
                <a16:creationId xmlns:a16="http://schemas.microsoft.com/office/drawing/2014/main" id="{7D116104-B4E7-6642-8EAB-49A402AED74A}"/>
              </a:ext>
            </a:extLst>
          </p:cNvPr>
          <p:cNvSpPr>
            <a:spLocks noGrp="1"/>
          </p:cNvSpPr>
          <p:nvPr>
            <p:ph type="ctrTitle"/>
          </p:nvPr>
        </p:nvSpPr>
        <p:spPr/>
        <p:txBody>
          <a:bodyPr/>
          <a:lstStyle/>
          <a:p>
            <a:r>
              <a:rPr lang="en-US" dirty="0"/>
              <a:t>Information on how to use images</a:t>
            </a:r>
          </a:p>
        </p:txBody>
      </p:sp>
      <p:sp>
        <p:nvSpPr>
          <p:cNvPr id="2" name="Text Placeholder 1"/>
          <p:cNvSpPr txBox="1">
            <a:spLocks/>
          </p:cNvSpPr>
          <p:nvPr/>
        </p:nvSpPr>
        <p:spPr>
          <a:xfrm>
            <a:off x="310696" y="1879599"/>
            <a:ext cx="11532961" cy="4835833"/>
          </a:xfrm>
          <a:prstGeom prst="rect">
            <a:avLst/>
          </a:prstGeom>
        </p:spPr>
        <p:txBody>
          <a:bodyPr vert="horz" lIns="91440" tIns="45720" rIns="91440" bIns="45720" rtlCol="0" anchor="t"/>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ts val="600"/>
              </a:spcBef>
            </a:pPr>
            <a:r>
              <a:rPr lang="en-US" sz="2400" b="1" dirty="0">
                <a:solidFill>
                  <a:schemeClr val="tx1"/>
                </a:solidFill>
                <a:latin typeface="Times New Roman" panose="02020603050405020304" pitchFamily="18" charset="0"/>
                <a:ea typeface="Arial" charset="0"/>
                <a:cs typeface="Times New Roman" panose="02020603050405020304" pitchFamily="18" charset="0"/>
              </a:rPr>
              <a:t>Stated choice </a:t>
            </a:r>
          </a:p>
          <a:p>
            <a:pPr>
              <a:spcBef>
                <a:spcPts val="600"/>
              </a:spcBef>
            </a:pPr>
            <a:r>
              <a:rPr lang="en-US" sz="1600" dirty="0">
                <a:solidFill>
                  <a:schemeClr val="tx1"/>
                </a:solidFill>
                <a:latin typeface="Times New Roman" panose="02020603050405020304" pitchFamily="18" charset="0"/>
                <a:ea typeface="Arial" charset="0"/>
                <a:cs typeface="Times New Roman" panose="02020603050405020304" pitchFamily="18" charset="0"/>
              </a:rPr>
              <a:t>Design strategy: Pivot based D-efficient design</a:t>
            </a:r>
            <a:endParaRPr lang="en-US" sz="1600" dirty="0">
              <a:solidFill>
                <a:schemeClr val="tx1"/>
              </a:solidFill>
              <a:latin typeface="Arial" charset="0"/>
              <a:ea typeface="Arial" charset="0"/>
              <a:cs typeface="Arial" charset="0"/>
            </a:endParaRPr>
          </a:p>
          <a:p>
            <a:pPr marL="285750" indent="-285750">
              <a:spcBef>
                <a:spcPts val="600"/>
              </a:spcBef>
              <a:buFont typeface="Arial" panose="020B0604020202020204" pitchFamily="34" charset="0"/>
              <a:buChar char="•"/>
            </a:pPr>
            <a:r>
              <a:rPr lang="en-US" sz="1600" dirty="0">
                <a:solidFill>
                  <a:schemeClr val="tx1"/>
                </a:solidFill>
                <a:latin typeface="Arial" charset="0"/>
                <a:ea typeface="Arial" charset="0"/>
                <a:cs typeface="Arial" charset="0"/>
              </a:rPr>
              <a:t>Stated choice experiment</a:t>
            </a:r>
            <a:r>
              <a:rPr lang="en-US" sz="1600" b="1" dirty="0">
                <a:solidFill>
                  <a:schemeClr val="tx1"/>
                </a:solidFill>
                <a:latin typeface="Arial" charset="0"/>
                <a:ea typeface="Arial" charset="0"/>
                <a:cs typeface="Arial" charset="0"/>
              </a:rPr>
              <a:t>:</a:t>
            </a:r>
          </a:p>
          <a:p>
            <a:pPr marL="742950" lvl="1" indent="-285750">
              <a:spcBef>
                <a:spcPts val="600"/>
              </a:spcBef>
              <a:buFont typeface="Wingdings" panose="05000000000000000000" pitchFamily="2" charset="2"/>
              <a:buChar char="§"/>
            </a:pPr>
            <a:r>
              <a:rPr lang="en-US" sz="1600" dirty="0">
                <a:solidFill>
                  <a:schemeClr val="tx1"/>
                </a:solidFill>
                <a:latin typeface="Arial" charset="0"/>
                <a:ea typeface="Arial" charset="0"/>
                <a:cs typeface="Arial" charset="0"/>
              </a:rPr>
              <a:t>Pivoting-off of the randomly selected trip.</a:t>
            </a:r>
          </a:p>
          <a:p>
            <a:pPr marL="742950" lvl="1" indent="-285750">
              <a:spcBef>
                <a:spcPts val="600"/>
              </a:spcBef>
              <a:buFont typeface="Wingdings" panose="05000000000000000000" pitchFamily="2" charset="2"/>
              <a:buChar char="§"/>
            </a:pPr>
            <a:r>
              <a:rPr lang="en-US" sz="1600" dirty="0">
                <a:latin typeface="Arial" charset="0"/>
                <a:ea typeface="Arial" charset="0"/>
                <a:cs typeface="Arial" charset="0"/>
              </a:rPr>
              <a:t>Trade-offs are evaluated with the chosen mode (or, status quo (SQ)) – Primary alternative</a:t>
            </a:r>
          </a:p>
          <a:p>
            <a:pPr marL="742950" lvl="1" indent="-285750">
              <a:spcBef>
                <a:spcPts val="600"/>
              </a:spcBef>
              <a:buFont typeface="Wingdings" panose="05000000000000000000" pitchFamily="2" charset="2"/>
              <a:buChar char="§"/>
            </a:pPr>
            <a:r>
              <a:rPr lang="en-US" sz="1600" dirty="0">
                <a:solidFill>
                  <a:schemeClr val="tx1"/>
                </a:solidFill>
                <a:latin typeface="Arial" charset="0"/>
                <a:ea typeface="Arial" charset="0"/>
                <a:cs typeface="Arial" charset="0"/>
              </a:rPr>
              <a:t>DRT modes are presented as unlabeled choice options, with SQ included in the choice set.</a:t>
            </a:r>
          </a:p>
          <a:p>
            <a:pPr marL="742950" lvl="1" indent="-285750">
              <a:spcBef>
                <a:spcPts val="600"/>
              </a:spcBef>
              <a:buFont typeface="Wingdings" panose="05000000000000000000" pitchFamily="2" charset="2"/>
              <a:buChar char="§"/>
            </a:pPr>
            <a:r>
              <a:rPr lang="en-US" sz="1600" dirty="0">
                <a:latin typeface="Arial" charset="0"/>
                <a:ea typeface="Arial" charset="0"/>
                <a:cs typeface="Arial" charset="0"/>
              </a:rPr>
              <a:t>Attributes of SQ are kept same as the reported in the revealed preference survey.</a:t>
            </a:r>
            <a:r>
              <a:rPr lang="en-US" sz="1600" dirty="0">
                <a:solidFill>
                  <a:schemeClr val="tx1"/>
                </a:solidFill>
                <a:latin typeface="Arial" charset="0"/>
                <a:ea typeface="Arial" charset="0"/>
                <a:cs typeface="Arial" charset="0"/>
              </a:rPr>
              <a:t> </a:t>
            </a:r>
          </a:p>
        </p:txBody>
      </p:sp>
      <p:sp>
        <p:nvSpPr>
          <p:cNvPr id="4" name="Text Placeholder 2">
            <a:extLst>
              <a:ext uri="{FF2B5EF4-FFF2-40B4-BE49-F238E27FC236}">
                <a16:creationId xmlns:a16="http://schemas.microsoft.com/office/drawing/2014/main" id="{903D9683-5D03-1483-2057-16D94CB041F0}"/>
              </a:ext>
            </a:extLst>
          </p:cNvPr>
          <p:cNvSpPr txBox="1">
            <a:spLocks/>
          </p:cNvSpPr>
          <p:nvPr/>
        </p:nvSpPr>
        <p:spPr>
          <a:xfrm>
            <a:off x="236311" y="970989"/>
            <a:ext cx="5819775" cy="82800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2800" b="1" dirty="0">
                <a:solidFill>
                  <a:schemeClr val="tx1"/>
                </a:solidFill>
                <a:latin typeface="Arial" charset="0"/>
                <a:ea typeface="Arial" charset="0"/>
                <a:cs typeface="Arial" charset="0"/>
              </a:rPr>
              <a:t>Survey description</a:t>
            </a:r>
          </a:p>
        </p:txBody>
      </p:sp>
      <p:sp>
        <p:nvSpPr>
          <p:cNvPr id="5" name="Date Placeholder 4">
            <a:extLst>
              <a:ext uri="{FF2B5EF4-FFF2-40B4-BE49-F238E27FC236}">
                <a16:creationId xmlns:a16="http://schemas.microsoft.com/office/drawing/2014/main" id="{788CDD46-CBA8-E996-C1D3-ABD46F1DCE1A}"/>
              </a:ext>
            </a:extLst>
          </p:cNvPr>
          <p:cNvSpPr>
            <a:spLocks noGrp="1"/>
          </p:cNvSpPr>
          <p:nvPr>
            <p:ph type="dt" sz="half" idx="10"/>
          </p:nvPr>
        </p:nvSpPr>
        <p:spPr/>
        <p:txBody>
          <a:bodyPr/>
          <a:lstStyle/>
          <a:p>
            <a:fld id="{7091C322-5D20-4285-8624-5BA3F8BB17DC}" type="datetime1">
              <a:rPr lang="en-US" smtClean="0"/>
              <a:t>4/12/2024</a:t>
            </a:fld>
            <a:endParaRPr lang="en-US"/>
          </a:p>
        </p:txBody>
      </p:sp>
      <p:sp>
        <p:nvSpPr>
          <p:cNvPr id="6" name="Slide Number Placeholder 5">
            <a:extLst>
              <a:ext uri="{FF2B5EF4-FFF2-40B4-BE49-F238E27FC236}">
                <a16:creationId xmlns:a16="http://schemas.microsoft.com/office/drawing/2014/main" id="{F828E89A-4C6C-57F3-7EFE-BC72B11302C3}"/>
              </a:ext>
            </a:extLst>
          </p:cNvPr>
          <p:cNvSpPr>
            <a:spLocks noGrp="1"/>
          </p:cNvSpPr>
          <p:nvPr>
            <p:ph type="sldNum" sz="quarter" idx="12"/>
          </p:nvPr>
        </p:nvSpPr>
        <p:spPr/>
        <p:txBody>
          <a:bodyPr/>
          <a:lstStyle/>
          <a:p>
            <a:fld id="{03E8056C-9350-3E4B-911C-FCF80EDBFE79}" type="slidenum">
              <a:rPr lang="en-US" smtClean="0"/>
              <a:t>10</a:t>
            </a:fld>
            <a:endParaRPr lang="en-US"/>
          </a:p>
        </p:txBody>
      </p:sp>
    </p:spTree>
    <p:extLst>
      <p:ext uri="{BB962C8B-B14F-4D97-AF65-F5344CB8AC3E}">
        <p14:creationId xmlns:p14="http://schemas.microsoft.com/office/powerpoint/2010/main" val="18535805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3" name="Title 2" hidden="1">
            <a:extLst>
              <a:ext uri="{FF2B5EF4-FFF2-40B4-BE49-F238E27FC236}">
                <a16:creationId xmlns:a16="http://schemas.microsoft.com/office/drawing/2014/main" id="{7D116104-B4E7-6642-8EAB-49A402AED74A}"/>
              </a:ext>
            </a:extLst>
          </p:cNvPr>
          <p:cNvSpPr>
            <a:spLocks noGrp="1"/>
          </p:cNvSpPr>
          <p:nvPr>
            <p:ph type="ctrTitle"/>
          </p:nvPr>
        </p:nvSpPr>
        <p:spPr/>
        <p:txBody>
          <a:bodyPr/>
          <a:lstStyle/>
          <a:p>
            <a:r>
              <a:rPr lang="en-US" dirty="0"/>
              <a:t>Information on how to use images</a:t>
            </a:r>
          </a:p>
        </p:txBody>
      </p:sp>
      <p:sp>
        <p:nvSpPr>
          <p:cNvPr id="2" name="Text Placeholder 1"/>
          <p:cNvSpPr txBox="1">
            <a:spLocks/>
          </p:cNvSpPr>
          <p:nvPr/>
        </p:nvSpPr>
        <p:spPr>
          <a:xfrm>
            <a:off x="310696" y="1879599"/>
            <a:ext cx="11532961" cy="4835833"/>
          </a:xfrm>
          <a:prstGeom prst="rect">
            <a:avLst/>
          </a:prstGeom>
        </p:spPr>
        <p:txBody>
          <a:bodyPr vert="horz" lIns="91440" tIns="45720" rIns="91440" bIns="45720" rtlCol="0" anchor="t"/>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ts val="600"/>
              </a:spcBef>
            </a:pPr>
            <a:r>
              <a:rPr lang="en-US" sz="2400" b="1" dirty="0">
                <a:solidFill>
                  <a:schemeClr val="tx1"/>
                </a:solidFill>
                <a:latin typeface="Times New Roman" panose="02020603050405020304" pitchFamily="18" charset="0"/>
                <a:ea typeface="Arial" charset="0"/>
                <a:cs typeface="Times New Roman" panose="02020603050405020304" pitchFamily="18" charset="0"/>
              </a:rPr>
              <a:t>Stated choice</a:t>
            </a:r>
          </a:p>
          <a:p>
            <a:pPr marL="285750" indent="-285750">
              <a:spcBef>
                <a:spcPts val="600"/>
              </a:spcBef>
              <a:buFont typeface="Arial" panose="020B0604020202020204" pitchFamily="34" charset="0"/>
              <a:buChar char="•"/>
            </a:pPr>
            <a:r>
              <a:rPr lang="en-US" sz="1600" dirty="0">
                <a:solidFill>
                  <a:schemeClr val="tx1"/>
                </a:solidFill>
                <a:latin typeface="Arial" charset="0"/>
                <a:ea typeface="Arial" charset="0"/>
                <a:cs typeface="Arial" charset="0"/>
              </a:rPr>
              <a:t>Stated choice experiment</a:t>
            </a:r>
            <a:r>
              <a:rPr lang="en-US" sz="1600" b="1" dirty="0">
                <a:solidFill>
                  <a:schemeClr val="tx1"/>
                </a:solidFill>
                <a:latin typeface="Arial" charset="0"/>
                <a:ea typeface="Arial" charset="0"/>
                <a:cs typeface="Arial" charset="0"/>
              </a:rPr>
              <a:t>: Attribute levels</a:t>
            </a:r>
          </a:p>
        </p:txBody>
      </p:sp>
      <p:sp>
        <p:nvSpPr>
          <p:cNvPr id="4" name="Text Placeholder 2">
            <a:extLst>
              <a:ext uri="{FF2B5EF4-FFF2-40B4-BE49-F238E27FC236}">
                <a16:creationId xmlns:a16="http://schemas.microsoft.com/office/drawing/2014/main" id="{903D9683-5D03-1483-2057-16D94CB041F0}"/>
              </a:ext>
            </a:extLst>
          </p:cNvPr>
          <p:cNvSpPr txBox="1">
            <a:spLocks/>
          </p:cNvSpPr>
          <p:nvPr/>
        </p:nvSpPr>
        <p:spPr>
          <a:xfrm>
            <a:off x="236311" y="970989"/>
            <a:ext cx="5819775" cy="82800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2800" b="1" dirty="0">
                <a:solidFill>
                  <a:schemeClr val="tx1"/>
                </a:solidFill>
                <a:latin typeface="Arial" charset="0"/>
                <a:ea typeface="Arial" charset="0"/>
                <a:cs typeface="Arial" charset="0"/>
              </a:rPr>
              <a:t>Survey description</a:t>
            </a:r>
          </a:p>
        </p:txBody>
      </p:sp>
      <p:grpSp>
        <p:nvGrpSpPr>
          <p:cNvPr id="10" name="Group 9">
            <a:extLst>
              <a:ext uri="{FF2B5EF4-FFF2-40B4-BE49-F238E27FC236}">
                <a16:creationId xmlns:a16="http://schemas.microsoft.com/office/drawing/2014/main" id="{4262A175-C486-CCCE-1C30-8B0A7D6CCC1B}"/>
              </a:ext>
            </a:extLst>
          </p:cNvPr>
          <p:cNvGrpSpPr/>
          <p:nvPr/>
        </p:nvGrpSpPr>
        <p:grpSpPr>
          <a:xfrm>
            <a:off x="1730477" y="2772703"/>
            <a:ext cx="8092782" cy="3227045"/>
            <a:chOff x="411711" y="3096719"/>
            <a:chExt cx="5865615" cy="3227045"/>
          </a:xfrm>
        </p:grpSpPr>
        <p:graphicFrame>
          <p:nvGraphicFramePr>
            <p:cNvPr id="5" name="Group 1448">
              <a:extLst>
                <a:ext uri="{FF2B5EF4-FFF2-40B4-BE49-F238E27FC236}">
                  <a16:creationId xmlns:a16="http://schemas.microsoft.com/office/drawing/2014/main" id="{C2589AD7-BEF7-4067-0855-E0059118D2D2}"/>
                </a:ext>
              </a:extLst>
            </p:cNvPr>
            <p:cNvGraphicFramePr>
              <a:graphicFrameLocks/>
            </p:cNvGraphicFramePr>
            <p:nvPr>
              <p:extLst>
                <p:ext uri="{D42A27DB-BD31-4B8C-83A1-F6EECF244321}">
                  <p14:modId xmlns:p14="http://schemas.microsoft.com/office/powerpoint/2010/main" val="2708922292"/>
                </p:ext>
              </p:extLst>
            </p:nvPr>
          </p:nvGraphicFramePr>
          <p:xfrm>
            <a:off x="411711" y="3096719"/>
            <a:ext cx="5865615" cy="3227045"/>
          </p:xfrm>
          <a:graphic>
            <a:graphicData uri="http://schemas.openxmlformats.org/drawingml/2006/table">
              <a:tbl>
                <a:tblPr firstRow="1"/>
                <a:tblGrid>
                  <a:gridCol w="3020540">
                    <a:extLst>
                      <a:ext uri="{9D8B030D-6E8A-4147-A177-3AD203B41FA5}">
                        <a16:colId xmlns:a16="http://schemas.microsoft.com/office/drawing/2014/main" val="20000"/>
                      </a:ext>
                    </a:extLst>
                  </a:gridCol>
                  <a:gridCol w="1672121">
                    <a:extLst>
                      <a:ext uri="{9D8B030D-6E8A-4147-A177-3AD203B41FA5}">
                        <a16:colId xmlns:a16="http://schemas.microsoft.com/office/drawing/2014/main" val="20001"/>
                      </a:ext>
                    </a:extLst>
                  </a:gridCol>
                  <a:gridCol w="1672121">
                    <a:extLst>
                      <a:ext uri="{9D8B030D-6E8A-4147-A177-3AD203B41FA5}">
                        <a16:colId xmlns:a16="http://schemas.microsoft.com/office/drawing/2014/main" val="20002"/>
                      </a:ext>
                    </a:extLst>
                  </a:gridCol>
                  <a:gridCol w="1728000">
                    <a:extLst>
                      <a:ext uri="{9D8B030D-6E8A-4147-A177-3AD203B41FA5}">
                        <a16:colId xmlns:a16="http://schemas.microsoft.com/office/drawing/2014/main" val="20003"/>
                      </a:ext>
                    </a:extLst>
                  </a:gridCol>
                </a:tblGrid>
                <a:tr h="711927">
                  <a:tc>
                    <a:txBody>
                      <a:bodyPr/>
                      <a:lstStyle>
                        <a:lvl1pPr>
                          <a:spcBef>
                            <a:spcPct val="0"/>
                          </a:spcBef>
                          <a:spcAft>
                            <a:spcPct val="40000"/>
                          </a:spcAft>
                          <a:defRPr sz="2000">
                            <a:solidFill>
                              <a:schemeClr val="tx1"/>
                            </a:solidFill>
                            <a:latin typeface="Arial" charset="0"/>
                          </a:defRPr>
                        </a:lvl1pPr>
                        <a:lvl2pPr marL="742950" indent="-285750">
                          <a:spcBef>
                            <a:spcPct val="0"/>
                          </a:spcBef>
                          <a:spcAft>
                            <a:spcPct val="40000"/>
                          </a:spcAft>
                          <a:defRPr>
                            <a:solidFill>
                              <a:schemeClr val="tx1"/>
                            </a:solidFill>
                            <a:latin typeface="Arial" charset="0"/>
                          </a:defRPr>
                        </a:lvl2pPr>
                        <a:lvl3pPr marL="1143000" indent="-228600">
                          <a:spcBef>
                            <a:spcPct val="0"/>
                          </a:spcBef>
                          <a:spcAft>
                            <a:spcPct val="40000"/>
                          </a:spcAft>
                          <a:defRPr>
                            <a:solidFill>
                              <a:schemeClr val="tx1"/>
                            </a:solidFill>
                            <a:latin typeface="Arial" charset="0"/>
                          </a:defRPr>
                        </a:lvl3pPr>
                        <a:lvl4pPr marL="1600200" indent="-228600">
                          <a:spcBef>
                            <a:spcPct val="0"/>
                          </a:spcBef>
                          <a:spcAft>
                            <a:spcPct val="40000"/>
                          </a:spcAft>
                          <a:defRPr>
                            <a:solidFill>
                              <a:schemeClr val="tx1"/>
                            </a:solidFill>
                            <a:latin typeface="Arial" charset="0"/>
                          </a:defRPr>
                        </a:lvl4pPr>
                        <a:lvl5pPr marL="2057400" indent="-228600">
                          <a:spcBef>
                            <a:spcPct val="0"/>
                          </a:spcBef>
                          <a:spcAft>
                            <a:spcPct val="40000"/>
                          </a:spcAft>
                          <a:defRPr>
                            <a:solidFill>
                              <a:schemeClr val="tx1"/>
                            </a:solidFill>
                            <a:latin typeface="Arial" charset="0"/>
                          </a:defRPr>
                        </a:lvl5pPr>
                        <a:lvl6pPr marL="2514600" indent="-228600" fontAlgn="base">
                          <a:spcBef>
                            <a:spcPct val="0"/>
                          </a:spcBef>
                          <a:spcAft>
                            <a:spcPct val="40000"/>
                          </a:spcAft>
                          <a:defRPr>
                            <a:solidFill>
                              <a:schemeClr val="tx1"/>
                            </a:solidFill>
                            <a:latin typeface="Arial" charset="0"/>
                          </a:defRPr>
                        </a:lvl6pPr>
                        <a:lvl7pPr marL="2971800" indent="-228600" fontAlgn="base">
                          <a:spcBef>
                            <a:spcPct val="0"/>
                          </a:spcBef>
                          <a:spcAft>
                            <a:spcPct val="40000"/>
                          </a:spcAft>
                          <a:defRPr>
                            <a:solidFill>
                              <a:schemeClr val="tx1"/>
                            </a:solidFill>
                            <a:latin typeface="Arial" charset="0"/>
                          </a:defRPr>
                        </a:lvl7pPr>
                        <a:lvl8pPr marL="3429000" indent="-228600" fontAlgn="base">
                          <a:spcBef>
                            <a:spcPct val="0"/>
                          </a:spcBef>
                          <a:spcAft>
                            <a:spcPct val="40000"/>
                          </a:spcAft>
                          <a:defRPr>
                            <a:solidFill>
                              <a:schemeClr val="tx1"/>
                            </a:solidFill>
                            <a:latin typeface="Arial" charset="0"/>
                          </a:defRPr>
                        </a:lvl8pPr>
                        <a:lvl9pPr marL="3886200" indent="-228600" fontAlgn="base">
                          <a:spcBef>
                            <a:spcPct val="0"/>
                          </a:spcBef>
                          <a:spcAft>
                            <a:spcPct val="40000"/>
                          </a:spcAft>
                          <a:defRPr>
                            <a:solidFill>
                              <a:schemeClr val="tx1"/>
                            </a:solidFill>
                            <a:latin typeface="Arial" charset="0"/>
                          </a:defRPr>
                        </a:lvl9pPr>
                      </a:lstStyle>
                      <a:p>
                        <a:pPr marL="0" marR="0" lvl="0" indent="0" algn="l" defTabSz="914400" rtl="0" eaLnBrk="1" fontAlgn="base" latinLnBrk="0" hangingPunct="1">
                          <a:lnSpc>
                            <a:spcPct val="100000"/>
                          </a:lnSpc>
                          <a:spcBef>
                            <a:spcPct val="0"/>
                          </a:spcBef>
                          <a:spcAft>
                            <a:spcPct val="40000"/>
                          </a:spcAft>
                          <a:buClrTx/>
                          <a:buSzTx/>
                          <a:buFontTx/>
                          <a:buNone/>
                          <a:tabLst/>
                        </a:pPr>
                        <a:r>
                          <a:rPr kumimoji="0" lang="en-GB" altLang="en-US" sz="1400" b="0" i="0" u="none" strike="noStrike" cap="none" normalizeH="0" baseline="0" dirty="0">
                            <a:ln>
                              <a:noFill/>
                            </a:ln>
                            <a:solidFill>
                              <a:schemeClr val="bg1"/>
                            </a:solidFill>
                            <a:effectLst/>
                            <a:latin typeface="Arial" charset="0"/>
                          </a:rPr>
                          <a:t>Levels (Range/Values)</a:t>
                        </a:r>
                      </a:p>
                      <a:p>
                        <a:pPr marL="0" marR="0" lvl="0" indent="0" algn="l" defTabSz="914400" rtl="0" eaLnBrk="1" fontAlgn="base" latinLnBrk="0" hangingPunct="1">
                          <a:lnSpc>
                            <a:spcPct val="100000"/>
                          </a:lnSpc>
                          <a:spcBef>
                            <a:spcPct val="0"/>
                          </a:spcBef>
                          <a:spcAft>
                            <a:spcPct val="40000"/>
                          </a:spcAft>
                          <a:buClrTx/>
                          <a:buSzTx/>
                          <a:buFontTx/>
                          <a:buNone/>
                          <a:tabLst/>
                        </a:pPr>
                        <a:r>
                          <a:rPr kumimoji="0" lang="en-GB" altLang="en-US" sz="1400" b="0" i="0" u="none" strike="noStrike" cap="none" normalizeH="0" baseline="0" dirty="0">
                            <a:ln>
                              <a:noFill/>
                            </a:ln>
                            <a:solidFill>
                              <a:schemeClr val="bg1"/>
                            </a:solidFill>
                            <a:effectLst/>
                            <a:latin typeface="Arial" charset="0"/>
                          </a:rPr>
                          <a:t>Attribute</a:t>
                        </a:r>
                      </a:p>
                    </a:txBody>
                    <a:tcPr marL="71025" marR="71025" marT="35512" marB="3551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lvl1pPr>
                          <a:spcBef>
                            <a:spcPct val="0"/>
                          </a:spcBef>
                          <a:spcAft>
                            <a:spcPct val="40000"/>
                          </a:spcAft>
                          <a:defRPr sz="2000">
                            <a:solidFill>
                              <a:schemeClr val="tx1"/>
                            </a:solidFill>
                            <a:latin typeface="Arial" charset="0"/>
                          </a:defRPr>
                        </a:lvl1pPr>
                        <a:lvl2pPr marL="742950" indent="-285750">
                          <a:spcBef>
                            <a:spcPct val="0"/>
                          </a:spcBef>
                          <a:spcAft>
                            <a:spcPct val="40000"/>
                          </a:spcAft>
                          <a:defRPr>
                            <a:solidFill>
                              <a:schemeClr val="tx1"/>
                            </a:solidFill>
                            <a:latin typeface="Arial" charset="0"/>
                          </a:defRPr>
                        </a:lvl2pPr>
                        <a:lvl3pPr marL="1143000" indent="-228600">
                          <a:spcBef>
                            <a:spcPct val="0"/>
                          </a:spcBef>
                          <a:spcAft>
                            <a:spcPct val="40000"/>
                          </a:spcAft>
                          <a:defRPr>
                            <a:solidFill>
                              <a:schemeClr val="tx1"/>
                            </a:solidFill>
                            <a:latin typeface="Arial" charset="0"/>
                          </a:defRPr>
                        </a:lvl3pPr>
                        <a:lvl4pPr marL="1600200" indent="-228600">
                          <a:spcBef>
                            <a:spcPct val="0"/>
                          </a:spcBef>
                          <a:spcAft>
                            <a:spcPct val="40000"/>
                          </a:spcAft>
                          <a:defRPr>
                            <a:solidFill>
                              <a:schemeClr val="tx1"/>
                            </a:solidFill>
                            <a:latin typeface="Arial" charset="0"/>
                          </a:defRPr>
                        </a:lvl4pPr>
                        <a:lvl5pPr marL="2057400" indent="-228600">
                          <a:spcBef>
                            <a:spcPct val="0"/>
                          </a:spcBef>
                          <a:spcAft>
                            <a:spcPct val="40000"/>
                          </a:spcAft>
                          <a:defRPr>
                            <a:solidFill>
                              <a:schemeClr val="tx1"/>
                            </a:solidFill>
                            <a:latin typeface="Arial" charset="0"/>
                          </a:defRPr>
                        </a:lvl5pPr>
                        <a:lvl6pPr marL="2514600" indent="-228600" fontAlgn="base">
                          <a:spcBef>
                            <a:spcPct val="0"/>
                          </a:spcBef>
                          <a:spcAft>
                            <a:spcPct val="40000"/>
                          </a:spcAft>
                          <a:defRPr>
                            <a:solidFill>
                              <a:schemeClr val="tx1"/>
                            </a:solidFill>
                            <a:latin typeface="Arial" charset="0"/>
                          </a:defRPr>
                        </a:lvl6pPr>
                        <a:lvl7pPr marL="2971800" indent="-228600" fontAlgn="base">
                          <a:spcBef>
                            <a:spcPct val="0"/>
                          </a:spcBef>
                          <a:spcAft>
                            <a:spcPct val="40000"/>
                          </a:spcAft>
                          <a:defRPr>
                            <a:solidFill>
                              <a:schemeClr val="tx1"/>
                            </a:solidFill>
                            <a:latin typeface="Arial" charset="0"/>
                          </a:defRPr>
                        </a:lvl7pPr>
                        <a:lvl8pPr marL="3429000" indent="-228600" fontAlgn="base">
                          <a:spcBef>
                            <a:spcPct val="0"/>
                          </a:spcBef>
                          <a:spcAft>
                            <a:spcPct val="40000"/>
                          </a:spcAft>
                          <a:defRPr>
                            <a:solidFill>
                              <a:schemeClr val="tx1"/>
                            </a:solidFill>
                            <a:latin typeface="Arial" charset="0"/>
                          </a:defRPr>
                        </a:lvl8pPr>
                        <a:lvl9pPr marL="3886200" indent="-228600" fontAlgn="base">
                          <a:spcBef>
                            <a:spcPct val="0"/>
                          </a:spcBef>
                          <a:spcAft>
                            <a:spcPct val="40000"/>
                          </a:spcAft>
                          <a:defRPr>
                            <a:solidFill>
                              <a:schemeClr val="tx1"/>
                            </a:solidFill>
                            <a:latin typeface="Arial" charset="0"/>
                          </a:defRPr>
                        </a:lvl9pPr>
                      </a:lstStyle>
                      <a:p>
                        <a:pPr marL="0" marR="0" lvl="0" indent="0" algn="ctr" defTabSz="914400" rtl="0" eaLnBrk="1" fontAlgn="base" latinLnBrk="0" hangingPunct="1">
                          <a:lnSpc>
                            <a:spcPct val="100000"/>
                          </a:lnSpc>
                          <a:spcBef>
                            <a:spcPct val="0"/>
                          </a:spcBef>
                          <a:spcAft>
                            <a:spcPct val="40000"/>
                          </a:spcAft>
                          <a:buClrTx/>
                          <a:buSzTx/>
                          <a:buFontTx/>
                          <a:buNone/>
                          <a:tabLst/>
                        </a:pPr>
                        <a:r>
                          <a:rPr kumimoji="0" lang="en-GB" altLang="en-US" sz="1400" b="0" i="0" u="none" strike="noStrike" cap="none" normalizeH="0" baseline="0" dirty="0">
                            <a:ln>
                              <a:noFill/>
                            </a:ln>
                            <a:solidFill>
                              <a:schemeClr val="bg1"/>
                            </a:solidFill>
                            <a:effectLst/>
                            <a:latin typeface="Arial" charset="0"/>
                          </a:rPr>
                          <a:t>Level 1</a:t>
                        </a:r>
                      </a:p>
                    </a:txBody>
                    <a:tcPr marL="71025" marR="71025" marT="35512" marB="3551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lvl1pPr>
                          <a:spcBef>
                            <a:spcPct val="0"/>
                          </a:spcBef>
                          <a:spcAft>
                            <a:spcPct val="40000"/>
                          </a:spcAft>
                          <a:defRPr sz="2000">
                            <a:solidFill>
                              <a:schemeClr val="tx1"/>
                            </a:solidFill>
                            <a:latin typeface="Arial" charset="0"/>
                          </a:defRPr>
                        </a:lvl1pPr>
                        <a:lvl2pPr marL="742950" indent="-285750">
                          <a:spcBef>
                            <a:spcPct val="0"/>
                          </a:spcBef>
                          <a:spcAft>
                            <a:spcPct val="40000"/>
                          </a:spcAft>
                          <a:defRPr>
                            <a:solidFill>
                              <a:schemeClr val="tx1"/>
                            </a:solidFill>
                            <a:latin typeface="Arial" charset="0"/>
                          </a:defRPr>
                        </a:lvl2pPr>
                        <a:lvl3pPr marL="1143000" indent="-228600">
                          <a:spcBef>
                            <a:spcPct val="0"/>
                          </a:spcBef>
                          <a:spcAft>
                            <a:spcPct val="40000"/>
                          </a:spcAft>
                          <a:defRPr>
                            <a:solidFill>
                              <a:schemeClr val="tx1"/>
                            </a:solidFill>
                            <a:latin typeface="Arial" charset="0"/>
                          </a:defRPr>
                        </a:lvl3pPr>
                        <a:lvl4pPr marL="1600200" indent="-228600">
                          <a:spcBef>
                            <a:spcPct val="0"/>
                          </a:spcBef>
                          <a:spcAft>
                            <a:spcPct val="40000"/>
                          </a:spcAft>
                          <a:defRPr>
                            <a:solidFill>
                              <a:schemeClr val="tx1"/>
                            </a:solidFill>
                            <a:latin typeface="Arial" charset="0"/>
                          </a:defRPr>
                        </a:lvl4pPr>
                        <a:lvl5pPr marL="2057400" indent="-228600">
                          <a:spcBef>
                            <a:spcPct val="0"/>
                          </a:spcBef>
                          <a:spcAft>
                            <a:spcPct val="40000"/>
                          </a:spcAft>
                          <a:defRPr>
                            <a:solidFill>
                              <a:schemeClr val="tx1"/>
                            </a:solidFill>
                            <a:latin typeface="Arial" charset="0"/>
                          </a:defRPr>
                        </a:lvl5pPr>
                        <a:lvl6pPr marL="2514600" indent="-228600" fontAlgn="base">
                          <a:spcBef>
                            <a:spcPct val="0"/>
                          </a:spcBef>
                          <a:spcAft>
                            <a:spcPct val="40000"/>
                          </a:spcAft>
                          <a:defRPr>
                            <a:solidFill>
                              <a:schemeClr val="tx1"/>
                            </a:solidFill>
                            <a:latin typeface="Arial" charset="0"/>
                          </a:defRPr>
                        </a:lvl6pPr>
                        <a:lvl7pPr marL="2971800" indent="-228600" fontAlgn="base">
                          <a:spcBef>
                            <a:spcPct val="0"/>
                          </a:spcBef>
                          <a:spcAft>
                            <a:spcPct val="40000"/>
                          </a:spcAft>
                          <a:defRPr>
                            <a:solidFill>
                              <a:schemeClr val="tx1"/>
                            </a:solidFill>
                            <a:latin typeface="Arial" charset="0"/>
                          </a:defRPr>
                        </a:lvl7pPr>
                        <a:lvl8pPr marL="3429000" indent="-228600" fontAlgn="base">
                          <a:spcBef>
                            <a:spcPct val="0"/>
                          </a:spcBef>
                          <a:spcAft>
                            <a:spcPct val="40000"/>
                          </a:spcAft>
                          <a:defRPr>
                            <a:solidFill>
                              <a:schemeClr val="tx1"/>
                            </a:solidFill>
                            <a:latin typeface="Arial" charset="0"/>
                          </a:defRPr>
                        </a:lvl8pPr>
                        <a:lvl9pPr marL="3886200" indent="-228600" fontAlgn="base">
                          <a:spcBef>
                            <a:spcPct val="0"/>
                          </a:spcBef>
                          <a:spcAft>
                            <a:spcPct val="40000"/>
                          </a:spcAft>
                          <a:defRPr>
                            <a:solidFill>
                              <a:schemeClr val="tx1"/>
                            </a:solidFill>
                            <a:latin typeface="Arial" charset="0"/>
                          </a:defRPr>
                        </a:lvl9pPr>
                      </a:lstStyle>
                      <a:p>
                        <a:pPr marL="0" marR="0" lvl="0" indent="0" algn="ctr" defTabSz="914400" rtl="0" eaLnBrk="1" fontAlgn="base" latinLnBrk="0" hangingPunct="1">
                          <a:lnSpc>
                            <a:spcPct val="100000"/>
                          </a:lnSpc>
                          <a:spcBef>
                            <a:spcPct val="0"/>
                          </a:spcBef>
                          <a:spcAft>
                            <a:spcPct val="40000"/>
                          </a:spcAft>
                          <a:buClrTx/>
                          <a:buSzTx/>
                          <a:buFontTx/>
                          <a:buNone/>
                          <a:tabLst/>
                        </a:pPr>
                        <a:r>
                          <a:rPr kumimoji="0" lang="en-GB" altLang="en-US" sz="1400" b="0" i="0" u="none" strike="noStrike" cap="none" normalizeH="0" baseline="0" dirty="0">
                            <a:ln>
                              <a:noFill/>
                            </a:ln>
                            <a:solidFill>
                              <a:schemeClr val="bg1"/>
                            </a:solidFill>
                            <a:effectLst/>
                            <a:latin typeface="Arial" charset="0"/>
                          </a:rPr>
                          <a:t>Level 2</a:t>
                        </a:r>
                        <a:endParaRPr kumimoji="0" lang="en-GB" altLang="en-US" sz="1400" b="0" i="0" u="none" strike="noStrike" cap="none" normalizeH="0" baseline="0" dirty="0">
                          <a:ln>
                            <a:noFill/>
                          </a:ln>
                          <a:solidFill>
                            <a:schemeClr val="tx1"/>
                          </a:solidFill>
                          <a:effectLst/>
                          <a:latin typeface="Arial" charset="0"/>
                        </a:endParaRPr>
                      </a:p>
                    </a:txBody>
                    <a:tcPr marL="71025" marR="71025" marT="35512" marB="3551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lvl1pPr>
                          <a:spcBef>
                            <a:spcPct val="0"/>
                          </a:spcBef>
                          <a:spcAft>
                            <a:spcPct val="40000"/>
                          </a:spcAft>
                          <a:defRPr sz="2000">
                            <a:solidFill>
                              <a:schemeClr val="tx1"/>
                            </a:solidFill>
                            <a:latin typeface="Arial" charset="0"/>
                          </a:defRPr>
                        </a:lvl1pPr>
                        <a:lvl2pPr marL="742950" indent="-285750">
                          <a:spcBef>
                            <a:spcPct val="0"/>
                          </a:spcBef>
                          <a:spcAft>
                            <a:spcPct val="40000"/>
                          </a:spcAft>
                          <a:defRPr>
                            <a:solidFill>
                              <a:schemeClr val="tx1"/>
                            </a:solidFill>
                            <a:latin typeface="Arial" charset="0"/>
                          </a:defRPr>
                        </a:lvl2pPr>
                        <a:lvl3pPr marL="1143000" indent="-228600">
                          <a:spcBef>
                            <a:spcPct val="0"/>
                          </a:spcBef>
                          <a:spcAft>
                            <a:spcPct val="40000"/>
                          </a:spcAft>
                          <a:defRPr>
                            <a:solidFill>
                              <a:schemeClr val="tx1"/>
                            </a:solidFill>
                            <a:latin typeface="Arial" charset="0"/>
                          </a:defRPr>
                        </a:lvl3pPr>
                        <a:lvl4pPr marL="1600200" indent="-228600">
                          <a:spcBef>
                            <a:spcPct val="0"/>
                          </a:spcBef>
                          <a:spcAft>
                            <a:spcPct val="40000"/>
                          </a:spcAft>
                          <a:defRPr>
                            <a:solidFill>
                              <a:schemeClr val="tx1"/>
                            </a:solidFill>
                            <a:latin typeface="Arial" charset="0"/>
                          </a:defRPr>
                        </a:lvl4pPr>
                        <a:lvl5pPr marL="2057400" indent="-228600">
                          <a:spcBef>
                            <a:spcPct val="0"/>
                          </a:spcBef>
                          <a:spcAft>
                            <a:spcPct val="40000"/>
                          </a:spcAft>
                          <a:defRPr>
                            <a:solidFill>
                              <a:schemeClr val="tx1"/>
                            </a:solidFill>
                            <a:latin typeface="Arial" charset="0"/>
                          </a:defRPr>
                        </a:lvl5pPr>
                        <a:lvl6pPr marL="2514600" indent="-228600" fontAlgn="base">
                          <a:spcBef>
                            <a:spcPct val="0"/>
                          </a:spcBef>
                          <a:spcAft>
                            <a:spcPct val="40000"/>
                          </a:spcAft>
                          <a:defRPr>
                            <a:solidFill>
                              <a:schemeClr val="tx1"/>
                            </a:solidFill>
                            <a:latin typeface="Arial" charset="0"/>
                          </a:defRPr>
                        </a:lvl6pPr>
                        <a:lvl7pPr marL="2971800" indent="-228600" fontAlgn="base">
                          <a:spcBef>
                            <a:spcPct val="0"/>
                          </a:spcBef>
                          <a:spcAft>
                            <a:spcPct val="40000"/>
                          </a:spcAft>
                          <a:defRPr>
                            <a:solidFill>
                              <a:schemeClr val="tx1"/>
                            </a:solidFill>
                            <a:latin typeface="Arial" charset="0"/>
                          </a:defRPr>
                        </a:lvl7pPr>
                        <a:lvl8pPr marL="3429000" indent="-228600" fontAlgn="base">
                          <a:spcBef>
                            <a:spcPct val="0"/>
                          </a:spcBef>
                          <a:spcAft>
                            <a:spcPct val="40000"/>
                          </a:spcAft>
                          <a:defRPr>
                            <a:solidFill>
                              <a:schemeClr val="tx1"/>
                            </a:solidFill>
                            <a:latin typeface="Arial" charset="0"/>
                          </a:defRPr>
                        </a:lvl8pPr>
                        <a:lvl9pPr marL="3886200" indent="-228600" fontAlgn="base">
                          <a:spcBef>
                            <a:spcPct val="0"/>
                          </a:spcBef>
                          <a:spcAft>
                            <a:spcPct val="40000"/>
                          </a:spcAft>
                          <a:defRPr>
                            <a:solidFill>
                              <a:schemeClr val="tx1"/>
                            </a:solidFill>
                            <a:latin typeface="Arial" charset="0"/>
                          </a:defRPr>
                        </a:lvl9pPr>
                      </a:lstStyle>
                      <a:p>
                        <a:pPr marL="0" marR="0" lvl="0" indent="0" algn="ctr" defTabSz="914400" rtl="0" eaLnBrk="1" fontAlgn="base" latinLnBrk="0" hangingPunct="1">
                          <a:lnSpc>
                            <a:spcPct val="100000"/>
                          </a:lnSpc>
                          <a:spcBef>
                            <a:spcPct val="0"/>
                          </a:spcBef>
                          <a:spcAft>
                            <a:spcPct val="40000"/>
                          </a:spcAft>
                          <a:buClrTx/>
                          <a:buSzTx/>
                          <a:buFontTx/>
                          <a:buNone/>
                          <a:tabLst/>
                        </a:pPr>
                        <a:r>
                          <a:rPr kumimoji="0" lang="en-GB" altLang="en-US" sz="1400" b="0" i="0" u="none" strike="noStrike" cap="none" normalizeH="0" baseline="0" dirty="0">
                            <a:ln>
                              <a:noFill/>
                            </a:ln>
                            <a:solidFill>
                              <a:schemeClr val="bg1"/>
                            </a:solidFill>
                            <a:effectLst/>
                            <a:latin typeface="Arial" charset="0"/>
                          </a:rPr>
                          <a:t>Level 3</a:t>
                        </a:r>
                        <a:endParaRPr kumimoji="0" lang="en-GB" altLang="en-US" sz="1400" b="0" i="0" u="none" strike="noStrike" cap="none" normalizeH="0" baseline="0" dirty="0">
                          <a:ln>
                            <a:noFill/>
                          </a:ln>
                          <a:solidFill>
                            <a:schemeClr val="tx1"/>
                          </a:solidFill>
                          <a:effectLst/>
                          <a:latin typeface="Arial" charset="0"/>
                        </a:endParaRPr>
                      </a:p>
                    </a:txBody>
                    <a:tcPr marL="71025" marR="71025" marT="35512" marB="3551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extLst>
                    <a:ext uri="{0D108BD9-81ED-4DB2-BD59-A6C34878D82A}">
                      <a16:rowId xmlns:a16="http://schemas.microsoft.com/office/drawing/2014/main" val="10000"/>
                    </a:ext>
                  </a:extLst>
                </a:tr>
                <a:tr h="311070">
                  <a:tc>
                    <a:txBody>
                      <a:bodyPr/>
                      <a:lstStyle>
                        <a:lvl1pPr>
                          <a:spcBef>
                            <a:spcPct val="0"/>
                          </a:spcBef>
                          <a:spcAft>
                            <a:spcPct val="40000"/>
                          </a:spcAft>
                          <a:defRPr sz="2000">
                            <a:solidFill>
                              <a:schemeClr val="tx1"/>
                            </a:solidFill>
                            <a:latin typeface="Arial" charset="0"/>
                          </a:defRPr>
                        </a:lvl1pPr>
                        <a:lvl2pPr marL="742950" indent="-285750">
                          <a:spcBef>
                            <a:spcPct val="0"/>
                          </a:spcBef>
                          <a:spcAft>
                            <a:spcPct val="40000"/>
                          </a:spcAft>
                          <a:defRPr>
                            <a:solidFill>
                              <a:schemeClr val="tx1"/>
                            </a:solidFill>
                            <a:latin typeface="Arial" charset="0"/>
                          </a:defRPr>
                        </a:lvl2pPr>
                        <a:lvl3pPr marL="1143000" indent="-228600">
                          <a:spcBef>
                            <a:spcPct val="0"/>
                          </a:spcBef>
                          <a:spcAft>
                            <a:spcPct val="40000"/>
                          </a:spcAft>
                          <a:defRPr>
                            <a:solidFill>
                              <a:schemeClr val="tx1"/>
                            </a:solidFill>
                            <a:latin typeface="Arial" charset="0"/>
                          </a:defRPr>
                        </a:lvl3pPr>
                        <a:lvl4pPr marL="1600200" indent="-228600">
                          <a:spcBef>
                            <a:spcPct val="0"/>
                          </a:spcBef>
                          <a:spcAft>
                            <a:spcPct val="40000"/>
                          </a:spcAft>
                          <a:defRPr>
                            <a:solidFill>
                              <a:schemeClr val="tx1"/>
                            </a:solidFill>
                            <a:latin typeface="Arial" charset="0"/>
                          </a:defRPr>
                        </a:lvl4pPr>
                        <a:lvl5pPr marL="2057400" indent="-228600">
                          <a:spcBef>
                            <a:spcPct val="0"/>
                          </a:spcBef>
                          <a:spcAft>
                            <a:spcPct val="40000"/>
                          </a:spcAft>
                          <a:defRPr>
                            <a:solidFill>
                              <a:schemeClr val="tx1"/>
                            </a:solidFill>
                            <a:latin typeface="Arial" charset="0"/>
                          </a:defRPr>
                        </a:lvl5pPr>
                        <a:lvl6pPr marL="2514600" indent="-228600" fontAlgn="base">
                          <a:spcBef>
                            <a:spcPct val="0"/>
                          </a:spcBef>
                          <a:spcAft>
                            <a:spcPct val="40000"/>
                          </a:spcAft>
                          <a:defRPr>
                            <a:solidFill>
                              <a:schemeClr val="tx1"/>
                            </a:solidFill>
                            <a:latin typeface="Arial" charset="0"/>
                          </a:defRPr>
                        </a:lvl6pPr>
                        <a:lvl7pPr marL="2971800" indent="-228600" fontAlgn="base">
                          <a:spcBef>
                            <a:spcPct val="0"/>
                          </a:spcBef>
                          <a:spcAft>
                            <a:spcPct val="40000"/>
                          </a:spcAft>
                          <a:defRPr>
                            <a:solidFill>
                              <a:schemeClr val="tx1"/>
                            </a:solidFill>
                            <a:latin typeface="Arial" charset="0"/>
                          </a:defRPr>
                        </a:lvl7pPr>
                        <a:lvl8pPr marL="3429000" indent="-228600" fontAlgn="base">
                          <a:spcBef>
                            <a:spcPct val="0"/>
                          </a:spcBef>
                          <a:spcAft>
                            <a:spcPct val="40000"/>
                          </a:spcAft>
                          <a:defRPr>
                            <a:solidFill>
                              <a:schemeClr val="tx1"/>
                            </a:solidFill>
                            <a:latin typeface="Arial" charset="0"/>
                          </a:defRPr>
                        </a:lvl8pPr>
                        <a:lvl9pPr marL="3886200" indent="-228600" fontAlgn="base">
                          <a:spcBef>
                            <a:spcPct val="0"/>
                          </a:spcBef>
                          <a:spcAft>
                            <a:spcPct val="40000"/>
                          </a:spcAft>
                          <a:defRPr>
                            <a:solidFill>
                              <a:schemeClr val="tx1"/>
                            </a:solidFill>
                            <a:latin typeface="Arial" charset="0"/>
                          </a:defRPr>
                        </a:lvl9pPr>
                      </a:lstStyle>
                      <a:p>
                        <a:pPr marL="0" marR="0" lvl="0" indent="0" algn="l" defTabSz="914400" rtl="0" eaLnBrk="1" fontAlgn="base" latinLnBrk="0" hangingPunct="1">
                          <a:lnSpc>
                            <a:spcPct val="100000"/>
                          </a:lnSpc>
                          <a:spcBef>
                            <a:spcPct val="0"/>
                          </a:spcBef>
                          <a:spcAft>
                            <a:spcPct val="40000"/>
                          </a:spcAft>
                          <a:buClrTx/>
                          <a:buSzTx/>
                          <a:buFontTx/>
                          <a:buNone/>
                          <a:tabLst/>
                        </a:pPr>
                        <a:r>
                          <a:rPr kumimoji="0" lang="en-GB" altLang="en-US" sz="1400" b="0" i="0" u="none" strike="noStrike" cap="none" normalizeH="0" baseline="30000" dirty="0">
                            <a:ln>
                              <a:noFill/>
                            </a:ln>
                            <a:solidFill>
                              <a:schemeClr val="tx1"/>
                            </a:solidFill>
                            <a:effectLst/>
                            <a:latin typeface="Arial" charset="0"/>
                          </a:rPr>
                          <a:t>#</a:t>
                        </a:r>
                        <a:r>
                          <a:rPr kumimoji="0" lang="en-GB" altLang="en-US" sz="1400" b="0" i="0" u="none" strike="noStrike" cap="none" normalizeH="0" baseline="0" dirty="0">
                            <a:ln>
                              <a:noFill/>
                            </a:ln>
                            <a:solidFill>
                              <a:schemeClr val="tx1"/>
                            </a:solidFill>
                            <a:effectLst/>
                            <a:latin typeface="Arial" charset="0"/>
                          </a:rPr>
                          <a:t>Travel time / (TT)</a:t>
                        </a:r>
                        <a:r>
                          <a:rPr kumimoji="0" lang="en-GB" altLang="en-US" sz="1400" b="0" i="0" u="none" strike="noStrike" cap="none" normalizeH="0" baseline="-25000" dirty="0">
                            <a:ln>
                              <a:noFill/>
                            </a:ln>
                            <a:solidFill>
                              <a:schemeClr val="tx1"/>
                            </a:solidFill>
                            <a:effectLst/>
                            <a:latin typeface="Arial" charset="0"/>
                          </a:rPr>
                          <a:t>auto</a:t>
                        </a:r>
                        <a:endParaRPr kumimoji="0" lang="en-GB" altLang="en-US" sz="1400" b="0" i="0" u="none" strike="noStrike" cap="none" normalizeH="0" baseline="0" dirty="0">
                          <a:ln>
                            <a:noFill/>
                          </a:ln>
                          <a:solidFill>
                            <a:schemeClr val="tx1"/>
                          </a:solidFill>
                          <a:effectLst/>
                          <a:latin typeface="Arial" charset="0"/>
                        </a:endParaRPr>
                      </a:p>
                    </a:txBody>
                    <a:tcPr marL="71025" marR="71025" marT="35512" marB="35512"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0"/>
                          </a:spcBef>
                          <a:spcAft>
                            <a:spcPct val="40000"/>
                          </a:spcAft>
                          <a:defRPr sz="2000">
                            <a:solidFill>
                              <a:schemeClr val="tx1"/>
                            </a:solidFill>
                            <a:latin typeface="Arial" charset="0"/>
                          </a:defRPr>
                        </a:lvl1pPr>
                        <a:lvl2pPr marL="742950" indent="-285750">
                          <a:spcBef>
                            <a:spcPct val="0"/>
                          </a:spcBef>
                          <a:spcAft>
                            <a:spcPct val="40000"/>
                          </a:spcAft>
                          <a:defRPr>
                            <a:solidFill>
                              <a:schemeClr val="tx1"/>
                            </a:solidFill>
                            <a:latin typeface="Arial" charset="0"/>
                          </a:defRPr>
                        </a:lvl2pPr>
                        <a:lvl3pPr marL="1143000" indent="-228600">
                          <a:spcBef>
                            <a:spcPct val="0"/>
                          </a:spcBef>
                          <a:spcAft>
                            <a:spcPct val="40000"/>
                          </a:spcAft>
                          <a:defRPr>
                            <a:solidFill>
                              <a:schemeClr val="tx1"/>
                            </a:solidFill>
                            <a:latin typeface="Arial" charset="0"/>
                          </a:defRPr>
                        </a:lvl3pPr>
                        <a:lvl4pPr marL="1600200" indent="-228600">
                          <a:spcBef>
                            <a:spcPct val="0"/>
                          </a:spcBef>
                          <a:spcAft>
                            <a:spcPct val="40000"/>
                          </a:spcAft>
                          <a:defRPr>
                            <a:solidFill>
                              <a:schemeClr val="tx1"/>
                            </a:solidFill>
                            <a:latin typeface="Arial" charset="0"/>
                          </a:defRPr>
                        </a:lvl4pPr>
                        <a:lvl5pPr marL="2057400" indent="-228600">
                          <a:spcBef>
                            <a:spcPct val="0"/>
                          </a:spcBef>
                          <a:spcAft>
                            <a:spcPct val="40000"/>
                          </a:spcAft>
                          <a:defRPr>
                            <a:solidFill>
                              <a:schemeClr val="tx1"/>
                            </a:solidFill>
                            <a:latin typeface="Arial" charset="0"/>
                          </a:defRPr>
                        </a:lvl5pPr>
                        <a:lvl6pPr marL="2514600" indent="-228600" fontAlgn="base">
                          <a:spcBef>
                            <a:spcPct val="0"/>
                          </a:spcBef>
                          <a:spcAft>
                            <a:spcPct val="40000"/>
                          </a:spcAft>
                          <a:defRPr>
                            <a:solidFill>
                              <a:schemeClr val="tx1"/>
                            </a:solidFill>
                            <a:latin typeface="Arial" charset="0"/>
                          </a:defRPr>
                        </a:lvl6pPr>
                        <a:lvl7pPr marL="2971800" indent="-228600" fontAlgn="base">
                          <a:spcBef>
                            <a:spcPct val="0"/>
                          </a:spcBef>
                          <a:spcAft>
                            <a:spcPct val="40000"/>
                          </a:spcAft>
                          <a:defRPr>
                            <a:solidFill>
                              <a:schemeClr val="tx1"/>
                            </a:solidFill>
                            <a:latin typeface="Arial" charset="0"/>
                          </a:defRPr>
                        </a:lvl7pPr>
                        <a:lvl8pPr marL="3429000" indent="-228600" fontAlgn="base">
                          <a:spcBef>
                            <a:spcPct val="0"/>
                          </a:spcBef>
                          <a:spcAft>
                            <a:spcPct val="40000"/>
                          </a:spcAft>
                          <a:defRPr>
                            <a:solidFill>
                              <a:schemeClr val="tx1"/>
                            </a:solidFill>
                            <a:latin typeface="Arial" charset="0"/>
                          </a:defRPr>
                        </a:lvl8pPr>
                        <a:lvl9pPr marL="3886200" indent="-228600" fontAlgn="base">
                          <a:spcBef>
                            <a:spcPct val="0"/>
                          </a:spcBef>
                          <a:spcAft>
                            <a:spcPct val="40000"/>
                          </a:spcAft>
                          <a:defRPr>
                            <a:solidFill>
                              <a:schemeClr val="tx1"/>
                            </a:solidFill>
                            <a:latin typeface="Arial" charset="0"/>
                          </a:defRPr>
                        </a:lvl9pPr>
                      </a:lstStyle>
                      <a:p>
                        <a:pPr marL="0" marR="0" lvl="0" indent="0" algn="ctr" defTabSz="914400" rtl="0" eaLnBrk="1" fontAlgn="base" latinLnBrk="0" hangingPunct="1">
                          <a:lnSpc>
                            <a:spcPct val="100000"/>
                          </a:lnSpc>
                          <a:spcBef>
                            <a:spcPct val="0"/>
                          </a:spcBef>
                          <a:spcAft>
                            <a:spcPct val="40000"/>
                          </a:spcAft>
                          <a:buClrTx/>
                          <a:buSzTx/>
                          <a:buFontTx/>
                          <a:buNone/>
                          <a:tabLst/>
                        </a:pPr>
                        <a:r>
                          <a:rPr kumimoji="0" lang="en-GB" altLang="en-US" sz="1400" b="0" i="0" u="none" strike="noStrike" cap="none" normalizeH="0" baseline="0" dirty="0">
                            <a:ln>
                              <a:noFill/>
                            </a:ln>
                            <a:solidFill>
                              <a:schemeClr val="tx1"/>
                            </a:solidFill>
                            <a:effectLst/>
                            <a:latin typeface="Arial" charset="0"/>
                          </a:rPr>
                          <a:t>U[1,1.15]</a:t>
                        </a:r>
                      </a:p>
                    </a:txBody>
                    <a:tcPr marL="71025" marR="71025" marT="35512" marB="35512"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0"/>
                          </a:spcBef>
                          <a:spcAft>
                            <a:spcPct val="40000"/>
                          </a:spcAft>
                          <a:defRPr sz="2000">
                            <a:solidFill>
                              <a:schemeClr val="tx1"/>
                            </a:solidFill>
                            <a:latin typeface="Arial" charset="0"/>
                          </a:defRPr>
                        </a:lvl1pPr>
                        <a:lvl2pPr marL="742950" indent="-285750">
                          <a:spcBef>
                            <a:spcPct val="0"/>
                          </a:spcBef>
                          <a:spcAft>
                            <a:spcPct val="40000"/>
                          </a:spcAft>
                          <a:defRPr>
                            <a:solidFill>
                              <a:schemeClr val="tx1"/>
                            </a:solidFill>
                            <a:latin typeface="Arial" charset="0"/>
                          </a:defRPr>
                        </a:lvl2pPr>
                        <a:lvl3pPr marL="1143000" indent="-228600">
                          <a:spcBef>
                            <a:spcPct val="0"/>
                          </a:spcBef>
                          <a:spcAft>
                            <a:spcPct val="40000"/>
                          </a:spcAft>
                          <a:defRPr>
                            <a:solidFill>
                              <a:schemeClr val="tx1"/>
                            </a:solidFill>
                            <a:latin typeface="Arial" charset="0"/>
                          </a:defRPr>
                        </a:lvl3pPr>
                        <a:lvl4pPr marL="1600200" indent="-228600">
                          <a:spcBef>
                            <a:spcPct val="0"/>
                          </a:spcBef>
                          <a:spcAft>
                            <a:spcPct val="40000"/>
                          </a:spcAft>
                          <a:defRPr>
                            <a:solidFill>
                              <a:schemeClr val="tx1"/>
                            </a:solidFill>
                            <a:latin typeface="Arial" charset="0"/>
                          </a:defRPr>
                        </a:lvl4pPr>
                        <a:lvl5pPr marL="2057400" indent="-228600">
                          <a:spcBef>
                            <a:spcPct val="0"/>
                          </a:spcBef>
                          <a:spcAft>
                            <a:spcPct val="40000"/>
                          </a:spcAft>
                          <a:defRPr>
                            <a:solidFill>
                              <a:schemeClr val="tx1"/>
                            </a:solidFill>
                            <a:latin typeface="Arial" charset="0"/>
                          </a:defRPr>
                        </a:lvl5pPr>
                        <a:lvl6pPr marL="2514600" indent="-228600" fontAlgn="base">
                          <a:spcBef>
                            <a:spcPct val="0"/>
                          </a:spcBef>
                          <a:spcAft>
                            <a:spcPct val="40000"/>
                          </a:spcAft>
                          <a:defRPr>
                            <a:solidFill>
                              <a:schemeClr val="tx1"/>
                            </a:solidFill>
                            <a:latin typeface="Arial" charset="0"/>
                          </a:defRPr>
                        </a:lvl6pPr>
                        <a:lvl7pPr marL="2971800" indent="-228600" fontAlgn="base">
                          <a:spcBef>
                            <a:spcPct val="0"/>
                          </a:spcBef>
                          <a:spcAft>
                            <a:spcPct val="40000"/>
                          </a:spcAft>
                          <a:defRPr>
                            <a:solidFill>
                              <a:schemeClr val="tx1"/>
                            </a:solidFill>
                            <a:latin typeface="Arial" charset="0"/>
                          </a:defRPr>
                        </a:lvl7pPr>
                        <a:lvl8pPr marL="3429000" indent="-228600" fontAlgn="base">
                          <a:spcBef>
                            <a:spcPct val="0"/>
                          </a:spcBef>
                          <a:spcAft>
                            <a:spcPct val="40000"/>
                          </a:spcAft>
                          <a:defRPr>
                            <a:solidFill>
                              <a:schemeClr val="tx1"/>
                            </a:solidFill>
                            <a:latin typeface="Arial" charset="0"/>
                          </a:defRPr>
                        </a:lvl8pPr>
                        <a:lvl9pPr marL="3886200" indent="-228600" fontAlgn="base">
                          <a:spcBef>
                            <a:spcPct val="0"/>
                          </a:spcBef>
                          <a:spcAft>
                            <a:spcPct val="40000"/>
                          </a:spcAft>
                          <a:defRPr>
                            <a:solidFill>
                              <a:schemeClr val="tx1"/>
                            </a:solidFill>
                            <a:latin typeface="Arial" charset="0"/>
                          </a:defRPr>
                        </a:lvl9pPr>
                      </a:lstStyle>
                      <a:p>
                        <a:pPr marL="0" marR="0" lvl="0" indent="0" algn="ctr" defTabSz="914400" rtl="0" eaLnBrk="1" fontAlgn="base" latinLnBrk="0" hangingPunct="1">
                          <a:lnSpc>
                            <a:spcPct val="100000"/>
                          </a:lnSpc>
                          <a:spcBef>
                            <a:spcPct val="0"/>
                          </a:spcBef>
                          <a:spcAft>
                            <a:spcPct val="40000"/>
                          </a:spcAft>
                          <a:buClrTx/>
                          <a:buSzTx/>
                          <a:buFontTx/>
                          <a:buNone/>
                          <a:tabLst/>
                        </a:pPr>
                        <a:r>
                          <a:rPr kumimoji="0" lang="en-GB" altLang="en-US" sz="1400" b="0" i="0" u="none" strike="noStrike" cap="none" normalizeH="0" baseline="0" dirty="0">
                            <a:ln>
                              <a:noFill/>
                            </a:ln>
                            <a:solidFill>
                              <a:schemeClr val="tx1"/>
                            </a:solidFill>
                            <a:effectLst/>
                            <a:latin typeface="Arial" charset="0"/>
                          </a:rPr>
                          <a:t>U[1.15,1.30]</a:t>
                        </a:r>
                      </a:p>
                    </a:txBody>
                    <a:tcPr marL="71025" marR="71025" marT="35512" marB="35512"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0"/>
                          </a:spcBef>
                          <a:spcAft>
                            <a:spcPct val="40000"/>
                          </a:spcAft>
                          <a:defRPr sz="2000">
                            <a:solidFill>
                              <a:schemeClr val="tx1"/>
                            </a:solidFill>
                            <a:latin typeface="Arial" charset="0"/>
                          </a:defRPr>
                        </a:lvl1pPr>
                        <a:lvl2pPr marL="742950" indent="-285750">
                          <a:spcBef>
                            <a:spcPct val="0"/>
                          </a:spcBef>
                          <a:spcAft>
                            <a:spcPct val="40000"/>
                          </a:spcAft>
                          <a:defRPr>
                            <a:solidFill>
                              <a:schemeClr val="tx1"/>
                            </a:solidFill>
                            <a:latin typeface="Arial" charset="0"/>
                          </a:defRPr>
                        </a:lvl2pPr>
                        <a:lvl3pPr marL="1143000" indent="-228600">
                          <a:spcBef>
                            <a:spcPct val="0"/>
                          </a:spcBef>
                          <a:spcAft>
                            <a:spcPct val="40000"/>
                          </a:spcAft>
                          <a:defRPr>
                            <a:solidFill>
                              <a:schemeClr val="tx1"/>
                            </a:solidFill>
                            <a:latin typeface="Arial" charset="0"/>
                          </a:defRPr>
                        </a:lvl3pPr>
                        <a:lvl4pPr marL="1600200" indent="-228600">
                          <a:spcBef>
                            <a:spcPct val="0"/>
                          </a:spcBef>
                          <a:spcAft>
                            <a:spcPct val="40000"/>
                          </a:spcAft>
                          <a:defRPr>
                            <a:solidFill>
                              <a:schemeClr val="tx1"/>
                            </a:solidFill>
                            <a:latin typeface="Arial" charset="0"/>
                          </a:defRPr>
                        </a:lvl4pPr>
                        <a:lvl5pPr marL="2057400" indent="-228600">
                          <a:spcBef>
                            <a:spcPct val="0"/>
                          </a:spcBef>
                          <a:spcAft>
                            <a:spcPct val="40000"/>
                          </a:spcAft>
                          <a:defRPr>
                            <a:solidFill>
                              <a:schemeClr val="tx1"/>
                            </a:solidFill>
                            <a:latin typeface="Arial" charset="0"/>
                          </a:defRPr>
                        </a:lvl5pPr>
                        <a:lvl6pPr marL="2514600" indent="-228600" fontAlgn="base">
                          <a:spcBef>
                            <a:spcPct val="0"/>
                          </a:spcBef>
                          <a:spcAft>
                            <a:spcPct val="40000"/>
                          </a:spcAft>
                          <a:defRPr>
                            <a:solidFill>
                              <a:schemeClr val="tx1"/>
                            </a:solidFill>
                            <a:latin typeface="Arial" charset="0"/>
                          </a:defRPr>
                        </a:lvl6pPr>
                        <a:lvl7pPr marL="2971800" indent="-228600" fontAlgn="base">
                          <a:spcBef>
                            <a:spcPct val="0"/>
                          </a:spcBef>
                          <a:spcAft>
                            <a:spcPct val="40000"/>
                          </a:spcAft>
                          <a:defRPr>
                            <a:solidFill>
                              <a:schemeClr val="tx1"/>
                            </a:solidFill>
                            <a:latin typeface="Arial" charset="0"/>
                          </a:defRPr>
                        </a:lvl7pPr>
                        <a:lvl8pPr marL="3429000" indent="-228600" fontAlgn="base">
                          <a:spcBef>
                            <a:spcPct val="0"/>
                          </a:spcBef>
                          <a:spcAft>
                            <a:spcPct val="40000"/>
                          </a:spcAft>
                          <a:defRPr>
                            <a:solidFill>
                              <a:schemeClr val="tx1"/>
                            </a:solidFill>
                            <a:latin typeface="Arial" charset="0"/>
                          </a:defRPr>
                        </a:lvl8pPr>
                        <a:lvl9pPr marL="3886200" indent="-228600" fontAlgn="base">
                          <a:spcBef>
                            <a:spcPct val="0"/>
                          </a:spcBef>
                          <a:spcAft>
                            <a:spcPct val="40000"/>
                          </a:spcAft>
                          <a:defRPr>
                            <a:solidFill>
                              <a:schemeClr val="tx1"/>
                            </a:solidFill>
                            <a:latin typeface="Arial" charset="0"/>
                          </a:defRPr>
                        </a:lvl9pPr>
                      </a:lstStyle>
                      <a:p>
                        <a:pPr marL="0" marR="0" lvl="0" indent="0" algn="ctr" defTabSz="914400" rtl="0" eaLnBrk="1" fontAlgn="base" latinLnBrk="0" hangingPunct="1">
                          <a:lnSpc>
                            <a:spcPct val="100000"/>
                          </a:lnSpc>
                          <a:spcBef>
                            <a:spcPct val="0"/>
                          </a:spcBef>
                          <a:spcAft>
                            <a:spcPct val="40000"/>
                          </a:spcAft>
                          <a:buClrTx/>
                          <a:buSzTx/>
                          <a:buFontTx/>
                          <a:buNone/>
                          <a:tabLst/>
                        </a:pPr>
                        <a:r>
                          <a:rPr kumimoji="0" lang="en-GB" altLang="en-US" sz="1400" b="0" i="0" u="none" strike="noStrike" cap="none" normalizeH="0" baseline="0" dirty="0">
                            <a:ln>
                              <a:noFill/>
                            </a:ln>
                            <a:solidFill>
                              <a:schemeClr val="tx1"/>
                            </a:solidFill>
                            <a:effectLst/>
                            <a:latin typeface="Arial" charset="0"/>
                          </a:rPr>
                          <a:t>U[1.30,1.50]</a:t>
                        </a:r>
                      </a:p>
                    </a:txBody>
                    <a:tcPr marL="71025" marR="71025" marT="35512" marB="35512"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65471">
                  <a:tc>
                    <a:txBody>
                      <a:bodyPr/>
                      <a:lstStyle>
                        <a:lvl1pPr>
                          <a:spcBef>
                            <a:spcPct val="0"/>
                          </a:spcBef>
                          <a:spcAft>
                            <a:spcPct val="40000"/>
                          </a:spcAft>
                          <a:defRPr sz="2000">
                            <a:solidFill>
                              <a:schemeClr val="tx1"/>
                            </a:solidFill>
                            <a:latin typeface="Arial" charset="0"/>
                          </a:defRPr>
                        </a:lvl1pPr>
                        <a:lvl2pPr marL="742950" indent="-285750">
                          <a:spcBef>
                            <a:spcPct val="0"/>
                          </a:spcBef>
                          <a:spcAft>
                            <a:spcPct val="40000"/>
                          </a:spcAft>
                          <a:defRPr>
                            <a:solidFill>
                              <a:schemeClr val="tx1"/>
                            </a:solidFill>
                            <a:latin typeface="Arial" charset="0"/>
                          </a:defRPr>
                        </a:lvl2pPr>
                        <a:lvl3pPr marL="1143000" indent="-228600">
                          <a:spcBef>
                            <a:spcPct val="0"/>
                          </a:spcBef>
                          <a:spcAft>
                            <a:spcPct val="40000"/>
                          </a:spcAft>
                          <a:defRPr>
                            <a:solidFill>
                              <a:schemeClr val="tx1"/>
                            </a:solidFill>
                            <a:latin typeface="Arial" charset="0"/>
                          </a:defRPr>
                        </a:lvl3pPr>
                        <a:lvl4pPr marL="1600200" indent="-228600">
                          <a:spcBef>
                            <a:spcPct val="0"/>
                          </a:spcBef>
                          <a:spcAft>
                            <a:spcPct val="40000"/>
                          </a:spcAft>
                          <a:defRPr>
                            <a:solidFill>
                              <a:schemeClr val="tx1"/>
                            </a:solidFill>
                            <a:latin typeface="Arial" charset="0"/>
                          </a:defRPr>
                        </a:lvl4pPr>
                        <a:lvl5pPr marL="2057400" indent="-228600">
                          <a:spcBef>
                            <a:spcPct val="0"/>
                          </a:spcBef>
                          <a:spcAft>
                            <a:spcPct val="40000"/>
                          </a:spcAft>
                          <a:defRPr>
                            <a:solidFill>
                              <a:schemeClr val="tx1"/>
                            </a:solidFill>
                            <a:latin typeface="Arial" charset="0"/>
                          </a:defRPr>
                        </a:lvl5pPr>
                        <a:lvl6pPr marL="2514600" indent="-228600" fontAlgn="base">
                          <a:spcBef>
                            <a:spcPct val="0"/>
                          </a:spcBef>
                          <a:spcAft>
                            <a:spcPct val="40000"/>
                          </a:spcAft>
                          <a:defRPr>
                            <a:solidFill>
                              <a:schemeClr val="tx1"/>
                            </a:solidFill>
                            <a:latin typeface="Arial" charset="0"/>
                          </a:defRPr>
                        </a:lvl6pPr>
                        <a:lvl7pPr marL="2971800" indent="-228600" fontAlgn="base">
                          <a:spcBef>
                            <a:spcPct val="0"/>
                          </a:spcBef>
                          <a:spcAft>
                            <a:spcPct val="40000"/>
                          </a:spcAft>
                          <a:defRPr>
                            <a:solidFill>
                              <a:schemeClr val="tx1"/>
                            </a:solidFill>
                            <a:latin typeface="Arial" charset="0"/>
                          </a:defRPr>
                        </a:lvl7pPr>
                        <a:lvl8pPr marL="3429000" indent="-228600" fontAlgn="base">
                          <a:spcBef>
                            <a:spcPct val="0"/>
                          </a:spcBef>
                          <a:spcAft>
                            <a:spcPct val="40000"/>
                          </a:spcAft>
                          <a:defRPr>
                            <a:solidFill>
                              <a:schemeClr val="tx1"/>
                            </a:solidFill>
                            <a:latin typeface="Arial" charset="0"/>
                          </a:defRPr>
                        </a:lvl8pPr>
                        <a:lvl9pPr marL="3886200" indent="-228600" fontAlgn="base">
                          <a:spcBef>
                            <a:spcPct val="0"/>
                          </a:spcBef>
                          <a:spcAft>
                            <a:spcPct val="40000"/>
                          </a:spcAft>
                          <a:defRPr>
                            <a:solidFill>
                              <a:schemeClr val="tx1"/>
                            </a:solidFill>
                            <a:latin typeface="Arial" charset="0"/>
                          </a:defRPr>
                        </a:lvl9pPr>
                      </a:lstStyle>
                      <a:p>
                        <a:pPr marL="0" marR="0" lvl="0" indent="0" algn="l" defTabSz="914400" rtl="0" eaLnBrk="1" fontAlgn="base" latinLnBrk="0" hangingPunct="1">
                          <a:lnSpc>
                            <a:spcPct val="100000"/>
                          </a:lnSpc>
                          <a:spcBef>
                            <a:spcPct val="0"/>
                          </a:spcBef>
                          <a:spcAft>
                            <a:spcPct val="40000"/>
                          </a:spcAft>
                          <a:buClrTx/>
                          <a:buSzTx/>
                          <a:buFontTx/>
                          <a:buNone/>
                          <a:tabLst/>
                        </a:pPr>
                        <a:r>
                          <a:rPr kumimoji="0" lang="en-GB" altLang="en-US" sz="1400" b="0" i="0" u="none" strike="noStrike" cap="none" normalizeH="0" baseline="30000" dirty="0">
                            <a:ln>
                              <a:noFill/>
                            </a:ln>
                            <a:solidFill>
                              <a:schemeClr val="tx1"/>
                            </a:solidFill>
                            <a:effectLst/>
                            <a:latin typeface="Arial" charset="0"/>
                          </a:rPr>
                          <a:t>^</a:t>
                        </a:r>
                        <a:r>
                          <a:rPr kumimoji="0" lang="en-GB" altLang="en-US" sz="1400" b="0" i="0" u="none" strike="noStrike" cap="none" normalizeH="0" baseline="0" dirty="0">
                            <a:ln>
                              <a:noFill/>
                            </a:ln>
                            <a:solidFill>
                              <a:schemeClr val="tx1"/>
                            </a:solidFill>
                            <a:effectLst/>
                            <a:latin typeface="Arial" charset="0"/>
                          </a:rPr>
                          <a:t>Travel cost / (TT)</a:t>
                        </a:r>
                        <a:r>
                          <a:rPr kumimoji="0" lang="en-GB" altLang="en-US" sz="1400" b="0" i="0" u="none" strike="noStrike" cap="none" normalizeH="0" baseline="-25000" dirty="0">
                            <a:ln>
                              <a:noFill/>
                            </a:ln>
                            <a:solidFill>
                              <a:schemeClr val="tx1"/>
                            </a:solidFill>
                            <a:effectLst/>
                            <a:latin typeface="Arial" charset="0"/>
                          </a:rPr>
                          <a:t>bus</a:t>
                        </a:r>
                        <a:endParaRPr kumimoji="0" lang="en-GB" altLang="en-US" sz="1400" b="0" i="0" u="none" strike="noStrike" cap="none" normalizeH="0" baseline="0" dirty="0">
                          <a:ln>
                            <a:noFill/>
                          </a:ln>
                          <a:solidFill>
                            <a:schemeClr val="tx1"/>
                          </a:solidFill>
                          <a:effectLst/>
                          <a:latin typeface="Arial" charset="0"/>
                        </a:endParaRPr>
                      </a:p>
                    </a:txBody>
                    <a:tcPr marL="71025" marR="71025" marT="35512" marB="35512"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0"/>
                          </a:spcBef>
                          <a:spcAft>
                            <a:spcPct val="40000"/>
                          </a:spcAft>
                          <a:defRPr sz="2000">
                            <a:solidFill>
                              <a:schemeClr val="tx1"/>
                            </a:solidFill>
                            <a:latin typeface="Arial" charset="0"/>
                          </a:defRPr>
                        </a:lvl1pPr>
                        <a:lvl2pPr marL="742950" indent="-285750">
                          <a:spcBef>
                            <a:spcPct val="0"/>
                          </a:spcBef>
                          <a:spcAft>
                            <a:spcPct val="40000"/>
                          </a:spcAft>
                          <a:defRPr>
                            <a:solidFill>
                              <a:schemeClr val="tx1"/>
                            </a:solidFill>
                            <a:latin typeface="Arial" charset="0"/>
                          </a:defRPr>
                        </a:lvl2pPr>
                        <a:lvl3pPr marL="1143000" indent="-228600">
                          <a:spcBef>
                            <a:spcPct val="0"/>
                          </a:spcBef>
                          <a:spcAft>
                            <a:spcPct val="40000"/>
                          </a:spcAft>
                          <a:defRPr>
                            <a:solidFill>
                              <a:schemeClr val="tx1"/>
                            </a:solidFill>
                            <a:latin typeface="Arial" charset="0"/>
                          </a:defRPr>
                        </a:lvl3pPr>
                        <a:lvl4pPr marL="1600200" indent="-228600">
                          <a:spcBef>
                            <a:spcPct val="0"/>
                          </a:spcBef>
                          <a:spcAft>
                            <a:spcPct val="40000"/>
                          </a:spcAft>
                          <a:defRPr>
                            <a:solidFill>
                              <a:schemeClr val="tx1"/>
                            </a:solidFill>
                            <a:latin typeface="Arial" charset="0"/>
                          </a:defRPr>
                        </a:lvl4pPr>
                        <a:lvl5pPr marL="2057400" indent="-228600">
                          <a:spcBef>
                            <a:spcPct val="0"/>
                          </a:spcBef>
                          <a:spcAft>
                            <a:spcPct val="40000"/>
                          </a:spcAft>
                          <a:defRPr>
                            <a:solidFill>
                              <a:schemeClr val="tx1"/>
                            </a:solidFill>
                            <a:latin typeface="Arial" charset="0"/>
                          </a:defRPr>
                        </a:lvl5pPr>
                        <a:lvl6pPr marL="2514600" indent="-228600" fontAlgn="base">
                          <a:spcBef>
                            <a:spcPct val="0"/>
                          </a:spcBef>
                          <a:spcAft>
                            <a:spcPct val="40000"/>
                          </a:spcAft>
                          <a:defRPr>
                            <a:solidFill>
                              <a:schemeClr val="tx1"/>
                            </a:solidFill>
                            <a:latin typeface="Arial" charset="0"/>
                          </a:defRPr>
                        </a:lvl6pPr>
                        <a:lvl7pPr marL="2971800" indent="-228600" fontAlgn="base">
                          <a:spcBef>
                            <a:spcPct val="0"/>
                          </a:spcBef>
                          <a:spcAft>
                            <a:spcPct val="40000"/>
                          </a:spcAft>
                          <a:defRPr>
                            <a:solidFill>
                              <a:schemeClr val="tx1"/>
                            </a:solidFill>
                            <a:latin typeface="Arial" charset="0"/>
                          </a:defRPr>
                        </a:lvl7pPr>
                        <a:lvl8pPr marL="3429000" indent="-228600" fontAlgn="base">
                          <a:spcBef>
                            <a:spcPct val="0"/>
                          </a:spcBef>
                          <a:spcAft>
                            <a:spcPct val="40000"/>
                          </a:spcAft>
                          <a:defRPr>
                            <a:solidFill>
                              <a:schemeClr val="tx1"/>
                            </a:solidFill>
                            <a:latin typeface="Arial" charset="0"/>
                          </a:defRPr>
                        </a:lvl8pPr>
                        <a:lvl9pPr marL="3886200" indent="-228600" fontAlgn="base">
                          <a:spcBef>
                            <a:spcPct val="0"/>
                          </a:spcBef>
                          <a:spcAft>
                            <a:spcPct val="40000"/>
                          </a:spcAft>
                          <a:defRPr>
                            <a:solidFill>
                              <a:schemeClr val="tx1"/>
                            </a:solidFill>
                            <a:latin typeface="Arial" charset="0"/>
                          </a:defRPr>
                        </a:lvl9pPr>
                      </a:lstStyle>
                      <a:p>
                        <a:pPr marL="0" marR="0" lvl="0" indent="0" algn="ctr" defTabSz="914400" rtl="0" eaLnBrk="1" fontAlgn="base" latinLnBrk="0" hangingPunct="1">
                          <a:lnSpc>
                            <a:spcPct val="100000"/>
                          </a:lnSpc>
                          <a:spcBef>
                            <a:spcPct val="0"/>
                          </a:spcBef>
                          <a:spcAft>
                            <a:spcPct val="40000"/>
                          </a:spcAft>
                          <a:buClrTx/>
                          <a:buSzTx/>
                          <a:buFontTx/>
                          <a:buNone/>
                          <a:tabLst/>
                        </a:pPr>
                        <a:r>
                          <a:rPr kumimoji="0" lang="en-GB" altLang="en-US" sz="1400" b="0" i="0" u="none" strike="noStrike" cap="none" normalizeH="0" baseline="0" dirty="0">
                            <a:ln>
                              <a:noFill/>
                            </a:ln>
                            <a:solidFill>
                              <a:schemeClr val="tx1"/>
                            </a:solidFill>
                            <a:effectLst/>
                            <a:latin typeface="Arial" charset="0"/>
                          </a:rPr>
                          <a:t>U[1,1.5]</a:t>
                        </a:r>
                      </a:p>
                    </a:txBody>
                    <a:tcPr marL="71025" marR="71025" marT="35512" marB="35512"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0"/>
                          </a:spcBef>
                          <a:spcAft>
                            <a:spcPct val="40000"/>
                          </a:spcAft>
                          <a:defRPr sz="2000">
                            <a:solidFill>
                              <a:schemeClr val="tx1"/>
                            </a:solidFill>
                            <a:latin typeface="Arial" charset="0"/>
                          </a:defRPr>
                        </a:lvl1pPr>
                        <a:lvl2pPr marL="742950" indent="-285750">
                          <a:spcBef>
                            <a:spcPct val="0"/>
                          </a:spcBef>
                          <a:spcAft>
                            <a:spcPct val="40000"/>
                          </a:spcAft>
                          <a:defRPr>
                            <a:solidFill>
                              <a:schemeClr val="tx1"/>
                            </a:solidFill>
                            <a:latin typeface="Arial" charset="0"/>
                          </a:defRPr>
                        </a:lvl2pPr>
                        <a:lvl3pPr marL="1143000" indent="-228600">
                          <a:spcBef>
                            <a:spcPct val="0"/>
                          </a:spcBef>
                          <a:spcAft>
                            <a:spcPct val="40000"/>
                          </a:spcAft>
                          <a:defRPr>
                            <a:solidFill>
                              <a:schemeClr val="tx1"/>
                            </a:solidFill>
                            <a:latin typeface="Arial" charset="0"/>
                          </a:defRPr>
                        </a:lvl3pPr>
                        <a:lvl4pPr marL="1600200" indent="-228600">
                          <a:spcBef>
                            <a:spcPct val="0"/>
                          </a:spcBef>
                          <a:spcAft>
                            <a:spcPct val="40000"/>
                          </a:spcAft>
                          <a:defRPr>
                            <a:solidFill>
                              <a:schemeClr val="tx1"/>
                            </a:solidFill>
                            <a:latin typeface="Arial" charset="0"/>
                          </a:defRPr>
                        </a:lvl4pPr>
                        <a:lvl5pPr marL="2057400" indent="-228600">
                          <a:spcBef>
                            <a:spcPct val="0"/>
                          </a:spcBef>
                          <a:spcAft>
                            <a:spcPct val="40000"/>
                          </a:spcAft>
                          <a:defRPr>
                            <a:solidFill>
                              <a:schemeClr val="tx1"/>
                            </a:solidFill>
                            <a:latin typeface="Arial" charset="0"/>
                          </a:defRPr>
                        </a:lvl5pPr>
                        <a:lvl6pPr marL="2514600" indent="-228600" fontAlgn="base">
                          <a:spcBef>
                            <a:spcPct val="0"/>
                          </a:spcBef>
                          <a:spcAft>
                            <a:spcPct val="40000"/>
                          </a:spcAft>
                          <a:defRPr>
                            <a:solidFill>
                              <a:schemeClr val="tx1"/>
                            </a:solidFill>
                            <a:latin typeface="Arial" charset="0"/>
                          </a:defRPr>
                        </a:lvl6pPr>
                        <a:lvl7pPr marL="2971800" indent="-228600" fontAlgn="base">
                          <a:spcBef>
                            <a:spcPct val="0"/>
                          </a:spcBef>
                          <a:spcAft>
                            <a:spcPct val="40000"/>
                          </a:spcAft>
                          <a:defRPr>
                            <a:solidFill>
                              <a:schemeClr val="tx1"/>
                            </a:solidFill>
                            <a:latin typeface="Arial" charset="0"/>
                          </a:defRPr>
                        </a:lvl7pPr>
                        <a:lvl8pPr marL="3429000" indent="-228600" fontAlgn="base">
                          <a:spcBef>
                            <a:spcPct val="0"/>
                          </a:spcBef>
                          <a:spcAft>
                            <a:spcPct val="40000"/>
                          </a:spcAft>
                          <a:defRPr>
                            <a:solidFill>
                              <a:schemeClr val="tx1"/>
                            </a:solidFill>
                            <a:latin typeface="Arial" charset="0"/>
                          </a:defRPr>
                        </a:lvl8pPr>
                        <a:lvl9pPr marL="3886200" indent="-228600" fontAlgn="base">
                          <a:spcBef>
                            <a:spcPct val="0"/>
                          </a:spcBef>
                          <a:spcAft>
                            <a:spcPct val="40000"/>
                          </a:spcAft>
                          <a:defRPr>
                            <a:solidFill>
                              <a:schemeClr val="tx1"/>
                            </a:solidFill>
                            <a:latin typeface="Arial" charset="0"/>
                          </a:defRPr>
                        </a:lvl9pPr>
                      </a:lstStyle>
                      <a:p>
                        <a:pPr marL="0" marR="0" lvl="0" indent="0" algn="ctr" defTabSz="914400" rtl="0" eaLnBrk="1" fontAlgn="base" latinLnBrk="0" hangingPunct="1">
                          <a:lnSpc>
                            <a:spcPct val="100000"/>
                          </a:lnSpc>
                          <a:spcBef>
                            <a:spcPct val="0"/>
                          </a:spcBef>
                          <a:spcAft>
                            <a:spcPct val="40000"/>
                          </a:spcAft>
                          <a:buClrTx/>
                          <a:buSzTx/>
                          <a:buFontTx/>
                          <a:buNone/>
                          <a:tabLst/>
                        </a:pPr>
                        <a:r>
                          <a:rPr kumimoji="0" lang="en-GB" altLang="en-US" sz="1400" b="0" i="0" u="none" strike="noStrike" cap="none" normalizeH="0" baseline="0" dirty="0">
                            <a:ln>
                              <a:noFill/>
                            </a:ln>
                            <a:solidFill>
                              <a:schemeClr val="tx1"/>
                            </a:solidFill>
                            <a:effectLst/>
                            <a:latin typeface="Arial" charset="0"/>
                          </a:rPr>
                          <a:t>U[1.5,2]</a:t>
                        </a:r>
                      </a:p>
                    </a:txBody>
                    <a:tcPr marL="71025" marR="71025" marT="35512" marB="35512"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0"/>
                          </a:spcBef>
                          <a:spcAft>
                            <a:spcPct val="40000"/>
                          </a:spcAft>
                          <a:defRPr sz="2000">
                            <a:solidFill>
                              <a:schemeClr val="tx1"/>
                            </a:solidFill>
                            <a:latin typeface="Arial" charset="0"/>
                          </a:defRPr>
                        </a:lvl1pPr>
                        <a:lvl2pPr marL="742950" indent="-285750">
                          <a:spcBef>
                            <a:spcPct val="0"/>
                          </a:spcBef>
                          <a:spcAft>
                            <a:spcPct val="40000"/>
                          </a:spcAft>
                          <a:defRPr>
                            <a:solidFill>
                              <a:schemeClr val="tx1"/>
                            </a:solidFill>
                            <a:latin typeface="Arial" charset="0"/>
                          </a:defRPr>
                        </a:lvl2pPr>
                        <a:lvl3pPr marL="1143000" indent="-228600">
                          <a:spcBef>
                            <a:spcPct val="0"/>
                          </a:spcBef>
                          <a:spcAft>
                            <a:spcPct val="40000"/>
                          </a:spcAft>
                          <a:defRPr>
                            <a:solidFill>
                              <a:schemeClr val="tx1"/>
                            </a:solidFill>
                            <a:latin typeface="Arial" charset="0"/>
                          </a:defRPr>
                        </a:lvl3pPr>
                        <a:lvl4pPr marL="1600200" indent="-228600">
                          <a:spcBef>
                            <a:spcPct val="0"/>
                          </a:spcBef>
                          <a:spcAft>
                            <a:spcPct val="40000"/>
                          </a:spcAft>
                          <a:defRPr>
                            <a:solidFill>
                              <a:schemeClr val="tx1"/>
                            </a:solidFill>
                            <a:latin typeface="Arial" charset="0"/>
                          </a:defRPr>
                        </a:lvl4pPr>
                        <a:lvl5pPr marL="2057400" indent="-228600">
                          <a:spcBef>
                            <a:spcPct val="0"/>
                          </a:spcBef>
                          <a:spcAft>
                            <a:spcPct val="40000"/>
                          </a:spcAft>
                          <a:defRPr>
                            <a:solidFill>
                              <a:schemeClr val="tx1"/>
                            </a:solidFill>
                            <a:latin typeface="Arial" charset="0"/>
                          </a:defRPr>
                        </a:lvl5pPr>
                        <a:lvl6pPr marL="2514600" indent="-228600" fontAlgn="base">
                          <a:spcBef>
                            <a:spcPct val="0"/>
                          </a:spcBef>
                          <a:spcAft>
                            <a:spcPct val="40000"/>
                          </a:spcAft>
                          <a:defRPr>
                            <a:solidFill>
                              <a:schemeClr val="tx1"/>
                            </a:solidFill>
                            <a:latin typeface="Arial" charset="0"/>
                          </a:defRPr>
                        </a:lvl6pPr>
                        <a:lvl7pPr marL="2971800" indent="-228600" fontAlgn="base">
                          <a:spcBef>
                            <a:spcPct val="0"/>
                          </a:spcBef>
                          <a:spcAft>
                            <a:spcPct val="40000"/>
                          </a:spcAft>
                          <a:defRPr>
                            <a:solidFill>
                              <a:schemeClr val="tx1"/>
                            </a:solidFill>
                            <a:latin typeface="Arial" charset="0"/>
                          </a:defRPr>
                        </a:lvl7pPr>
                        <a:lvl8pPr marL="3429000" indent="-228600" fontAlgn="base">
                          <a:spcBef>
                            <a:spcPct val="0"/>
                          </a:spcBef>
                          <a:spcAft>
                            <a:spcPct val="40000"/>
                          </a:spcAft>
                          <a:defRPr>
                            <a:solidFill>
                              <a:schemeClr val="tx1"/>
                            </a:solidFill>
                            <a:latin typeface="Arial" charset="0"/>
                          </a:defRPr>
                        </a:lvl8pPr>
                        <a:lvl9pPr marL="3886200" indent="-228600" fontAlgn="base">
                          <a:spcBef>
                            <a:spcPct val="0"/>
                          </a:spcBef>
                          <a:spcAft>
                            <a:spcPct val="40000"/>
                          </a:spcAft>
                          <a:defRPr>
                            <a:solidFill>
                              <a:schemeClr val="tx1"/>
                            </a:solidFill>
                            <a:latin typeface="Arial" charset="0"/>
                          </a:defRPr>
                        </a:lvl9pPr>
                      </a:lstStyle>
                      <a:p>
                        <a:pPr marL="0" marR="0" lvl="0" indent="0" algn="ctr" defTabSz="914400" rtl="0" eaLnBrk="1" fontAlgn="base" latinLnBrk="0" hangingPunct="1">
                          <a:lnSpc>
                            <a:spcPct val="100000"/>
                          </a:lnSpc>
                          <a:spcBef>
                            <a:spcPct val="0"/>
                          </a:spcBef>
                          <a:spcAft>
                            <a:spcPct val="40000"/>
                          </a:spcAft>
                          <a:buClrTx/>
                          <a:buSzTx/>
                          <a:buFontTx/>
                          <a:buNone/>
                          <a:tabLst/>
                        </a:pPr>
                        <a:r>
                          <a:rPr kumimoji="0" lang="en-GB" altLang="en-US" sz="1400" b="0" i="0" u="none" strike="noStrike" cap="none" normalizeH="0" baseline="0" dirty="0">
                            <a:ln>
                              <a:noFill/>
                            </a:ln>
                            <a:solidFill>
                              <a:schemeClr val="tx1"/>
                            </a:solidFill>
                            <a:effectLst/>
                            <a:latin typeface="Arial" charset="0"/>
                          </a:rPr>
                          <a:t>U[2,2.5]</a:t>
                        </a:r>
                      </a:p>
                    </a:txBody>
                    <a:tcPr marL="71025" marR="71025" marT="35512" marB="35512"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35974">
                  <a:tc>
                    <a:txBody>
                      <a:bodyPr/>
                      <a:lstStyle>
                        <a:lvl1pPr>
                          <a:spcBef>
                            <a:spcPct val="0"/>
                          </a:spcBef>
                          <a:spcAft>
                            <a:spcPct val="40000"/>
                          </a:spcAft>
                          <a:defRPr sz="2000">
                            <a:solidFill>
                              <a:schemeClr val="tx1"/>
                            </a:solidFill>
                            <a:latin typeface="Arial" charset="0"/>
                          </a:defRPr>
                        </a:lvl1pPr>
                        <a:lvl2pPr marL="742950" indent="-285750">
                          <a:spcBef>
                            <a:spcPct val="0"/>
                          </a:spcBef>
                          <a:spcAft>
                            <a:spcPct val="40000"/>
                          </a:spcAft>
                          <a:defRPr>
                            <a:solidFill>
                              <a:schemeClr val="tx1"/>
                            </a:solidFill>
                            <a:latin typeface="Arial" charset="0"/>
                          </a:defRPr>
                        </a:lvl2pPr>
                        <a:lvl3pPr marL="1143000" indent="-228600">
                          <a:spcBef>
                            <a:spcPct val="0"/>
                          </a:spcBef>
                          <a:spcAft>
                            <a:spcPct val="40000"/>
                          </a:spcAft>
                          <a:defRPr>
                            <a:solidFill>
                              <a:schemeClr val="tx1"/>
                            </a:solidFill>
                            <a:latin typeface="Arial" charset="0"/>
                          </a:defRPr>
                        </a:lvl3pPr>
                        <a:lvl4pPr marL="1600200" indent="-228600">
                          <a:spcBef>
                            <a:spcPct val="0"/>
                          </a:spcBef>
                          <a:spcAft>
                            <a:spcPct val="40000"/>
                          </a:spcAft>
                          <a:defRPr>
                            <a:solidFill>
                              <a:schemeClr val="tx1"/>
                            </a:solidFill>
                            <a:latin typeface="Arial" charset="0"/>
                          </a:defRPr>
                        </a:lvl4pPr>
                        <a:lvl5pPr marL="2057400" indent="-228600">
                          <a:spcBef>
                            <a:spcPct val="0"/>
                          </a:spcBef>
                          <a:spcAft>
                            <a:spcPct val="40000"/>
                          </a:spcAft>
                          <a:defRPr>
                            <a:solidFill>
                              <a:schemeClr val="tx1"/>
                            </a:solidFill>
                            <a:latin typeface="Arial" charset="0"/>
                          </a:defRPr>
                        </a:lvl5pPr>
                        <a:lvl6pPr marL="2514600" indent="-228600" fontAlgn="base">
                          <a:spcBef>
                            <a:spcPct val="0"/>
                          </a:spcBef>
                          <a:spcAft>
                            <a:spcPct val="40000"/>
                          </a:spcAft>
                          <a:defRPr>
                            <a:solidFill>
                              <a:schemeClr val="tx1"/>
                            </a:solidFill>
                            <a:latin typeface="Arial" charset="0"/>
                          </a:defRPr>
                        </a:lvl6pPr>
                        <a:lvl7pPr marL="2971800" indent="-228600" fontAlgn="base">
                          <a:spcBef>
                            <a:spcPct val="0"/>
                          </a:spcBef>
                          <a:spcAft>
                            <a:spcPct val="40000"/>
                          </a:spcAft>
                          <a:defRPr>
                            <a:solidFill>
                              <a:schemeClr val="tx1"/>
                            </a:solidFill>
                            <a:latin typeface="Arial" charset="0"/>
                          </a:defRPr>
                        </a:lvl7pPr>
                        <a:lvl8pPr marL="3429000" indent="-228600" fontAlgn="base">
                          <a:spcBef>
                            <a:spcPct val="0"/>
                          </a:spcBef>
                          <a:spcAft>
                            <a:spcPct val="40000"/>
                          </a:spcAft>
                          <a:defRPr>
                            <a:solidFill>
                              <a:schemeClr val="tx1"/>
                            </a:solidFill>
                            <a:latin typeface="Arial" charset="0"/>
                          </a:defRPr>
                        </a:lvl8pPr>
                        <a:lvl9pPr marL="3886200" indent="-228600" fontAlgn="base">
                          <a:spcBef>
                            <a:spcPct val="0"/>
                          </a:spcBef>
                          <a:spcAft>
                            <a:spcPct val="40000"/>
                          </a:spcAft>
                          <a:defRPr>
                            <a:solidFill>
                              <a:schemeClr val="tx1"/>
                            </a:solidFill>
                            <a:latin typeface="Arial" charset="0"/>
                          </a:defRPr>
                        </a:lvl9pPr>
                      </a:lstStyle>
                      <a:p>
                        <a:pPr marL="0" marR="0" lvl="0" indent="0" algn="l" defTabSz="914400" rtl="0" eaLnBrk="1" fontAlgn="base" latinLnBrk="0" hangingPunct="1">
                          <a:lnSpc>
                            <a:spcPct val="100000"/>
                          </a:lnSpc>
                          <a:spcBef>
                            <a:spcPct val="0"/>
                          </a:spcBef>
                          <a:spcAft>
                            <a:spcPct val="40000"/>
                          </a:spcAft>
                          <a:buClrTx/>
                          <a:buSzTx/>
                          <a:buFontTx/>
                          <a:buNone/>
                          <a:tabLst/>
                        </a:pPr>
                        <a:r>
                          <a:rPr kumimoji="0" lang="en-GB" altLang="en-US" sz="1400" b="0" i="0" u="none" strike="noStrike" cap="none" normalizeH="0" baseline="0" dirty="0">
                            <a:ln>
                              <a:noFill/>
                            </a:ln>
                            <a:solidFill>
                              <a:schemeClr val="tx1"/>
                            </a:solidFill>
                            <a:effectLst/>
                            <a:latin typeface="Arial" charset="0"/>
                          </a:rPr>
                          <a:t>Access distance / (AD)</a:t>
                        </a:r>
                        <a:r>
                          <a:rPr kumimoji="0" lang="en-GB" altLang="en-US" sz="1400" b="0" i="0" u="none" strike="noStrike" cap="none" normalizeH="0" baseline="-25000" dirty="0">
                            <a:ln>
                              <a:noFill/>
                            </a:ln>
                            <a:solidFill>
                              <a:schemeClr val="tx1"/>
                            </a:solidFill>
                            <a:effectLst/>
                            <a:latin typeface="Arial" charset="0"/>
                          </a:rPr>
                          <a:t>nearest bus stop</a:t>
                        </a:r>
                        <a:endParaRPr kumimoji="0" lang="en-GB" altLang="en-US" sz="1400" b="0" i="0" u="none" strike="noStrike" cap="none" normalizeH="0" baseline="0" dirty="0">
                          <a:ln>
                            <a:noFill/>
                          </a:ln>
                          <a:solidFill>
                            <a:schemeClr val="tx1"/>
                          </a:solidFill>
                          <a:effectLst/>
                          <a:latin typeface="Arial" charset="0"/>
                        </a:endParaRPr>
                      </a:p>
                    </a:txBody>
                    <a:tcPr marL="71025" marR="71025" marT="35512" marB="35512"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0"/>
                          </a:spcBef>
                          <a:spcAft>
                            <a:spcPct val="40000"/>
                          </a:spcAft>
                          <a:defRPr sz="2000">
                            <a:solidFill>
                              <a:schemeClr val="tx1"/>
                            </a:solidFill>
                            <a:latin typeface="Arial" charset="0"/>
                          </a:defRPr>
                        </a:lvl1pPr>
                        <a:lvl2pPr marL="742950" indent="-285750">
                          <a:spcBef>
                            <a:spcPct val="0"/>
                          </a:spcBef>
                          <a:spcAft>
                            <a:spcPct val="40000"/>
                          </a:spcAft>
                          <a:defRPr>
                            <a:solidFill>
                              <a:schemeClr val="tx1"/>
                            </a:solidFill>
                            <a:latin typeface="Arial" charset="0"/>
                          </a:defRPr>
                        </a:lvl2pPr>
                        <a:lvl3pPr marL="1143000" indent="-228600">
                          <a:spcBef>
                            <a:spcPct val="0"/>
                          </a:spcBef>
                          <a:spcAft>
                            <a:spcPct val="40000"/>
                          </a:spcAft>
                          <a:defRPr>
                            <a:solidFill>
                              <a:schemeClr val="tx1"/>
                            </a:solidFill>
                            <a:latin typeface="Arial" charset="0"/>
                          </a:defRPr>
                        </a:lvl3pPr>
                        <a:lvl4pPr marL="1600200" indent="-228600">
                          <a:spcBef>
                            <a:spcPct val="0"/>
                          </a:spcBef>
                          <a:spcAft>
                            <a:spcPct val="40000"/>
                          </a:spcAft>
                          <a:defRPr>
                            <a:solidFill>
                              <a:schemeClr val="tx1"/>
                            </a:solidFill>
                            <a:latin typeface="Arial" charset="0"/>
                          </a:defRPr>
                        </a:lvl4pPr>
                        <a:lvl5pPr marL="2057400" indent="-228600">
                          <a:spcBef>
                            <a:spcPct val="0"/>
                          </a:spcBef>
                          <a:spcAft>
                            <a:spcPct val="40000"/>
                          </a:spcAft>
                          <a:defRPr>
                            <a:solidFill>
                              <a:schemeClr val="tx1"/>
                            </a:solidFill>
                            <a:latin typeface="Arial" charset="0"/>
                          </a:defRPr>
                        </a:lvl5pPr>
                        <a:lvl6pPr marL="2514600" indent="-228600" fontAlgn="base">
                          <a:spcBef>
                            <a:spcPct val="0"/>
                          </a:spcBef>
                          <a:spcAft>
                            <a:spcPct val="40000"/>
                          </a:spcAft>
                          <a:defRPr>
                            <a:solidFill>
                              <a:schemeClr val="tx1"/>
                            </a:solidFill>
                            <a:latin typeface="Arial" charset="0"/>
                          </a:defRPr>
                        </a:lvl6pPr>
                        <a:lvl7pPr marL="2971800" indent="-228600" fontAlgn="base">
                          <a:spcBef>
                            <a:spcPct val="0"/>
                          </a:spcBef>
                          <a:spcAft>
                            <a:spcPct val="40000"/>
                          </a:spcAft>
                          <a:defRPr>
                            <a:solidFill>
                              <a:schemeClr val="tx1"/>
                            </a:solidFill>
                            <a:latin typeface="Arial" charset="0"/>
                          </a:defRPr>
                        </a:lvl7pPr>
                        <a:lvl8pPr marL="3429000" indent="-228600" fontAlgn="base">
                          <a:spcBef>
                            <a:spcPct val="0"/>
                          </a:spcBef>
                          <a:spcAft>
                            <a:spcPct val="40000"/>
                          </a:spcAft>
                          <a:defRPr>
                            <a:solidFill>
                              <a:schemeClr val="tx1"/>
                            </a:solidFill>
                            <a:latin typeface="Arial" charset="0"/>
                          </a:defRPr>
                        </a:lvl8pPr>
                        <a:lvl9pPr marL="3886200" indent="-228600" fontAlgn="base">
                          <a:spcBef>
                            <a:spcPct val="0"/>
                          </a:spcBef>
                          <a:spcAft>
                            <a:spcPct val="40000"/>
                          </a:spcAft>
                          <a:defRPr>
                            <a:solidFill>
                              <a:schemeClr val="tx1"/>
                            </a:solidFill>
                            <a:latin typeface="Arial" charset="0"/>
                          </a:defRPr>
                        </a:lvl9pPr>
                      </a:lstStyle>
                      <a:p>
                        <a:pPr marL="0" marR="0" lvl="0" indent="0" algn="ctr" defTabSz="914400" rtl="0" eaLnBrk="1" fontAlgn="base" latinLnBrk="0" hangingPunct="1">
                          <a:lnSpc>
                            <a:spcPct val="100000"/>
                          </a:lnSpc>
                          <a:spcBef>
                            <a:spcPct val="0"/>
                          </a:spcBef>
                          <a:spcAft>
                            <a:spcPct val="40000"/>
                          </a:spcAft>
                          <a:buClrTx/>
                          <a:buSzTx/>
                          <a:buFontTx/>
                          <a:buNone/>
                          <a:tabLst/>
                        </a:pPr>
                        <a:r>
                          <a:rPr kumimoji="0" lang="en-GB" altLang="en-US" sz="1400" b="0" i="0" u="none" strike="noStrike" cap="none" normalizeH="0" baseline="0" dirty="0">
                            <a:ln>
                              <a:noFill/>
                            </a:ln>
                            <a:solidFill>
                              <a:schemeClr val="tx1"/>
                            </a:solidFill>
                            <a:effectLst/>
                            <a:latin typeface="Arial" charset="0"/>
                          </a:rPr>
                          <a:t>U(0,0.5]</a:t>
                        </a:r>
                      </a:p>
                    </a:txBody>
                    <a:tcPr marL="71025" marR="71025" marT="35512" marB="35512"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0"/>
                          </a:spcBef>
                          <a:spcAft>
                            <a:spcPct val="40000"/>
                          </a:spcAft>
                          <a:defRPr sz="2000">
                            <a:solidFill>
                              <a:schemeClr val="tx1"/>
                            </a:solidFill>
                            <a:latin typeface="Arial" charset="0"/>
                          </a:defRPr>
                        </a:lvl1pPr>
                        <a:lvl2pPr marL="742950" indent="-285750">
                          <a:spcBef>
                            <a:spcPct val="0"/>
                          </a:spcBef>
                          <a:spcAft>
                            <a:spcPct val="40000"/>
                          </a:spcAft>
                          <a:defRPr>
                            <a:solidFill>
                              <a:schemeClr val="tx1"/>
                            </a:solidFill>
                            <a:latin typeface="Arial" charset="0"/>
                          </a:defRPr>
                        </a:lvl2pPr>
                        <a:lvl3pPr marL="1143000" indent="-228600">
                          <a:spcBef>
                            <a:spcPct val="0"/>
                          </a:spcBef>
                          <a:spcAft>
                            <a:spcPct val="40000"/>
                          </a:spcAft>
                          <a:defRPr>
                            <a:solidFill>
                              <a:schemeClr val="tx1"/>
                            </a:solidFill>
                            <a:latin typeface="Arial" charset="0"/>
                          </a:defRPr>
                        </a:lvl3pPr>
                        <a:lvl4pPr marL="1600200" indent="-228600">
                          <a:spcBef>
                            <a:spcPct val="0"/>
                          </a:spcBef>
                          <a:spcAft>
                            <a:spcPct val="40000"/>
                          </a:spcAft>
                          <a:defRPr>
                            <a:solidFill>
                              <a:schemeClr val="tx1"/>
                            </a:solidFill>
                            <a:latin typeface="Arial" charset="0"/>
                          </a:defRPr>
                        </a:lvl4pPr>
                        <a:lvl5pPr marL="2057400" indent="-228600">
                          <a:spcBef>
                            <a:spcPct val="0"/>
                          </a:spcBef>
                          <a:spcAft>
                            <a:spcPct val="40000"/>
                          </a:spcAft>
                          <a:defRPr>
                            <a:solidFill>
                              <a:schemeClr val="tx1"/>
                            </a:solidFill>
                            <a:latin typeface="Arial" charset="0"/>
                          </a:defRPr>
                        </a:lvl5pPr>
                        <a:lvl6pPr marL="2514600" indent="-228600" fontAlgn="base">
                          <a:spcBef>
                            <a:spcPct val="0"/>
                          </a:spcBef>
                          <a:spcAft>
                            <a:spcPct val="40000"/>
                          </a:spcAft>
                          <a:defRPr>
                            <a:solidFill>
                              <a:schemeClr val="tx1"/>
                            </a:solidFill>
                            <a:latin typeface="Arial" charset="0"/>
                          </a:defRPr>
                        </a:lvl6pPr>
                        <a:lvl7pPr marL="2971800" indent="-228600" fontAlgn="base">
                          <a:spcBef>
                            <a:spcPct val="0"/>
                          </a:spcBef>
                          <a:spcAft>
                            <a:spcPct val="40000"/>
                          </a:spcAft>
                          <a:defRPr>
                            <a:solidFill>
                              <a:schemeClr val="tx1"/>
                            </a:solidFill>
                            <a:latin typeface="Arial" charset="0"/>
                          </a:defRPr>
                        </a:lvl7pPr>
                        <a:lvl8pPr marL="3429000" indent="-228600" fontAlgn="base">
                          <a:spcBef>
                            <a:spcPct val="0"/>
                          </a:spcBef>
                          <a:spcAft>
                            <a:spcPct val="40000"/>
                          </a:spcAft>
                          <a:defRPr>
                            <a:solidFill>
                              <a:schemeClr val="tx1"/>
                            </a:solidFill>
                            <a:latin typeface="Arial" charset="0"/>
                          </a:defRPr>
                        </a:lvl8pPr>
                        <a:lvl9pPr marL="3886200" indent="-228600" fontAlgn="base">
                          <a:spcBef>
                            <a:spcPct val="0"/>
                          </a:spcBef>
                          <a:spcAft>
                            <a:spcPct val="40000"/>
                          </a:spcAft>
                          <a:defRPr>
                            <a:solidFill>
                              <a:schemeClr val="tx1"/>
                            </a:solidFill>
                            <a:latin typeface="Arial" charset="0"/>
                          </a:defRPr>
                        </a:lvl9pPr>
                      </a:lstStyle>
                      <a:p>
                        <a:pPr marL="0" marR="0" lvl="0" indent="0" algn="ctr" defTabSz="914400" rtl="0" eaLnBrk="1" fontAlgn="base" latinLnBrk="0" hangingPunct="1">
                          <a:lnSpc>
                            <a:spcPct val="100000"/>
                          </a:lnSpc>
                          <a:spcBef>
                            <a:spcPct val="0"/>
                          </a:spcBef>
                          <a:spcAft>
                            <a:spcPct val="40000"/>
                          </a:spcAft>
                          <a:buClrTx/>
                          <a:buSzTx/>
                          <a:buFontTx/>
                          <a:buNone/>
                          <a:tabLst/>
                        </a:pPr>
                        <a:r>
                          <a:rPr kumimoji="0" lang="en-GB" altLang="en-US" sz="1400" b="0" i="0" u="none" strike="noStrike" cap="none" normalizeH="0" baseline="0" dirty="0">
                            <a:ln>
                              <a:noFill/>
                            </a:ln>
                            <a:solidFill>
                              <a:schemeClr val="tx1"/>
                            </a:solidFill>
                            <a:effectLst/>
                            <a:latin typeface="Arial" charset="0"/>
                          </a:rPr>
                          <a:t>U(0.5,1]</a:t>
                        </a:r>
                      </a:p>
                    </a:txBody>
                    <a:tcPr marL="71025" marR="71025" marT="35512" marB="35512"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0"/>
                          </a:spcBef>
                          <a:spcAft>
                            <a:spcPct val="40000"/>
                          </a:spcAft>
                          <a:defRPr sz="2000">
                            <a:solidFill>
                              <a:schemeClr val="tx1"/>
                            </a:solidFill>
                            <a:latin typeface="Arial" charset="0"/>
                          </a:defRPr>
                        </a:lvl1pPr>
                        <a:lvl2pPr marL="742950" indent="-285750">
                          <a:spcBef>
                            <a:spcPct val="0"/>
                          </a:spcBef>
                          <a:spcAft>
                            <a:spcPct val="40000"/>
                          </a:spcAft>
                          <a:defRPr>
                            <a:solidFill>
                              <a:schemeClr val="tx1"/>
                            </a:solidFill>
                            <a:latin typeface="Arial" charset="0"/>
                          </a:defRPr>
                        </a:lvl2pPr>
                        <a:lvl3pPr marL="1143000" indent="-228600">
                          <a:spcBef>
                            <a:spcPct val="0"/>
                          </a:spcBef>
                          <a:spcAft>
                            <a:spcPct val="40000"/>
                          </a:spcAft>
                          <a:defRPr>
                            <a:solidFill>
                              <a:schemeClr val="tx1"/>
                            </a:solidFill>
                            <a:latin typeface="Arial" charset="0"/>
                          </a:defRPr>
                        </a:lvl3pPr>
                        <a:lvl4pPr marL="1600200" indent="-228600">
                          <a:spcBef>
                            <a:spcPct val="0"/>
                          </a:spcBef>
                          <a:spcAft>
                            <a:spcPct val="40000"/>
                          </a:spcAft>
                          <a:defRPr>
                            <a:solidFill>
                              <a:schemeClr val="tx1"/>
                            </a:solidFill>
                            <a:latin typeface="Arial" charset="0"/>
                          </a:defRPr>
                        </a:lvl4pPr>
                        <a:lvl5pPr marL="2057400" indent="-228600">
                          <a:spcBef>
                            <a:spcPct val="0"/>
                          </a:spcBef>
                          <a:spcAft>
                            <a:spcPct val="40000"/>
                          </a:spcAft>
                          <a:defRPr>
                            <a:solidFill>
                              <a:schemeClr val="tx1"/>
                            </a:solidFill>
                            <a:latin typeface="Arial" charset="0"/>
                          </a:defRPr>
                        </a:lvl5pPr>
                        <a:lvl6pPr marL="2514600" indent="-228600" fontAlgn="base">
                          <a:spcBef>
                            <a:spcPct val="0"/>
                          </a:spcBef>
                          <a:spcAft>
                            <a:spcPct val="40000"/>
                          </a:spcAft>
                          <a:defRPr>
                            <a:solidFill>
                              <a:schemeClr val="tx1"/>
                            </a:solidFill>
                            <a:latin typeface="Arial" charset="0"/>
                          </a:defRPr>
                        </a:lvl6pPr>
                        <a:lvl7pPr marL="2971800" indent="-228600" fontAlgn="base">
                          <a:spcBef>
                            <a:spcPct val="0"/>
                          </a:spcBef>
                          <a:spcAft>
                            <a:spcPct val="40000"/>
                          </a:spcAft>
                          <a:defRPr>
                            <a:solidFill>
                              <a:schemeClr val="tx1"/>
                            </a:solidFill>
                            <a:latin typeface="Arial" charset="0"/>
                          </a:defRPr>
                        </a:lvl7pPr>
                        <a:lvl8pPr marL="3429000" indent="-228600" fontAlgn="base">
                          <a:spcBef>
                            <a:spcPct val="0"/>
                          </a:spcBef>
                          <a:spcAft>
                            <a:spcPct val="40000"/>
                          </a:spcAft>
                          <a:defRPr>
                            <a:solidFill>
                              <a:schemeClr val="tx1"/>
                            </a:solidFill>
                            <a:latin typeface="Arial" charset="0"/>
                          </a:defRPr>
                        </a:lvl8pPr>
                        <a:lvl9pPr marL="3886200" indent="-228600" fontAlgn="base">
                          <a:spcBef>
                            <a:spcPct val="0"/>
                          </a:spcBef>
                          <a:spcAft>
                            <a:spcPct val="40000"/>
                          </a:spcAft>
                          <a:defRPr>
                            <a:solidFill>
                              <a:schemeClr val="tx1"/>
                            </a:solidFill>
                            <a:latin typeface="Arial" charset="0"/>
                          </a:defRPr>
                        </a:lvl9pPr>
                      </a:lstStyle>
                      <a:p>
                        <a:pPr marL="0" marR="0" lvl="0" indent="0" algn="ctr" defTabSz="914400" rtl="0" eaLnBrk="1" fontAlgn="base" latinLnBrk="0" hangingPunct="1">
                          <a:lnSpc>
                            <a:spcPct val="100000"/>
                          </a:lnSpc>
                          <a:spcBef>
                            <a:spcPct val="0"/>
                          </a:spcBef>
                          <a:spcAft>
                            <a:spcPct val="40000"/>
                          </a:spcAft>
                          <a:buClrTx/>
                          <a:buSzTx/>
                          <a:buFontTx/>
                          <a:buNone/>
                          <a:tabLst/>
                        </a:pPr>
                        <a:r>
                          <a:rPr kumimoji="0" lang="en-GB" altLang="en-US" sz="1400" b="0" i="0" u="none" strike="noStrike" cap="none" normalizeH="0" baseline="0" dirty="0">
                            <a:ln>
                              <a:noFill/>
                            </a:ln>
                            <a:solidFill>
                              <a:schemeClr val="tx1"/>
                            </a:solidFill>
                            <a:effectLst/>
                            <a:latin typeface="Arial" charset="0"/>
                          </a:rPr>
                          <a:t>--</a:t>
                        </a:r>
                      </a:p>
                    </a:txBody>
                    <a:tcPr marL="71025" marR="71025" marT="35512" marB="35512"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57141">
                  <a:tc>
                    <a:txBody>
                      <a:bodyPr/>
                      <a:lstStyle>
                        <a:lvl1pPr>
                          <a:spcBef>
                            <a:spcPct val="0"/>
                          </a:spcBef>
                          <a:spcAft>
                            <a:spcPct val="40000"/>
                          </a:spcAft>
                          <a:defRPr sz="2000">
                            <a:solidFill>
                              <a:schemeClr val="tx1"/>
                            </a:solidFill>
                            <a:latin typeface="Arial" charset="0"/>
                          </a:defRPr>
                        </a:lvl1pPr>
                        <a:lvl2pPr marL="742950" indent="-285750">
                          <a:spcBef>
                            <a:spcPct val="0"/>
                          </a:spcBef>
                          <a:spcAft>
                            <a:spcPct val="40000"/>
                          </a:spcAft>
                          <a:defRPr>
                            <a:solidFill>
                              <a:schemeClr val="tx1"/>
                            </a:solidFill>
                            <a:latin typeface="Arial" charset="0"/>
                          </a:defRPr>
                        </a:lvl2pPr>
                        <a:lvl3pPr marL="1143000" indent="-228600">
                          <a:spcBef>
                            <a:spcPct val="0"/>
                          </a:spcBef>
                          <a:spcAft>
                            <a:spcPct val="40000"/>
                          </a:spcAft>
                          <a:defRPr>
                            <a:solidFill>
                              <a:schemeClr val="tx1"/>
                            </a:solidFill>
                            <a:latin typeface="Arial" charset="0"/>
                          </a:defRPr>
                        </a:lvl3pPr>
                        <a:lvl4pPr marL="1600200" indent="-228600">
                          <a:spcBef>
                            <a:spcPct val="0"/>
                          </a:spcBef>
                          <a:spcAft>
                            <a:spcPct val="40000"/>
                          </a:spcAft>
                          <a:defRPr>
                            <a:solidFill>
                              <a:schemeClr val="tx1"/>
                            </a:solidFill>
                            <a:latin typeface="Arial" charset="0"/>
                          </a:defRPr>
                        </a:lvl4pPr>
                        <a:lvl5pPr marL="2057400" indent="-228600">
                          <a:spcBef>
                            <a:spcPct val="0"/>
                          </a:spcBef>
                          <a:spcAft>
                            <a:spcPct val="40000"/>
                          </a:spcAft>
                          <a:defRPr>
                            <a:solidFill>
                              <a:schemeClr val="tx1"/>
                            </a:solidFill>
                            <a:latin typeface="Arial" charset="0"/>
                          </a:defRPr>
                        </a:lvl5pPr>
                        <a:lvl6pPr marL="2514600" indent="-228600" fontAlgn="base">
                          <a:spcBef>
                            <a:spcPct val="0"/>
                          </a:spcBef>
                          <a:spcAft>
                            <a:spcPct val="40000"/>
                          </a:spcAft>
                          <a:defRPr>
                            <a:solidFill>
                              <a:schemeClr val="tx1"/>
                            </a:solidFill>
                            <a:latin typeface="Arial" charset="0"/>
                          </a:defRPr>
                        </a:lvl6pPr>
                        <a:lvl7pPr marL="2971800" indent="-228600" fontAlgn="base">
                          <a:spcBef>
                            <a:spcPct val="0"/>
                          </a:spcBef>
                          <a:spcAft>
                            <a:spcPct val="40000"/>
                          </a:spcAft>
                          <a:defRPr>
                            <a:solidFill>
                              <a:schemeClr val="tx1"/>
                            </a:solidFill>
                            <a:latin typeface="Arial" charset="0"/>
                          </a:defRPr>
                        </a:lvl7pPr>
                        <a:lvl8pPr marL="3429000" indent="-228600" fontAlgn="base">
                          <a:spcBef>
                            <a:spcPct val="0"/>
                          </a:spcBef>
                          <a:spcAft>
                            <a:spcPct val="40000"/>
                          </a:spcAft>
                          <a:defRPr>
                            <a:solidFill>
                              <a:schemeClr val="tx1"/>
                            </a:solidFill>
                            <a:latin typeface="Arial" charset="0"/>
                          </a:defRPr>
                        </a:lvl8pPr>
                        <a:lvl9pPr marL="3886200" indent="-228600" fontAlgn="base">
                          <a:spcBef>
                            <a:spcPct val="0"/>
                          </a:spcBef>
                          <a:spcAft>
                            <a:spcPct val="40000"/>
                          </a:spcAft>
                          <a:defRPr>
                            <a:solidFill>
                              <a:schemeClr val="tx1"/>
                            </a:solidFill>
                            <a:latin typeface="Arial" charset="0"/>
                          </a:defRPr>
                        </a:lvl9pPr>
                      </a:lstStyle>
                      <a:p>
                        <a:pPr marL="0" marR="0" lvl="0" indent="0" algn="l" defTabSz="914400" rtl="0" eaLnBrk="1" fontAlgn="base" latinLnBrk="0" hangingPunct="1">
                          <a:lnSpc>
                            <a:spcPct val="100000"/>
                          </a:lnSpc>
                          <a:spcBef>
                            <a:spcPct val="0"/>
                          </a:spcBef>
                          <a:spcAft>
                            <a:spcPct val="40000"/>
                          </a:spcAft>
                          <a:buClrTx/>
                          <a:buSzTx/>
                          <a:buFontTx/>
                          <a:buNone/>
                          <a:tabLst/>
                        </a:pPr>
                        <a:r>
                          <a:rPr kumimoji="0" lang="en-GB" altLang="en-US" sz="1400" b="0" i="0" u="none" strike="noStrike" cap="none" normalizeH="0" baseline="0" dirty="0">
                            <a:ln>
                              <a:noFill/>
                            </a:ln>
                            <a:solidFill>
                              <a:schemeClr val="tx1"/>
                            </a:solidFill>
                            <a:effectLst/>
                            <a:latin typeface="Arial" charset="0"/>
                          </a:rPr>
                          <a:t>Egress distance / (ED)</a:t>
                        </a:r>
                        <a:r>
                          <a:rPr kumimoji="0" lang="en-GB" altLang="en-US" sz="1400" b="0" i="0" u="none" strike="noStrike" cap="none" normalizeH="0" baseline="-25000" dirty="0">
                            <a:ln>
                              <a:noFill/>
                            </a:ln>
                            <a:solidFill>
                              <a:schemeClr val="tx1"/>
                            </a:solidFill>
                            <a:effectLst/>
                            <a:latin typeface="Arial" charset="0"/>
                          </a:rPr>
                          <a:t>nearest bus stop</a:t>
                        </a:r>
                        <a:endParaRPr kumimoji="0" lang="en-GB" altLang="en-US" sz="1400" b="0" i="0" u="none" strike="noStrike" cap="none" normalizeH="0" baseline="0" dirty="0">
                          <a:ln>
                            <a:noFill/>
                          </a:ln>
                          <a:solidFill>
                            <a:schemeClr val="tx1"/>
                          </a:solidFill>
                          <a:effectLst/>
                          <a:latin typeface="Arial" charset="0"/>
                        </a:endParaRPr>
                      </a:p>
                    </a:txBody>
                    <a:tcPr marL="71025" marR="71025" marT="35512" marB="35512"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0"/>
                          </a:spcBef>
                          <a:spcAft>
                            <a:spcPct val="40000"/>
                          </a:spcAft>
                          <a:defRPr sz="2000">
                            <a:solidFill>
                              <a:schemeClr val="tx1"/>
                            </a:solidFill>
                            <a:latin typeface="Arial" charset="0"/>
                          </a:defRPr>
                        </a:lvl1pPr>
                        <a:lvl2pPr marL="742950" indent="-285750">
                          <a:spcBef>
                            <a:spcPct val="0"/>
                          </a:spcBef>
                          <a:spcAft>
                            <a:spcPct val="40000"/>
                          </a:spcAft>
                          <a:defRPr>
                            <a:solidFill>
                              <a:schemeClr val="tx1"/>
                            </a:solidFill>
                            <a:latin typeface="Arial" charset="0"/>
                          </a:defRPr>
                        </a:lvl2pPr>
                        <a:lvl3pPr marL="1143000" indent="-228600">
                          <a:spcBef>
                            <a:spcPct val="0"/>
                          </a:spcBef>
                          <a:spcAft>
                            <a:spcPct val="40000"/>
                          </a:spcAft>
                          <a:defRPr>
                            <a:solidFill>
                              <a:schemeClr val="tx1"/>
                            </a:solidFill>
                            <a:latin typeface="Arial" charset="0"/>
                          </a:defRPr>
                        </a:lvl3pPr>
                        <a:lvl4pPr marL="1600200" indent="-228600">
                          <a:spcBef>
                            <a:spcPct val="0"/>
                          </a:spcBef>
                          <a:spcAft>
                            <a:spcPct val="40000"/>
                          </a:spcAft>
                          <a:defRPr>
                            <a:solidFill>
                              <a:schemeClr val="tx1"/>
                            </a:solidFill>
                            <a:latin typeface="Arial" charset="0"/>
                          </a:defRPr>
                        </a:lvl4pPr>
                        <a:lvl5pPr marL="2057400" indent="-228600">
                          <a:spcBef>
                            <a:spcPct val="0"/>
                          </a:spcBef>
                          <a:spcAft>
                            <a:spcPct val="40000"/>
                          </a:spcAft>
                          <a:defRPr>
                            <a:solidFill>
                              <a:schemeClr val="tx1"/>
                            </a:solidFill>
                            <a:latin typeface="Arial" charset="0"/>
                          </a:defRPr>
                        </a:lvl5pPr>
                        <a:lvl6pPr marL="2514600" indent="-228600" fontAlgn="base">
                          <a:spcBef>
                            <a:spcPct val="0"/>
                          </a:spcBef>
                          <a:spcAft>
                            <a:spcPct val="40000"/>
                          </a:spcAft>
                          <a:defRPr>
                            <a:solidFill>
                              <a:schemeClr val="tx1"/>
                            </a:solidFill>
                            <a:latin typeface="Arial" charset="0"/>
                          </a:defRPr>
                        </a:lvl6pPr>
                        <a:lvl7pPr marL="2971800" indent="-228600" fontAlgn="base">
                          <a:spcBef>
                            <a:spcPct val="0"/>
                          </a:spcBef>
                          <a:spcAft>
                            <a:spcPct val="40000"/>
                          </a:spcAft>
                          <a:defRPr>
                            <a:solidFill>
                              <a:schemeClr val="tx1"/>
                            </a:solidFill>
                            <a:latin typeface="Arial" charset="0"/>
                          </a:defRPr>
                        </a:lvl7pPr>
                        <a:lvl8pPr marL="3429000" indent="-228600" fontAlgn="base">
                          <a:spcBef>
                            <a:spcPct val="0"/>
                          </a:spcBef>
                          <a:spcAft>
                            <a:spcPct val="40000"/>
                          </a:spcAft>
                          <a:defRPr>
                            <a:solidFill>
                              <a:schemeClr val="tx1"/>
                            </a:solidFill>
                            <a:latin typeface="Arial" charset="0"/>
                          </a:defRPr>
                        </a:lvl8pPr>
                        <a:lvl9pPr marL="3886200" indent="-228600" fontAlgn="base">
                          <a:spcBef>
                            <a:spcPct val="0"/>
                          </a:spcBef>
                          <a:spcAft>
                            <a:spcPct val="40000"/>
                          </a:spcAft>
                          <a:defRPr>
                            <a:solidFill>
                              <a:schemeClr val="tx1"/>
                            </a:solidFill>
                            <a:latin typeface="Arial" charset="0"/>
                          </a:defRPr>
                        </a:lvl9pPr>
                      </a:lstStyle>
                      <a:p>
                        <a:pPr marL="0" marR="0" lvl="0" indent="0" algn="ctr" defTabSz="914400" rtl="0" eaLnBrk="1" fontAlgn="base" latinLnBrk="0" hangingPunct="1">
                          <a:lnSpc>
                            <a:spcPct val="100000"/>
                          </a:lnSpc>
                          <a:spcBef>
                            <a:spcPct val="0"/>
                          </a:spcBef>
                          <a:spcAft>
                            <a:spcPct val="40000"/>
                          </a:spcAft>
                          <a:buClrTx/>
                          <a:buSzTx/>
                          <a:buFontTx/>
                          <a:buNone/>
                          <a:tabLst/>
                        </a:pPr>
                        <a:r>
                          <a:rPr kumimoji="0" lang="en-GB" altLang="en-US" sz="1400" b="0" i="0" u="none" strike="noStrike" cap="none" normalizeH="0" baseline="0" dirty="0">
                            <a:ln>
                              <a:noFill/>
                            </a:ln>
                            <a:solidFill>
                              <a:schemeClr val="tx1"/>
                            </a:solidFill>
                            <a:effectLst/>
                            <a:latin typeface="Arial" charset="0"/>
                          </a:rPr>
                          <a:t>U(0,0.5]</a:t>
                        </a:r>
                      </a:p>
                    </a:txBody>
                    <a:tcPr marL="71025" marR="71025" marT="35512" marB="35512"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0"/>
                          </a:spcBef>
                          <a:spcAft>
                            <a:spcPct val="40000"/>
                          </a:spcAft>
                          <a:defRPr sz="2000">
                            <a:solidFill>
                              <a:schemeClr val="tx1"/>
                            </a:solidFill>
                            <a:latin typeface="Arial" charset="0"/>
                          </a:defRPr>
                        </a:lvl1pPr>
                        <a:lvl2pPr marL="742950" indent="-285750">
                          <a:spcBef>
                            <a:spcPct val="0"/>
                          </a:spcBef>
                          <a:spcAft>
                            <a:spcPct val="40000"/>
                          </a:spcAft>
                          <a:defRPr>
                            <a:solidFill>
                              <a:schemeClr val="tx1"/>
                            </a:solidFill>
                            <a:latin typeface="Arial" charset="0"/>
                          </a:defRPr>
                        </a:lvl2pPr>
                        <a:lvl3pPr marL="1143000" indent="-228600">
                          <a:spcBef>
                            <a:spcPct val="0"/>
                          </a:spcBef>
                          <a:spcAft>
                            <a:spcPct val="40000"/>
                          </a:spcAft>
                          <a:defRPr>
                            <a:solidFill>
                              <a:schemeClr val="tx1"/>
                            </a:solidFill>
                            <a:latin typeface="Arial" charset="0"/>
                          </a:defRPr>
                        </a:lvl3pPr>
                        <a:lvl4pPr marL="1600200" indent="-228600">
                          <a:spcBef>
                            <a:spcPct val="0"/>
                          </a:spcBef>
                          <a:spcAft>
                            <a:spcPct val="40000"/>
                          </a:spcAft>
                          <a:defRPr>
                            <a:solidFill>
                              <a:schemeClr val="tx1"/>
                            </a:solidFill>
                            <a:latin typeface="Arial" charset="0"/>
                          </a:defRPr>
                        </a:lvl4pPr>
                        <a:lvl5pPr marL="2057400" indent="-228600">
                          <a:spcBef>
                            <a:spcPct val="0"/>
                          </a:spcBef>
                          <a:spcAft>
                            <a:spcPct val="40000"/>
                          </a:spcAft>
                          <a:defRPr>
                            <a:solidFill>
                              <a:schemeClr val="tx1"/>
                            </a:solidFill>
                            <a:latin typeface="Arial" charset="0"/>
                          </a:defRPr>
                        </a:lvl5pPr>
                        <a:lvl6pPr marL="2514600" indent="-228600" fontAlgn="base">
                          <a:spcBef>
                            <a:spcPct val="0"/>
                          </a:spcBef>
                          <a:spcAft>
                            <a:spcPct val="40000"/>
                          </a:spcAft>
                          <a:defRPr>
                            <a:solidFill>
                              <a:schemeClr val="tx1"/>
                            </a:solidFill>
                            <a:latin typeface="Arial" charset="0"/>
                          </a:defRPr>
                        </a:lvl6pPr>
                        <a:lvl7pPr marL="2971800" indent="-228600" fontAlgn="base">
                          <a:spcBef>
                            <a:spcPct val="0"/>
                          </a:spcBef>
                          <a:spcAft>
                            <a:spcPct val="40000"/>
                          </a:spcAft>
                          <a:defRPr>
                            <a:solidFill>
                              <a:schemeClr val="tx1"/>
                            </a:solidFill>
                            <a:latin typeface="Arial" charset="0"/>
                          </a:defRPr>
                        </a:lvl7pPr>
                        <a:lvl8pPr marL="3429000" indent="-228600" fontAlgn="base">
                          <a:spcBef>
                            <a:spcPct val="0"/>
                          </a:spcBef>
                          <a:spcAft>
                            <a:spcPct val="40000"/>
                          </a:spcAft>
                          <a:defRPr>
                            <a:solidFill>
                              <a:schemeClr val="tx1"/>
                            </a:solidFill>
                            <a:latin typeface="Arial" charset="0"/>
                          </a:defRPr>
                        </a:lvl8pPr>
                        <a:lvl9pPr marL="3886200" indent="-228600" fontAlgn="base">
                          <a:spcBef>
                            <a:spcPct val="0"/>
                          </a:spcBef>
                          <a:spcAft>
                            <a:spcPct val="40000"/>
                          </a:spcAft>
                          <a:defRPr>
                            <a:solidFill>
                              <a:schemeClr val="tx1"/>
                            </a:solidFill>
                            <a:latin typeface="Arial" charset="0"/>
                          </a:defRPr>
                        </a:lvl9pPr>
                      </a:lstStyle>
                      <a:p>
                        <a:pPr marL="0" marR="0" lvl="0" indent="0" algn="ctr" defTabSz="914400" rtl="0" eaLnBrk="1" fontAlgn="base" latinLnBrk="0" hangingPunct="1">
                          <a:lnSpc>
                            <a:spcPct val="100000"/>
                          </a:lnSpc>
                          <a:spcBef>
                            <a:spcPct val="0"/>
                          </a:spcBef>
                          <a:spcAft>
                            <a:spcPct val="40000"/>
                          </a:spcAft>
                          <a:buClrTx/>
                          <a:buSzTx/>
                          <a:buFontTx/>
                          <a:buNone/>
                          <a:tabLst/>
                        </a:pPr>
                        <a:r>
                          <a:rPr kumimoji="0" lang="en-GB" altLang="en-US" sz="1400" b="0" i="0" u="none" strike="noStrike" cap="none" normalizeH="0" baseline="0" dirty="0">
                            <a:ln>
                              <a:noFill/>
                            </a:ln>
                            <a:solidFill>
                              <a:schemeClr val="tx1"/>
                            </a:solidFill>
                            <a:effectLst/>
                            <a:latin typeface="Arial" charset="0"/>
                          </a:rPr>
                          <a:t>U(0.5,1]</a:t>
                        </a:r>
                      </a:p>
                    </a:txBody>
                    <a:tcPr marL="71025" marR="71025" marT="35512" marB="35512"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0"/>
                          </a:spcBef>
                          <a:spcAft>
                            <a:spcPct val="40000"/>
                          </a:spcAft>
                          <a:defRPr sz="2000">
                            <a:solidFill>
                              <a:schemeClr val="tx1"/>
                            </a:solidFill>
                            <a:latin typeface="Arial" charset="0"/>
                          </a:defRPr>
                        </a:lvl1pPr>
                        <a:lvl2pPr marL="742950" indent="-285750">
                          <a:spcBef>
                            <a:spcPct val="0"/>
                          </a:spcBef>
                          <a:spcAft>
                            <a:spcPct val="40000"/>
                          </a:spcAft>
                          <a:defRPr>
                            <a:solidFill>
                              <a:schemeClr val="tx1"/>
                            </a:solidFill>
                            <a:latin typeface="Arial" charset="0"/>
                          </a:defRPr>
                        </a:lvl2pPr>
                        <a:lvl3pPr marL="1143000" indent="-228600">
                          <a:spcBef>
                            <a:spcPct val="0"/>
                          </a:spcBef>
                          <a:spcAft>
                            <a:spcPct val="40000"/>
                          </a:spcAft>
                          <a:defRPr>
                            <a:solidFill>
                              <a:schemeClr val="tx1"/>
                            </a:solidFill>
                            <a:latin typeface="Arial" charset="0"/>
                          </a:defRPr>
                        </a:lvl3pPr>
                        <a:lvl4pPr marL="1600200" indent="-228600">
                          <a:spcBef>
                            <a:spcPct val="0"/>
                          </a:spcBef>
                          <a:spcAft>
                            <a:spcPct val="40000"/>
                          </a:spcAft>
                          <a:defRPr>
                            <a:solidFill>
                              <a:schemeClr val="tx1"/>
                            </a:solidFill>
                            <a:latin typeface="Arial" charset="0"/>
                          </a:defRPr>
                        </a:lvl4pPr>
                        <a:lvl5pPr marL="2057400" indent="-228600">
                          <a:spcBef>
                            <a:spcPct val="0"/>
                          </a:spcBef>
                          <a:spcAft>
                            <a:spcPct val="40000"/>
                          </a:spcAft>
                          <a:defRPr>
                            <a:solidFill>
                              <a:schemeClr val="tx1"/>
                            </a:solidFill>
                            <a:latin typeface="Arial" charset="0"/>
                          </a:defRPr>
                        </a:lvl5pPr>
                        <a:lvl6pPr marL="2514600" indent="-228600" fontAlgn="base">
                          <a:spcBef>
                            <a:spcPct val="0"/>
                          </a:spcBef>
                          <a:spcAft>
                            <a:spcPct val="40000"/>
                          </a:spcAft>
                          <a:defRPr>
                            <a:solidFill>
                              <a:schemeClr val="tx1"/>
                            </a:solidFill>
                            <a:latin typeface="Arial" charset="0"/>
                          </a:defRPr>
                        </a:lvl6pPr>
                        <a:lvl7pPr marL="2971800" indent="-228600" fontAlgn="base">
                          <a:spcBef>
                            <a:spcPct val="0"/>
                          </a:spcBef>
                          <a:spcAft>
                            <a:spcPct val="40000"/>
                          </a:spcAft>
                          <a:defRPr>
                            <a:solidFill>
                              <a:schemeClr val="tx1"/>
                            </a:solidFill>
                            <a:latin typeface="Arial" charset="0"/>
                          </a:defRPr>
                        </a:lvl7pPr>
                        <a:lvl8pPr marL="3429000" indent="-228600" fontAlgn="base">
                          <a:spcBef>
                            <a:spcPct val="0"/>
                          </a:spcBef>
                          <a:spcAft>
                            <a:spcPct val="40000"/>
                          </a:spcAft>
                          <a:defRPr>
                            <a:solidFill>
                              <a:schemeClr val="tx1"/>
                            </a:solidFill>
                            <a:latin typeface="Arial" charset="0"/>
                          </a:defRPr>
                        </a:lvl8pPr>
                        <a:lvl9pPr marL="3886200" indent="-228600" fontAlgn="base">
                          <a:spcBef>
                            <a:spcPct val="0"/>
                          </a:spcBef>
                          <a:spcAft>
                            <a:spcPct val="40000"/>
                          </a:spcAft>
                          <a:defRPr>
                            <a:solidFill>
                              <a:schemeClr val="tx1"/>
                            </a:solidFill>
                            <a:latin typeface="Arial" charset="0"/>
                          </a:defRPr>
                        </a:lvl9pPr>
                      </a:lstStyle>
                      <a:p>
                        <a:pPr marL="0" marR="0" lvl="0" indent="0" algn="ctr" defTabSz="914400" rtl="0" eaLnBrk="1" fontAlgn="base" latinLnBrk="0" hangingPunct="1">
                          <a:lnSpc>
                            <a:spcPct val="100000"/>
                          </a:lnSpc>
                          <a:spcBef>
                            <a:spcPct val="0"/>
                          </a:spcBef>
                          <a:spcAft>
                            <a:spcPct val="40000"/>
                          </a:spcAft>
                          <a:buClrTx/>
                          <a:buSzTx/>
                          <a:buFontTx/>
                          <a:buNone/>
                          <a:tabLst/>
                        </a:pPr>
                        <a:r>
                          <a:rPr kumimoji="0" lang="en-GB" altLang="en-US" sz="1400" b="0" i="0" u="none" strike="noStrike" cap="none" normalizeH="0" baseline="0" dirty="0">
                            <a:ln>
                              <a:noFill/>
                            </a:ln>
                            <a:solidFill>
                              <a:schemeClr val="tx1"/>
                            </a:solidFill>
                            <a:effectLst/>
                            <a:latin typeface="Arial" charset="0"/>
                          </a:rPr>
                          <a:t>--</a:t>
                        </a:r>
                      </a:p>
                    </a:txBody>
                    <a:tcPr marL="71025" marR="71025" marT="35512" marB="35512"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57141">
                  <a:tc>
                    <a:txBody>
                      <a:bodyPr/>
                      <a:lstStyle/>
                      <a:p>
                        <a:pPr marL="0" marR="0" lvl="0" indent="0" algn="l" defTabSz="914400" rtl="0" eaLnBrk="1" fontAlgn="base" latinLnBrk="0" hangingPunct="1">
                          <a:lnSpc>
                            <a:spcPct val="100000"/>
                          </a:lnSpc>
                          <a:spcBef>
                            <a:spcPct val="0"/>
                          </a:spcBef>
                          <a:spcAft>
                            <a:spcPct val="40000"/>
                          </a:spcAft>
                          <a:buClrTx/>
                          <a:buSzTx/>
                          <a:buFontTx/>
                          <a:buNone/>
                          <a:tabLst/>
                        </a:pPr>
                        <a:r>
                          <a:rPr kumimoji="0" lang="en-GB" altLang="en-US" sz="1400" b="0" i="0" u="none" strike="noStrike" cap="none" normalizeH="0" baseline="0" dirty="0">
                            <a:ln>
                              <a:noFill/>
                            </a:ln>
                            <a:solidFill>
                              <a:schemeClr val="tx1"/>
                            </a:solidFill>
                            <a:effectLst/>
                            <a:latin typeface="Arial" charset="0"/>
                          </a:rPr>
                          <a:t>*Width of time-windows / (TT)</a:t>
                        </a:r>
                        <a:r>
                          <a:rPr kumimoji="0" lang="en-GB" altLang="en-US" sz="1400" b="0" i="0" u="none" strike="noStrike" cap="none" normalizeH="0" baseline="-25000" dirty="0">
                            <a:ln>
                              <a:noFill/>
                            </a:ln>
                            <a:solidFill>
                              <a:schemeClr val="tx1"/>
                            </a:solidFill>
                            <a:effectLst/>
                            <a:latin typeface="Arial" charset="0"/>
                          </a:rPr>
                          <a:t>primary</a:t>
                        </a:r>
                        <a:endParaRPr kumimoji="0" lang="en-GB" altLang="en-US" sz="1400" b="0" i="0" u="none" strike="noStrike" cap="none" normalizeH="0" baseline="0" dirty="0">
                          <a:ln>
                            <a:noFill/>
                          </a:ln>
                          <a:solidFill>
                            <a:schemeClr val="tx1"/>
                          </a:solidFill>
                          <a:effectLst/>
                          <a:latin typeface="Arial" charset="0"/>
                        </a:endParaRPr>
                      </a:p>
                    </a:txBody>
                    <a:tcPr marL="71025" marR="71025" marT="35512" marB="35512"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Tx/>
                          <a:buSzTx/>
                          <a:buFontTx/>
                          <a:buNone/>
                          <a:tabLst/>
                        </a:pPr>
                        <a:r>
                          <a:rPr kumimoji="0" lang="en-GB" altLang="en-US" sz="1400" b="0" i="0" u="none" strike="noStrike" cap="none" normalizeH="0" baseline="0" dirty="0">
                            <a:ln>
                              <a:noFill/>
                            </a:ln>
                            <a:solidFill>
                              <a:schemeClr val="tx1"/>
                            </a:solidFill>
                            <a:effectLst/>
                            <a:latin typeface="Arial" charset="0"/>
                          </a:rPr>
                          <a:t>0.15</a:t>
                        </a:r>
                      </a:p>
                    </a:txBody>
                    <a:tcPr marL="71025" marR="71025" marT="35512" marB="35512"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Tx/>
                          <a:buSzTx/>
                          <a:buFontTx/>
                          <a:buNone/>
                          <a:tabLst/>
                        </a:pPr>
                        <a:r>
                          <a:rPr kumimoji="0" lang="en-GB" altLang="en-US" sz="1400" b="0" i="0" u="none" strike="noStrike" cap="none" normalizeH="0" baseline="0" dirty="0">
                            <a:ln>
                              <a:noFill/>
                            </a:ln>
                            <a:solidFill>
                              <a:schemeClr val="tx1"/>
                            </a:solidFill>
                            <a:effectLst/>
                            <a:latin typeface="Arial" charset="0"/>
                          </a:rPr>
                          <a:t>0.20</a:t>
                        </a:r>
                      </a:p>
                    </a:txBody>
                    <a:tcPr marL="71025" marR="71025" marT="35512" marB="35512"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Tx/>
                          <a:buSzTx/>
                          <a:buFontTx/>
                          <a:buNone/>
                          <a:tabLst/>
                        </a:pPr>
                        <a:r>
                          <a:rPr kumimoji="0" lang="en-GB" altLang="en-US" sz="1400" b="0" i="0" u="none" strike="noStrike" cap="none" normalizeH="0" baseline="0" dirty="0">
                            <a:ln>
                              <a:noFill/>
                            </a:ln>
                            <a:solidFill>
                              <a:schemeClr val="tx1"/>
                            </a:solidFill>
                            <a:effectLst/>
                            <a:latin typeface="Arial" charset="0"/>
                          </a:rPr>
                          <a:t>0.25</a:t>
                        </a:r>
                      </a:p>
                    </a:txBody>
                    <a:tcPr marL="71025" marR="71025" marT="35512" marB="35512"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393709581"/>
                    </a:ext>
                  </a:extLst>
                </a:tr>
                <a:tr h="257141">
                  <a:tc>
                    <a:txBody>
                      <a:bodyPr/>
                      <a:lstStyle/>
                      <a:p>
                        <a:pPr marL="0" marR="0" lvl="0" indent="0" algn="l" defTabSz="914400" rtl="0" eaLnBrk="1" fontAlgn="base" latinLnBrk="0" hangingPunct="1">
                          <a:lnSpc>
                            <a:spcPct val="100000"/>
                          </a:lnSpc>
                          <a:spcBef>
                            <a:spcPct val="0"/>
                          </a:spcBef>
                          <a:spcAft>
                            <a:spcPct val="40000"/>
                          </a:spcAft>
                          <a:buClrTx/>
                          <a:buSzTx/>
                          <a:buFontTx/>
                          <a:buNone/>
                          <a:tabLst/>
                        </a:pPr>
                        <a:r>
                          <a:rPr kumimoji="0" lang="en-GB" altLang="en-US" sz="1400" b="0" i="0" u="none" strike="noStrike" cap="none" normalizeH="0" baseline="0" dirty="0">
                            <a:ln>
                              <a:noFill/>
                            </a:ln>
                            <a:solidFill>
                              <a:schemeClr val="tx1"/>
                            </a:solidFill>
                            <a:effectLst/>
                            <a:latin typeface="Arial" charset="0"/>
                          </a:rPr>
                          <a:t>Vehicle type</a:t>
                        </a:r>
                      </a:p>
                    </a:txBody>
                    <a:tcPr marL="71025" marR="71025" marT="35512" marB="35512"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Tx/>
                          <a:buSzTx/>
                          <a:buFontTx/>
                          <a:buNone/>
                          <a:tabLst/>
                        </a:pPr>
                        <a:r>
                          <a:rPr kumimoji="0" lang="en-GB" altLang="en-US" sz="1400" b="0" i="0" u="none" strike="noStrike" cap="none" normalizeH="0" baseline="0" dirty="0">
                            <a:ln>
                              <a:noFill/>
                            </a:ln>
                            <a:solidFill>
                              <a:schemeClr val="tx1"/>
                            </a:solidFill>
                            <a:effectLst/>
                            <a:latin typeface="Arial" charset="0"/>
                          </a:rPr>
                          <a:t>Car (4-seater)</a:t>
                        </a:r>
                      </a:p>
                    </a:txBody>
                    <a:tcPr marL="71025" marR="71025" marT="35512" marB="35512"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Tx/>
                          <a:buSzTx/>
                          <a:buFontTx/>
                          <a:buNone/>
                          <a:tabLst/>
                        </a:pPr>
                        <a:r>
                          <a:rPr kumimoji="0" lang="en-GB" altLang="en-US" sz="1400" b="0" i="0" u="none" strike="noStrike" cap="none" normalizeH="0" baseline="0" dirty="0">
                            <a:ln>
                              <a:noFill/>
                            </a:ln>
                            <a:solidFill>
                              <a:schemeClr val="tx1"/>
                            </a:solidFill>
                            <a:effectLst/>
                            <a:latin typeface="Arial" charset="0"/>
                          </a:rPr>
                          <a:t>Van (9 seater)</a:t>
                        </a:r>
                      </a:p>
                    </a:txBody>
                    <a:tcPr marL="71025" marR="71025" marT="35512" marB="35512"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Tx/>
                          <a:buSzTx/>
                          <a:buFontTx/>
                          <a:buNone/>
                          <a:tabLst/>
                        </a:pPr>
                        <a:r>
                          <a:rPr kumimoji="0" lang="en-GB" altLang="en-US" sz="1400" b="0" i="0" u="none" strike="noStrike" cap="none" normalizeH="0" baseline="0" dirty="0">
                            <a:ln>
                              <a:noFill/>
                            </a:ln>
                            <a:solidFill>
                              <a:schemeClr val="tx1"/>
                            </a:solidFill>
                            <a:effectLst/>
                            <a:latin typeface="Arial" charset="0"/>
                          </a:rPr>
                          <a:t>Mini-bus (16 seater)</a:t>
                        </a:r>
                      </a:p>
                    </a:txBody>
                    <a:tcPr marL="71025" marR="71025" marT="35512" marB="35512"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608280850"/>
                    </a:ext>
                  </a:extLst>
                </a:tr>
                <a:tr h="257141">
                  <a:tc>
                    <a:txBody>
                      <a:bodyPr/>
                      <a:lstStyle/>
                      <a:p>
                        <a:pPr marL="0" marR="0" lvl="0" indent="0" algn="l" defTabSz="914400" rtl="0" eaLnBrk="1" fontAlgn="base" latinLnBrk="0" hangingPunct="1">
                          <a:lnSpc>
                            <a:spcPct val="100000"/>
                          </a:lnSpc>
                          <a:spcBef>
                            <a:spcPct val="0"/>
                          </a:spcBef>
                          <a:spcAft>
                            <a:spcPct val="40000"/>
                          </a:spcAft>
                          <a:buClrTx/>
                          <a:buSzTx/>
                          <a:buFontTx/>
                          <a:buNone/>
                          <a:tabLst/>
                        </a:pPr>
                        <a:r>
                          <a:rPr kumimoji="0" lang="en-GB" altLang="en-US" sz="1400" b="0" i="0" u="none" strike="noStrike" cap="none" normalizeH="0" baseline="0" dirty="0">
                            <a:ln>
                              <a:noFill/>
                            </a:ln>
                            <a:solidFill>
                              <a:schemeClr val="tx1"/>
                            </a:solidFill>
                            <a:effectLst/>
                            <a:latin typeface="Arial" charset="0"/>
                          </a:rPr>
                          <a:t>Vehicle occupancy (#passengers/capacity)</a:t>
                        </a:r>
                      </a:p>
                    </a:txBody>
                    <a:tcPr marL="71025" marR="71025" marT="35512" marB="35512"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Tx/>
                          <a:buSzTx/>
                          <a:buFontTx/>
                          <a:buNone/>
                          <a:tabLst/>
                        </a:pPr>
                        <a:r>
                          <a:rPr kumimoji="0" lang="en-GB" altLang="en-US" sz="1400" b="0" i="0" u="none" strike="noStrike" cap="none" normalizeH="0" baseline="0" dirty="0">
                            <a:ln>
                              <a:noFill/>
                            </a:ln>
                            <a:solidFill>
                              <a:schemeClr val="tx1"/>
                            </a:solidFill>
                            <a:effectLst/>
                            <a:latin typeface="Arial" charset="0"/>
                          </a:rPr>
                          <a:t>U[0,0.25]</a:t>
                        </a:r>
                      </a:p>
                    </a:txBody>
                    <a:tcPr marL="71025" marR="71025" marT="35512" marB="35512"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Tx/>
                          <a:buSzTx/>
                          <a:buFontTx/>
                          <a:buNone/>
                          <a:tabLst/>
                          <a:defRPr/>
                        </a:pPr>
                        <a:r>
                          <a:rPr kumimoji="0" lang="en-GB" altLang="en-US" sz="1400" b="0" i="0" u="none" strike="noStrike" cap="none" normalizeH="0" baseline="0" dirty="0">
                            <a:ln>
                              <a:noFill/>
                            </a:ln>
                            <a:solidFill>
                              <a:schemeClr val="tx1"/>
                            </a:solidFill>
                            <a:effectLst/>
                            <a:latin typeface="Arial" charset="0"/>
                          </a:rPr>
                          <a:t>U[0,0.50]</a:t>
                        </a:r>
                      </a:p>
                    </a:txBody>
                    <a:tcPr marL="71025" marR="71025" marT="35512" marB="35512"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Tx/>
                          <a:buSzTx/>
                          <a:buFontTx/>
                          <a:buNone/>
                          <a:tabLst/>
                        </a:pPr>
                        <a:r>
                          <a:rPr kumimoji="0" lang="en-GB" altLang="en-US" sz="1400" b="0" i="0" u="none" strike="noStrike" cap="none" normalizeH="0" baseline="0" dirty="0">
                            <a:ln>
                              <a:noFill/>
                            </a:ln>
                            <a:solidFill>
                              <a:schemeClr val="tx1"/>
                            </a:solidFill>
                            <a:effectLst/>
                            <a:latin typeface="Arial" charset="0"/>
                          </a:rPr>
                          <a:t>--</a:t>
                        </a:r>
                      </a:p>
                    </a:txBody>
                    <a:tcPr marL="71025" marR="71025" marT="35512" marB="35512"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604974488"/>
                    </a:ext>
                  </a:extLst>
                </a:tr>
                <a:tr h="257141">
                  <a:tc>
                    <a:txBody>
                      <a:bodyPr/>
                      <a:lstStyle/>
                      <a:p>
                        <a:pPr marL="0" marR="0" lvl="0" indent="0" algn="l" defTabSz="914400" rtl="0" eaLnBrk="1" fontAlgn="base" latinLnBrk="0" hangingPunct="1">
                          <a:lnSpc>
                            <a:spcPct val="100000"/>
                          </a:lnSpc>
                          <a:spcBef>
                            <a:spcPct val="0"/>
                          </a:spcBef>
                          <a:spcAft>
                            <a:spcPct val="40000"/>
                          </a:spcAft>
                          <a:buClrTx/>
                          <a:buSzTx/>
                          <a:buFontTx/>
                          <a:buNone/>
                          <a:tabLst/>
                        </a:pPr>
                        <a:r>
                          <a:rPr kumimoji="0" lang="en-GB" altLang="en-US" sz="1400" b="0" i="0" u="none" strike="noStrike" cap="none" normalizeH="0" baseline="0" dirty="0">
                            <a:ln>
                              <a:noFill/>
                            </a:ln>
                            <a:solidFill>
                              <a:schemeClr val="tx1"/>
                            </a:solidFill>
                            <a:effectLst/>
                            <a:latin typeface="Arial" charset="0"/>
                          </a:rPr>
                          <a:t>#stops enroute</a:t>
                        </a:r>
                      </a:p>
                    </a:txBody>
                    <a:tcPr marL="71025" marR="71025" marT="35512" marB="35512"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Tx/>
                          <a:buSzTx/>
                          <a:buFontTx/>
                          <a:buNone/>
                          <a:tabLst/>
                        </a:pPr>
                        <a:r>
                          <a:rPr kumimoji="0" lang="en-GB" altLang="en-US" sz="1400" b="0" i="0" u="none" strike="noStrike" cap="none" normalizeH="0" baseline="0" dirty="0">
                            <a:ln>
                              <a:noFill/>
                            </a:ln>
                            <a:solidFill>
                              <a:schemeClr val="tx1"/>
                            </a:solidFill>
                            <a:effectLst/>
                            <a:latin typeface="Arial" charset="0"/>
                          </a:rPr>
                          <a:t>0</a:t>
                        </a:r>
                      </a:p>
                    </a:txBody>
                    <a:tcPr marL="71025" marR="71025" marT="35512" marB="35512"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Tx/>
                          <a:buSzTx/>
                          <a:buFontTx/>
                          <a:buNone/>
                          <a:tabLst/>
                        </a:pPr>
                        <a:r>
                          <a:rPr kumimoji="0" lang="en-GB" altLang="en-US" sz="1400" b="0" i="0" u="none" strike="noStrike" cap="none" normalizeH="0" baseline="0" dirty="0">
                            <a:ln>
                              <a:noFill/>
                            </a:ln>
                            <a:solidFill>
                              <a:schemeClr val="tx1"/>
                            </a:solidFill>
                            <a:effectLst/>
                            <a:latin typeface="Arial" charset="0"/>
                          </a:rPr>
                          <a:t>1</a:t>
                        </a:r>
                      </a:p>
                    </a:txBody>
                    <a:tcPr marL="71025" marR="71025" marT="35512" marB="35512"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Tx/>
                          <a:buSzTx/>
                          <a:buFontTx/>
                          <a:buNone/>
                          <a:tabLst/>
                        </a:pPr>
                        <a:r>
                          <a:rPr kumimoji="0" lang="en-GB" altLang="en-US" sz="1400" b="0" i="0" u="none" strike="noStrike" cap="none" normalizeH="0" baseline="0" dirty="0">
                            <a:ln>
                              <a:noFill/>
                            </a:ln>
                            <a:solidFill>
                              <a:schemeClr val="tx1"/>
                            </a:solidFill>
                            <a:effectLst/>
                            <a:latin typeface="Arial" charset="0"/>
                          </a:rPr>
                          <a:t>2</a:t>
                        </a:r>
                      </a:p>
                    </a:txBody>
                    <a:tcPr marL="71025" marR="71025" marT="35512" marB="35512"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187591429"/>
                    </a:ext>
                  </a:extLst>
                </a:tr>
              </a:tbl>
            </a:graphicData>
          </a:graphic>
        </p:graphicFrame>
        <p:cxnSp>
          <p:nvCxnSpPr>
            <p:cNvPr id="7" name="Straight Arrow Connector 6">
              <a:extLst>
                <a:ext uri="{FF2B5EF4-FFF2-40B4-BE49-F238E27FC236}">
                  <a16:creationId xmlns:a16="http://schemas.microsoft.com/office/drawing/2014/main" id="{E89B10EA-71BB-D81E-4709-4E3877BC9099}"/>
                </a:ext>
              </a:extLst>
            </p:cNvPr>
            <p:cNvCxnSpPr/>
            <p:nvPr/>
          </p:nvCxnSpPr>
          <p:spPr>
            <a:xfrm>
              <a:off x="1796191" y="3313471"/>
              <a:ext cx="324000" cy="0"/>
            </a:xfrm>
            <a:prstGeom prst="straightConnector1">
              <a:avLst/>
            </a:prstGeom>
            <a:ln w="28575">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2068B162-D2D1-C029-8B27-063A1D94CAAC}"/>
                </a:ext>
              </a:extLst>
            </p:cNvPr>
            <p:cNvCxnSpPr>
              <a:cxnSpLocks/>
            </p:cNvCxnSpPr>
            <p:nvPr/>
          </p:nvCxnSpPr>
          <p:spPr>
            <a:xfrm>
              <a:off x="1233948" y="3465871"/>
              <a:ext cx="0" cy="270387"/>
            </a:xfrm>
            <a:prstGeom prst="straightConnector1">
              <a:avLst/>
            </a:prstGeom>
            <a:ln w="28575">
              <a:solidFill>
                <a:schemeClr val="bg1"/>
              </a:solidFill>
              <a:tailEnd type="triangle"/>
            </a:ln>
          </p:spPr>
          <p:style>
            <a:lnRef idx="1">
              <a:schemeClr val="accent1"/>
            </a:lnRef>
            <a:fillRef idx="0">
              <a:schemeClr val="accent1"/>
            </a:fillRef>
            <a:effectRef idx="0">
              <a:schemeClr val="accent1"/>
            </a:effectRef>
            <a:fontRef idx="minor">
              <a:schemeClr val="tx1"/>
            </a:fontRef>
          </p:style>
        </p:cxnSp>
      </p:grpSp>
      <p:sp>
        <p:nvSpPr>
          <p:cNvPr id="11" name="TextBox 10">
            <a:extLst>
              <a:ext uri="{FF2B5EF4-FFF2-40B4-BE49-F238E27FC236}">
                <a16:creationId xmlns:a16="http://schemas.microsoft.com/office/drawing/2014/main" id="{E590FA4F-309A-F2CE-6123-59124C1FB974}"/>
              </a:ext>
            </a:extLst>
          </p:cNvPr>
          <p:cNvSpPr txBox="1"/>
          <p:nvPr/>
        </p:nvSpPr>
        <p:spPr>
          <a:xfrm>
            <a:off x="1733101" y="6038428"/>
            <a:ext cx="7343677" cy="215444"/>
          </a:xfrm>
          <a:prstGeom prst="rect">
            <a:avLst/>
          </a:prstGeom>
          <a:noFill/>
        </p:spPr>
        <p:txBody>
          <a:bodyPr wrap="none" rtlCol="0">
            <a:spAutoFit/>
          </a:bodyPr>
          <a:lstStyle/>
          <a:p>
            <a:r>
              <a:rPr kumimoji="0" lang="en-GB" altLang="en-US" sz="800" b="0" i="0" u="none" strike="noStrike" cap="none" normalizeH="0" baseline="30000" dirty="0">
                <a:ln>
                  <a:noFill/>
                </a:ln>
                <a:solidFill>
                  <a:schemeClr val="tx1"/>
                </a:solidFill>
                <a:effectLst/>
                <a:latin typeface="Arial" charset="0"/>
              </a:rPr>
              <a:t>#</a:t>
            </a:r>
            <a:r>
              <a:rPr lang="en-GB" sz="800" dirty="0"/>
              <a:t>Travel time for DRT will always be less than that of the bus travel time. </a:t>
            </a:r>
            <a:r>
              <a:rPr kumimoji="0" lang="en-GB" altLang="en-US" sz="800" b="0" i="0" u="none" strike="noStrike" cap="none" normalizeH="0" baseline="30000" dirty="0">
                <a:ln>
                  <a:noFill/>
                </a:ln>
                <a:solidFill>
                  <a:schemeClr val="tx1"/>
                </a:solidFill>
                <a:effectLst/>
                <a:latin typeface="Arial" charset="0"/>
              </a:rPr>
              <a:t>^</a:t>
            </a:r>
            <a:r>
              <a:rPr lang="en-GB" sz="800" dirty="0"/>
              <a:t>Travel cost of DRT shall be less than that of the direct car/cab. *Rounded off to higher multiple of 5</a:t>
            </a:r>
          </a:p>
        </p:txBody>
      </p:sp>
      <p:sp>
        <p:nvSpPr>
          <p:cNvPr id="12" name="Date Placeholder 11">
            <a:extLst>
              <a:ext uri="{FF2B5EF4-FFF2-40B4-BE49-F238E27FC236}">
                <a16:creationId xmlns:a16="http://schemas.microsoft.com/office/drawing/2014/main" id="{DF0E8C71-0FBC-BC86-5124-C27E780A7C6C}"/>
              </a:ext>
            </a:extLst>
          </p:cNvPr>
          <p:cNvSpPr>
            <a:spLocks noGrp="1"/>
          </p:cNvSpPr>
          <p:nvPr>
            <p:ph type="dt" sz="half" idx="10"/>
          </p:nvPr>
        </p:nvSpPr>
        <p:spPr/>
        <p:txBody>
          <a:bodyPr/>
          <a:lstStyle/>
          <a:p>
            <a:fld id="{DB8D27BB-82CC-4BA5-9F1C-85B9796E0E6F}" type="datetime1">
              <a:rPr lang="en-US" smtClean="0"/>
              <a:t>4/12/2024</a:t>
            </a:fld>
            <a:endParaRPr lang="en-US"/>
          </a:p>
        </p:txBody>
      </p:sp>
      <p:sp>
        <p:nvSpPr>
          <p:cNvPr id="13" name="Slide Number Placeholder 12">
            <a:extLst>
              <a:ext uri="{FF2B5EF4-FFF2-40B4-BE49-F238E27FC236}">
                <a16:creationId xmlns:a16="http://schemas.microsoft.com/office/drawing/2014/main" id="{4F9B93AF-E941-8B75-8DC5-D92EB1FE2E4F}"/>
              </a:ext>
            </a:extLst>
          </p:cNvPr>
          <p:cNvSpPr>
            <a:spLocks noGrp="1"/>
          </p:cNvSpPr>
          <p:nvPr>
            <p:ph type="sldNum" sz="quarter" idx="12"/>
          </p:nvPr>
        </p:nvSpPr>
        <p:spPr/>
        <p:txBody>
          <a:bodyPr/>
          <a:lstStyle/>
          <a:p>
            <a:fld id="{03E8056C-9350-3E4B-911C-FCF80EDBFE79}" type="slidenum">
              <a:rPr lang="en-US" smtClean="0"/>
              <a:t>11</a:t>
            </a:fld>
            <a:endParaRPr lang="en-US"/>
          </a:p>
        </p:txBody>
      </p:sp>
    </p:spTree>
    <p:extLst>
      <p:ext uri="{BB962C8B-B14F-4D97-AF65-F5344CB8AC3E}">
        <p14:creationId xmlns:p14="http://schemas.microsoft.com/office/powerpoint/2010/main" val="18463547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3" name="Title 2" hidden="1">
            <a:extLst>
              <a:ext uri="{FF2B5EF4-FFF2-40B4-BE49-F238E27FC236}">
                <a16:creationId xmlns:a16="http://schemas.microsoft.com/office/drawing/2014/main" id="{7D116104-B4E7-6642-8EAB-49A402AED74A}"/>
              </a:ext>
            </a:extLst>
          </p:cNvPr>
          <p:cNvSpPr>
            <a:spLocks noGrp="1"/>
          </p:cNvSpPr>
          <p:nvPr>
            <p:ph type="ctrTitle"/>
          </p:nvPr>
        </p:nvSpPr>
        <p:spPr/>
        <p:txBody>
          <a:bodyPr/>
          <a:lstStyle/>
          <a:p>
            <a:r>
              <a:rPr lang="en-US" dirty="0"/>
              <a:t>Information on how to use images</a:t>
            </a:r>
          </a:p>
        </p:txBody>
      </p:sp>
      <p:sp>
        <p:nvSpPr>
          <p:cNvPr id="2" name="Text Placeholder 1"/>
          <p:cNvSpPr txBox="1">
            <a:spLocks/>
          </p:cNvSpPr>
          <p:nvPr/>
        </p:nvSpPr>
        <p:spPr>
          <a:xfrm>
            <a:off x="310696" y="1879599"/>
            <a:ext cx="11532961" cy="4835833"/>
          </a:xfrm>
          <a:prstGeom prst="rect">
            <a:avLst/>
          </a:prstGeom>
        </p:spPr>
        <p:txBody>
          <a:bodyPr vert="horz" lIns="91440" tIns="45720" rIns="91440" bIns="45720" rtlCol="0" anchor="t"/>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ts val="600"/>
              </a:spcBef>
            </a:pPr>
            <a:r>
              <a:rPr lang="en-US" sz="2400" b="1" dirty="0">
                <a:solidFill>
                  <a:schemeClr val="tx1"/>
                </a:solidFill>
                <a:latin typeface="Times New Roman" panose="02020603050405020304" pitchFamily="18" charset="0"/>
                <a:ea typeface="Arial" charset="0"/>
                <a:cs typeface="Times New Roman" panose="02020603050405020304" pitchFamily="18" charset="0"/>
              </a:rPr>
              <a:t>Survey flow illustration</a:t>
            </a:r>
          </a:p>
        </p:txBody>
      </p:sp>
      <p:sp>
        <p:nvSpPr>
          <p:cNvPr id="4" name="Text Placeholder 2">
            <a:extLst>
              <a:ext uri="{FF2B5EF4-FFF2-40B4-BE49-F238E27FC236}">
                <a16:creationId xmlns:a16="http://schemas.microsoft.com/office/drawing/2014/main" id="{903D9683-5D03-1483-2057-16D94CB041F0}"/>
              </a:ext>
            </a:extLst>
          </p:cNvPr>
          <p:cNvSpPr txBox="1">
            <a:spLocks/>
          </p:cNvSpPr>
          <p:nvPr/>
        </p:nvSpPr>
        <p:spPr>
          <a:xfrm>
            <a:off x="236311" y="970989"/>
            <a:ext cx="5819775" cy="82800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2800" b="1" dirty="0">
                <a:solidFill>
                  <a:schemeClr val="tx1"/>
                </a:solidFill>
                <a:latin typeface="Arial" charset="0"/>
                <a:ea typeface="Arial" charset="0"/>
                <a:cs typeface="Arial" charset="0"/>
              </a:rPr>
              <a:t>Survey description</a:t>
            </a:r>
          </a:p>
        </p:txBody>
      </p:sp>
      <p:grpSp>
        <p:nvGrpSpPr>
          <p:cNvPr id="146" name="Group 145">
            <a:extLst>
              <a:ext uri="{FF2B5EF4-FFF2-40B4-BE49-F238E27FC236}">
                <a16:creationId xmlns:a16="http://schemas.microsoft.com/office/drawing/2014/main" id="{ED9E7C7B-C9AA-489F-9715-C326F2E2A7B2}"/>
              </a:ext>
            </a:extLst>
          </p:cNvPr>
          <p:cNvGrpSpPr/>
          <p:nvPr/>
        </p:nvGrpSpPr>
        <p:grpSpPr>
          <a:xfrm>
            <a:off x="478706" y="2771306"/>
            <a:ext cx="2233321" cy="3925786"/>
            <a:chOff x="478706" y="2771306"/>
            <a:chExt cx="2233321" cy="3925786"/>
          </a:xfrm>
        </p:grpSpPr>
        <p:sp>
          <p:nvSpPr>
            <p:cNvPr id="5" name="Rectangle: Rounded Corners 4">
              <a:extLst>
                <a:ext uri="{FF2B5EF4-FFF2-40B4-BE49-F238E27FC236}">
                  <a16:creationId xmlns:a16="http://schemas.microsoft.com/office/drawing/2014/main" id="{EB090246-4A9D-142C-6E3C-3204D5799992}"/>
                </a:ext>
              </a:extLst>
            </p:cNvPr>
            <p:cNvSpPr/>
            <p:nvPr/>
          </p:nvSpPr>
          <p:spPr>
            <a:xfrm>
              <a:off x="603391" y="2944616"/>
              <a:ext cx="2009947" cy="475220"/>
            </a:xfrm>
            <a:prstGeom prst="roundRect">
              <a:avLst/>
            </a:prstGeom>
            <a:no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400" b="0" i="0" u="none" strike="noStrike" kern="0" cap="none" spc="0" normalizeH="0" baseline="0" noProof="0" dirty="0">
                  <a:ln>
                    <a:noFill/>
                  </a:ln>
                  <a:solidFill>
                    <a:prstClr val="black"/>
                  </a:solidFill>
                  <a:effectLst/>
                  <a:uLnTx/>
                  <a:uFillTx/>
                  <a:latin typeface="Calibri" panose="020F0502020204030204"/>
                  <a:ea typeface="+mn-ea"/>
                  <a:cs typeface="+mn-cs"/>
                </a:rPr>
                <a:t>RESPONDENTS CHARACTERISTICS</a:t>
              </a:r>
            </a:p>
          </p:txBody>
        </p:sp>
        <p:grpSp>
          <p:nvGrpSpPr>
            <p:cNvPr id="6" name="Group 5">
              <a:extLst>
                <a:ext uri="{FF2B5EF4-FFF2-40B4-BE49-F238E27FC236}">
                  <a16:creationId xmlns:a16="http://schemas.microsoft.com/office/drawing/2014/main" id="{7ABBA3D1-AD96-3E1F-1BF3-DC3DA65F73A7}"/>
                </a:ext>
              </a:extLst>
            </p:cNvPr>
            <p:cNvGrpSpPr/>
            <p:nvPr/>
          </p:nvGrpSpPr>
          <p:grpSpPr>
            <a:xfrm>
              <a:off x="742049" y="3577374"/>
              <a:ext cx="1665031" cy="3119718"/>
              <a:chOff x="327363" y="2361773"/>
              <a:chExt cx="1535250" cy="1901482"/>
            </a:xfrm>
          </p:grpSpPr>
          <p:sp>
            <p:nvSpPr>
              <p:cNvPr id="7" name="Rectangle: Rounded Corners 6">
                <a:extLst>
                  <a:ext uri="{FF2B5EF4-FFF2-40B4-BE49-F238E27FC236}">
                    <a16:creationId xmlns:a16="http://schemas.microsoft.com/office/drawing/2014/main" id="{68D60603-E89B-F01D-952D-B08A51CC5F7D}"/>
                  </a:ext>
                </a:extLst>
              </p:cNvPr>
              <p:cNvSpPr/>
              <p:nvPr/>
            </p:nvSpPr>
            <p:spPr>
              <a:xfrm>
                <a:off x="327363" y="2361773"/>
                <a:ext cx="1535250" cy="1828242"/>
              </a:xfrm>
              <a:prstGeom prst="roundRect">
                <a:avLst/>
              </a:prstGeom>
              <a:noFill/>
              <a:ln w="12700" cap="flat" cmpd="sng" algn="ctr">
                <a:solidFill>
                  <a:sysClr val="windowText" lastClr="000000"/>
                </a:solidFill>
                <a:prstDash val="sysDash"/>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100" b="0" i="0" u="none" strike="noStrike" kern="0" cap="none" spc="0" normalizeH="0" baseline="0" noProof="0" dirty="0">
                  <a:ln>
                    <a:noFill/>
                  </a:ln>
                  <a:solidFill>
                    <a:prstClr val="black"/>
                  </a:solidFill>
                  <a:effectLst/>
                  <a:uLnTx/>
                  <a:uFillTx/>
                  <a:latin typeface="Calibri" panose="020F0502020204030204"/>
                  <a:ea typeface="+mn-ea"/>
                  <a:cs typeface="+mn-cs"/>
                </a:endParaRPr>
              </a:p>
            </p:txBody>
          </p:sp>
          <p:sp>
            <p:nvSpPr>
              <p:cNvPr id="8" name="TextBox 7">
                <a:extLst>
                  <a:ext uri="{FF2B5EF4-FFF2-40B4-BE49-F238E27FC236}">
                    <a16:creationId xmlns:a16="http://schemas.microsoft.com/office/drawing/2014/main" id="{8500AAFF-0FC1-56CE-D68D-D9B551C47A5C}"/>
                  </a:ext>
                </a:extLst>
              </p:cNvPr>
              <p:cNvSpPr txBox="1"/>
              <p:nvPr/>
            </p:nvSpPr>
            <p:spPr>
              <a:xfrm>
                <a:off x="327363" y="2406102"/>
                <a:ext cx="1535250" cy="1857153"/>
              </a:xfrm>
              <a:prstGeom prst="rect">
                <a:avLst/>
              </a:prstGeom>
              <a:noFill/>
            </p:spPr>
            <p:txBody>
              <a:bodyPr wrap="square" rtlCol="0">
                <a:spAutoFit/>
              </a:bodyPr>
              <a:lstStyle/>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dirty="0">
                    <a:ln>
                      <a:noFill/>
                    </a:ln>
                    <a:solidFill>
                      <a:prstClr val="black"/>
                    </a:solidFill>
                    <a:effectLst/>
                    <a:uLnTx/>
                    <a:uFillTx/>
                  </a:rPr>
                  <a:t>Gender</a:t>
                </a:r>
              </a:p>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dirty="0">
                    <a:ln>
                      <a:noFill/>
                    </a:ln>
                    <a:solidFill>
                      <a:prstClr val="black"/>
                    </a:solidFill>
                    <a:effectLst/>
                    <a:uLnTx/>
                    <a:uFillTx/>
                  </a:rPr>
                  <a:t>Age</a:t>
                </a:r>
              </a:p>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dirty="0">
                    <a:ln>
                      <a:noFill/>
                    </a:ln>
                    <a:solidFill>
                      <a:prstClr val="black"/>
                    </a:solidFill>
                    <a:effectLst/>
                    <a:uLnTx/>
                    <a:uFillTx/>
                  </a:rPr>
                  <a:t>Education level</a:t>
                </a:r>
              </a:p>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dirty="0">
                    <a:ln>
                      <a:noFill/>
                    </a:ln>
                    <a:solidFill>
                      <a:prstClr val="black"/>
                    </a:solidFill>
                    <a:effectLst/>
                    <a:uLnTx/>
                    <a:uFillTx/>
                  </a:rPr>
                  <a:t>Employment status</a:t>
                </a:r>
              </a:p>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dirty="0">
                    <a:ln>
                      <a:noFill/>
                    </a:ln>
                    <a:solidFill>
                      <a:prstClr val="black"/>
                    </a:solidFill>
                    <a:effectLst/>
                    <a:uLnTx/>
                    <a:uFillTx/>
                  </a:rPr>
                  <a:t>Occupation</a:t>
                </a:r>
              </a:p>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dirty="0">
                    <a:ln>
                      <a:noFill/>
                    </a:ln>
                    <a:solidFill>
                      <a:prstClr val="black"/>
                    </a:solidFill>
                    <a:effectLst/>
                    <a:uLnTx/>
                    <a:uFillTx/>
                  </a:rPr>
                  <a:t>Income</a:t>
                </a:r>
              </a:p>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kern="0" dirty="0">
                    <a:solidFill>
                      <a:prstClr val="black"/>
                    </a:solidFill>
                  </a:rPr>
                  <a:t>Vehicle</a:t>
                </a:r>
                <a:r>
                  <a:rPr kumimoji="0" lang="en-GB" sz="1200" b="0" i="0" u="none" strike="noStrike" kern="0" cap="none" spc="0" normalizeH="0" baseline="0" noProof="0" dirty="0">
                    <a:ln>
                      <a:noFill/>
                    </a:ln>
                    <a:solidFill>
                      <a:prstClr val="black"/>
                    </a:solidFill>
                    <a:effectLst/>
                    <a:uLnTx/>
                    <a:uFillTx/>
                  </a:rPr>
                  <a:t> ownership</a:t>
                </a:r>
              </a:p>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kern="0" dirty="0" err="1">
                    <a:solidFill>
                      <a:prstClr val="black"/>
                    </a:solidFill>
                  </a:rPr>
                  <a:t>Veh</a:t>
                </a:r>
                <a:r>
                  <a:rPr lang="en-GB" sz="1200" kern="0" dirty="0">
                    <a:solidFill>
                      <a:prstClr val="black"/>
                    </a:solidFill>
                  </a:rPr>
                  <a:t> </a:t>
                </a:r>
                <a:r>
                  <a:rPr kumimoji="0" lang="en-GB" sz="1200" b="0" i="0" u="none" strike="noStrike" kern="0" cap="none" spc="0" normalizeH="0" baseline="0" noProof="0" dirty="0">
                    <a:ln>
                      <a:noFill/>
                    </a:ln>
                    <a:solidFill>
                      <a:prstClr val="black"/>
                    </a:solidFill>
                    <a:effectLst/>
                    <a:uLnTx/>
                    <a:uFillTx/>
                  </a:rPr>
                  <a:t>Own type and payments</a:t>
                </a:r>
              </a:p>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dirty="0">
                    <a:ln>
                      <a:noFill/>
                    </a:ln>
                    <a:solidFill>
                      <a:prstClr val="black"/>
                    </a:solidFill>
                    <a:effectLst/>
                    <a:uLnTx/>
                    <a:uFillTx/>
                  </a:rPr>
                  <a:t>Driver’s license</a:t>
                </a:r>
              </a:p>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kern="0" dirty="0">
                    <a:solidFill>
                      <a:prstClr val="black"/>
                    </a:solidFill>
                  </a:rPr>
                  <a:t>Civil status</a:t>
                </a:r>
                <a:endParaRPr kumimoji="0" lang="en-GB" sz="1200" b="0" i="0" u="none" strike="noStrike" kern="0" cap="none" spc="0" normalizeH="0" baseline="0" noProof="0" dirty="0">
                  <a:ln>
                    <a:noFill/>
                  </a:ln>
                  <a:solidFill>
                    <a:prstClr val="black"/>
                  </a:solidFill>
                  <a:effectLst/>
                  <a:uLnTx/>
                  <a:uFillTx/>
                </a:endParaRPr>
              </a:p>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kern="0" dirty="0">
                    <a:solidFill>
                      <a:prstClr val="black"/>
                    </a:solidFill>
                  </a:rPr>
                  <a:t>Special mobility needs</a:t>
                </a:r>
                <a:endParaRPr kumimoji="0" lang="en-GB" sz="1200" b="0" i="0" u="none" strike="noStrike" kern="0" cap="none" spc="0" normalizeH="0" baseline="0" noProof="0" dirty="0">
                  <a:ln>
                    <a:noFill/>
                  </a:ln>
                  <a:solidFill>
                    <a:prstClr val="black"/>
                  </a:solidFill>
                  <a:effectLst/>
                  <a:uLnTx/>
                  <a:uFillTx/>
                </a:endParaRPr>
              </a:p>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dirty="0">
                    <a:ln>
                      <a:noFill/>
                    </a:ln>
                    <a:solidFill>
                      <a:prstClr val="black"/>
                    </a:solidFill>
                    <a:effectLst/>
                    <a:uLnTx/>
                    <a:uFillTx/>
                  </a:rPr>
                  <a:t>Mobility subscriptions</a:t>
                </a:r>
              </a:p>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200" b="0" i="0" u="none" strike="noStrike" kern="0" cap="none" spc="0" normalizeH="0" baseline="0" noProof="0" dirty="0">
                  <a:ln>
                    <a:noFill/>
                  </a:ln>
                  <a:solidFill>
                    <a:prstClr val="black"/>
                  </a:solidFill>
                  <a:effectLst/>
                  <a:uLnTx/>
                  <a:uFillTx/>
                </a:endParaRPr>
              </a:p>
            </p:txBody>
          </p:sp>
        </p:grpSp>
        <p:sp>
          <p:nvSpPr>
            <p:cNvPr id="9" name="Rectangle: Rounded Corners 8">
              <a:extLst>
                <a:ext uri="{FF2B5EF4-FFF2-40B4-BE49-F238E27FC236}">
                  <a16:creationId xmlns:a16="http://schemas.microsoft.com/office/drawing/2014/main" id="{A229317E-8D9E-64BC-7AF9-BA859F612E03}"/>
                </a:ext>
              </a:extLst>
            </p:cNvPr>
            <p:cNvSpPr/>
            <p:nvPr/>
          </p:nvSpPr>
          <p:spPr>
            <a:xfrm>
              <a:off x="478706" y="2771306"/>
              <a:ext cx="2233321" cy="3925786"/>
            </a:xfrm>
            <a:prstGeom prst="roundRect">
              <a:avLst/>
            </a:prstGeom>
            <a:noFill/>
            <a:ln w="9525" cap="flat" cmpd="sng" algn="ctr">
              <a:solidFill>
                <a:srgbClr val="4472C4">
                  <a:shade val="15000"/>
                </a:srgbClr>
              </a:solidFill>
              <a:prstDash val="dash"/>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grpSp>
      <p:grpSp>
        <p:nvGrpSpPr>
          <p:cNvPr id="134" name="Group 133">
            <a:extLst>
              <a:ext uri="{FF2B5EF4-FFF2-40B4-BE49-F238E27FC236}">
                <a16:creationId xmlns:a16="http://schemas.microsoft.com/office/drawing/2014/main" id="{3E454D5F-4B8B-1737-2D4D-969A6212BA9B}"/>
              </a:ext>
            </a:extLst>
          </p:cNvPr>
          <p:cNvGrpSpPr/>
          <p:nvPr/>
        </p:nvGrpSpPr>
        <p:grpSpPr>
          <a:xfrm>
            <a:off x="3342968" y="2033953"/>
            <a:ext cx="4316361" cy="4681479"/>
            <a:chOff x="4267200" y="2015612"/>
            <a:chExt cx="4316361" cy="4681479"/>
          </a:xfrm>
        </p:grpSpPr>
        <p:sp>
          <p:nvSpPr>
            <p:cNvPr id="10" name="Rectangle: Rounded Corners 9">
              <a:extLst>
                <a:ext uri="{FF2B5EF4-FFF2-40B4-BE49-F238E27FC236}">
                  <a16:creationId xmlns:a16="http://schemas.microsoft.com/office/drawing/2014/main" id="{3B3936E8-DB38-4005-2C7B-45BF483353FB}"/>
                </a:ext>
              </a:extLst>
            </p:cNvPr>
            <p:cNvSpPr/>
            <p:nvPr/>
          </p:nvSpPr>
          <p:spPr>
            <a:xfrm>
              <a:off x="4267200" y="2015612"/>
              <a:ext cx="4316361" cy="4681479"/>
            </a:xfrm>
            <a:prstGeom prst="roundRect">
              <a:avLst/>
            </a:prstGeom>
            <a:noFill/>
            <a:ln w="9525">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grpSp>
          <p:nvGrpSpPr>
            <p:cNvPr id="11" name="Group 10">
              <a:extLst>
                <a:ext uri="{FF2B5EF4-FFF2-40B4-BE49-F238E27FC236}">
                  <a16:creationId xmlns:a16="http://schemas.microsoft.com/office/drawing/2014/main" id="{C3066EA5-879B-6A8C-5673-CC8E2BD4B4ED}"/>
                </a:ext>
              </a:extLst>
            </p:cNvPr>
            <p:cNvGrpSpPr/>
            <p:nvPr/>
          </p:nvGrpSpPr>
          <p:grpSpPr>
            <a:xfrm>
              <a:off x="4580997" y="2149946"/>
              <a:ext cx="3264438" cy="4426982"/>
              <a:chOff x="4580997" y="2149946"/>
              <a:chExt cx="3264438" cy="4426982"/>
            </a:xfrm>
          </p:grpSpPr>
          <p:sp>
            <p:nvSpPr>
              <p:cNvPr id="13" name="Rectangle: Rounded Corners 12">
                <a:extLst>
                  <a:ext uri="{FF2B5EF4-FFF2-40B4-BE49-F238E27FC236}">
                    <a16:creationId xmlns:a16="http://schemas.microsoft.com/office/drawing/2014/main" id="{07B6B335-C752-C06E-BC70-5D1F6EC77F92}"/>
                  </a:ext>
                </a:extLst>
              </p:cNvPr>
              <p:cNvSpPr/>
              <p:nvPr/>
            </p:nvSpPr>
            <p:spPr>
              <a:xfrm>
                <a:off x="4999904" y="2149946"/>
                <a:ext cx="2669255" cy="36000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solidFill>
                      <a:schemeClr val="tx1"/>
                    </a:solidFill>
                  </a:rPr>
                  <a:t>REVEALED TRIP INFORMATION</a:t>
                </a:r>
              </a:p>
            </p:txBody>
          </p:sp>
          <p:grpSp>
            <p:nvGrpSpPr>
              <p:cNvPr id="14" name="Group 13">
                <a:extLst>
                  <a:ext uri="{FF2B5EF4-FFF2-40B4-BE49-F238E27FC236}">
                    <a16:creationId xmlns:a16="http://schemas.microsoft.com/office/drawing/2014/main" id="{527DB038-539D-8AF6-581B-DC6C2297E335}"/>
                  </a:ext>
                </a:extLst>
              </p:cNvPr>
              <p:cNvGrpSpPr/>
              <p:nvPr/>
            </p:nvGrpSpPr>
            <p:grpSpPr>
              <a:xfrm>
                <a:off x="5136107" y="2520241"/>
                <a:ext cx="1746359" cy="467289"/>
                <a:chOff x="4876378" y="2823882"/>
                <a:chExt cx="1746359" cy="467289"/>
              </a:xfrm>
            </p:grpSpPr>
            <p:cxnSp>
              <p:nvCxnSpPr>
                <p:cNvPr id="101" name="Straight Connector 100">
                  <a:extLst>
                    <a:ext uri="{FF2B5EF4-FFF2-40B4-BE49-F238E27FC236}">
                      <a16:creationId xmlns:a16="http://schemas.microsoft.com/office/drawing/2014/main" id="{8521E6F8-C487-4A83-69D8-3DE26E144443}"/>
                    </a:ext>
                  </a:extLst>
                </p:cNvPr>
                <p:cNvCxnSpPr/>
                <p:nvPr/>
              </p:nvCxnSpPr>
              <p:spPr>
                <a:xfrm>
                  <a:off x="4876800" y="2823882"/>
                  <a:ext cx="0" cy="288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6AC213C1-A813-4025-A749-263F1AF6CBFA}"/>
                    </a:ext>
                  </a:extLst>
                </p:cNvPr>
                <p:cNvCxnSpPr>
                  <a:cxnSpLocks/>
                </p:cNvCxnSpPr>
                <p:nvPr/>
              </p:nvCxnSpPr>
              <p:spPr>
                <a:xfrm rot="5400000">
                  <a:off x="4966445" y="3021106"/>
                  <a:ext cx="0" cy="180134"/>
                </a:xfrm>
                <a:prstGeom prst="line">
                  <a:avLst/>
                </a:prstGeom>
              </p:spPr>
              <p:style>
                <a:lnRef idx="1">
                  <a:schemeClr val="accent1"/>
                </a:lnRef>
                <a:fillRef idx="0">
                  <a:schemeClr val="accent1"/>
                </a:fillRef>
                <a:effectRef idx="0">
                  <a:schemeClr val="accent1"/>
                </a:effectRef>
                <a:fontRef idx="minor">
                  <a:schemeClr val="tx1"/>
                </a:fontRef>
              </p:style>
            </p:cxnSp>
            <p:sp>
              <p:nvSpPr>
                <p:cNvPr id="103" name="Rectangle: Rounded Corners 102">
                  <a:extLst>
                    <a:ext uri="{FF2B5EF4-FFF2-40B4-BE49-F238E27FC236}">
                      <a16:creationId xmlns:a16="http://schemas.microsoft.com/office/drawing/2014/main" id="{9FD3E3CE-3F8F-3BFC-4243-5C7156D0B95C}"/>
                    </a:ext>
                  </a:extLst>
                </p:cNvPr>
                <p:cNvSpPr/>
                <p:nvPr/>
              </p:nvSpPr>
              <p:spPr>
                <a:xfrm>
                  <a:off x="5065360" y="2931171"/>
                  <a:ext cx="1557377" cy="36000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100" b="1" dirty="0">
                      <a:solidFill>
                        <a:schemeClr val="tx1"/>
                      </a:solidFill>
                    </a:rPr>
                    <a:t>Trips purpose and frequency</a:t>
                  </a:r>
                </a:p>
              </p:txBody>
            </p:sp>
          </p:grpSp>
          <p:grpSp>
            <p:nvGrpSpPr>
              <p:cNvPr id="15" name="Group 14">
                <a:extLst>
                  <a:ext uri="{FF2B5EF4-FFF2-40B4-BE49-F238E27FC236}">
                    <a16:creationId xmlns:a16="http://schemas.microsoft.com/office/drawing/2014/main" id="{D037D435-7B1F-C251-27B3-F086BE5133DD}"/>
                  </a:ext>
                </a:extLst>
              </p:cNvPr>
              <p:cNvGrpSpPr/>
              <p:nvPr/>
            </p:nvGrpSpPr>
            <p:grpSpPr>
              <a:xfrm>
                <a:off x="4804385" y="3095969"/>
                <a:ext cx="2600211" cy="953792"/>
                <a:chOff x="327363" y="2361773"/>
                <a:chExt cx="1535250" cy="619507"/>
              </a:xfrm>
            </p:grpSpPr>
            <p:sp>
              <p:nvSpPr>
                <p:cNvPr id="99" name="Rectangle: Rounded Corners 98">
                  <a:extLst>
                    <a:ext uri="{FF2B5EF4-FFF2-40B4-BE49-F238E27FC236}">
                      <a16:creationId xmlns:a16="http://schemas.microsoft.com/office/drawing/2014/main" id="{8121AD81-C846-39C4-C5B8-59D4430D776B}"/>
                    </a:ext>
                  </a:extLst>
                </p:cNvPr>
                <p:cNvSpPr/>
                <p:nvPr/>
              </p:nvSpPr>
              <p:spPr>
                <a:xfrm>
                  <a:off x="327364" y="2361773"/>
                  <a:ext cx="1374967" cy="619507"/>
                </a:xfrm>
                <a:prstGeom prst="roundRect">
                  <a:avLst/>
                </a:prstGeom>
                <a:noFill/>
                <a:ln w="12700">
                  <a:solidFill>
                    <a:schemeClr val="tx1"/>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GB" sz="1100" dirty="0">
                    <a:solidFill>
                      <a:schemeClr val="tx1"/>
                    </a:solidFill>
                  </a:endParaRPr>
                </a:p>
              </p:txBody>
            </p:sp>
            <p:sp>
              <p:nvSpPr>
                <p:cNvPr id="100" name="TextBox 99">
                  <a:extLst>
                    <a:ext uri="{FF2B5EF4-FFF2-40B4-BE49-F238E27FC236}">
                      <a16:creationId xmlns:a16="http://schemas.microsoft.com/office/drawing/2014/main" id="{7F5BA8E6-DB38-D62A-A711-71930B316376}"/>
                    </a:ext>
                  </a:extLst>
                </p:cNvPr>
                <p:cNvSpPr txBox="1"/>
                <p:nvPr/>
              </p:nvSpPr>
              <p:spPr>
                <a:xfrm>
                  <a:off x="327363" y="2417430"/>
                  <a:ext cx="1535250" cy="419805"/>
                </a:xfrm>
                <a:prstGeom prst="rect">
                  <a:avLst/>
                </a:prstGeom>
                <a:noFill/>
              </p:spPr>
              <p:txBody>
                <a:bodyPr wrap="square" rtlCol="0">
                  <a:spAutoFit/>
                </a:bodyPr>
                <a:lstStyle/>
                <a:p>
                  <a:pPr algn="ctr"/>
                  <a:endParaRPr lang="en-GB" sz="1200" u="sng" dirty="0"/>
                </a:p>
                <a:p>
                  <a:pPr algn="ctr"/>
                  <a:endParaRPr lang="en-GB" sz="1200" u="sng" dirty="0"/>
                </a:p>
                <a:p>
                  <a:pPr algn="ctr"/>
                  <a:endParaRPr lang="en-GB" sz="1200" u="sng" dirty="0"/>
                </a:p>
              </p:txBody>
            </p:sp>
          </p:grpSp>
          <p:cxnSp>
            <p:nvCxnSpPr>
              <p:cNvPr id="16" name="Straight Arrow Connector 15">
                <a:extLst>
                  <a:ext uri="{FF2B5EF4-FFF2-40B4-BE49-F238E27FC236}">
                    <a16:creationId xmlns:a16="http://schemas.microsoft.com/office/drawing/2014/main" id="{6CC39CBA-2835-93A9-EEE0-A35CB3579E82}"/>
                  </a:ext>
                </a:extLst>
              </p:cNvPr>
              <p:cNvCxnSpPr>
                <a:cxnSpLocks/>
              </p:cNvCxnSpPr>
              <p:nvPr/>
            </p:nvCxnSpPr>
            <p:spPr>
              <a:xfrm>
                <a:off x="5968758" y="4096149"/>
                <a:ext cx="1" cy="25391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17" name="Group 16">
                <a:extLst>
                  <a:ext uri="{FF2B5EF4-FFF2-40B4-BE49-F238E27FC236}">
                    <a16:creationId xmlns:a16="http://schemas.microsoft.com/office/drawing/2014/main" id="{67CDE1AD-D1F8-28E4-6F2B-CB9DD928DC04}"/>
                  </a:ext>
                </a:extLst>
              </p:cNvPr>
              <p:cNvGrpSpPr/>
              <p:nvPr/>
            </p:nvGrpSpPr>
            <p:grpSpPr>
              <a:xfrm>
                <a:off x="4580997" y="4393674"/>
                <a:ext cx="3264438" cy="2183254"/>
                <a:chOff x="4426067" y="5110357"/>
                <a:chExt cx="3264438" cy="2183254"/>
              </a:xfrm>
            </p:grpSpPr>
            <p:grpSp>
              <p:nvGrpSpPr>
                <p:cNvPr id="85" name="Group 84">
                  <a:extLst>
                    <a:ext uri="{FF2B5EF4-FFF2-40B4-BE49-F238E27FC236}">
                      <a16:creationId xmlns:a16="http://schemas.microsoft.com/office/drawing/2014/main" id="{9354C6F6-5FE9-0E31-59DB-C6DD236A08C3}"/>
                    </a:ext>
                  </a:extLst>
                </p:cNvPr>
                <p:cNvGrpSpPr/>
                <p:nvPr/>
              </p:nvGrpSpPr>
              <p:grpSpPr>
                <a:xfrm>
                  <a:off x="4426067" y="5110357"/>
                  <a:ext cx="1557378" cy="1109867"/>
                  <a:chOff x="5559474" y="3901235"/>
                  <a:chExt cx="1557378" cy="1109867"/>
                </a:xfrm>
              </p:grpSpPr>
              <p:sp>
                <p:nvSpPr>
                  <p:cNvPr id="95" name="Rectangle: Rounded Corners 94">
                    <a:extLst>
                      <a:ext uri="{FF2B5EF4-FFF2-40B4-BE49-F238E27FC236}">
                        <a16:creationId xmlns:a16="http://schemas.microsoft.com/office/drawing/2014/main" id="{195C7232-CEC2-AAAC-F269-BDA7ED526A61}"/>
                      </a:ext>
                    </a:extLst>
                  </p:cNvPr>
                  <p:cNvSpPr/>
                  <p:nvPr/>
                </p:nvSpPr>
                <p:spPr>
                  <a:xfrm>
                    <a:off x="5559474" y="3901235"/>
                    <a:ext cx="1557378" cy="253916"/>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100" dirty="0">
                        <a:solidFill>
                          <a:schemeClr val="tx1"/>
                        </a:solidFill>
                      </a:rPr>
                      <a:t>Origin and Destination</a:t>
                    </a:r>
                  </a:p>
                </p:txBody>
              </p:sp>
              <p:sp>
                <p:nvSpPr>
                  <p:cNvPr id="96" name="Rectangle: Rounded Corners 95">
                    <a:extLst>
                      <a:ext uri="{FF2B5EF4-FFF2-40B4-BE49-F238E27FC236}">
                        <a16:creationId xmlns:a16="http://schemas.microsoft.com/office/drawing/2014/main" id="{400F9488-4488-4EE6-46D6-CB392274CE65}"/>
                      </a:ext>
                    </a:extLst>
                  </p:cNvPr>
                  <p:cNvSpPr/>
                  <p:nvPr/>
                </p:nvSpPr>
                <p:spPr>
                  <a:xfrm>
                    <a:off x="5559474" y="4192025"/>
                    <a:ext cx="1557378" cy="231285"/>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100" dirty="0">
                        <a:solidFill>
                          <a:schemeClr val="tx1"/>
                        </a:solidFill>
                      </a:rPr>
                      <a:t>Time of day</a:t>
                    </a:r>
                  </a:p>
                </p:txBody>
              </p:sp>
              <p:sp>
                <p:nvSpPr>
                  <p:cNvPr id="97" name="Rectangle: Rounded Corners 96">
                    <a:extLst>
                      <a:ext uri="{FF2B5EF4-FFF2-40B4-BE49-F238E27FC236}">
                        <a16:creationId xmlns:a16="http://schemas.microsoft.com/office/drawing/2014/main" id="{A9600225-DFE9-5DF5-DAC0-65FD6D50C634}"/>
                      </a:ext>
                    </a:extLst>
                  </p:cNvPr>
                  <p:cNvSpPr/>
                  <p:nvPr/>
                </p:nvSpPr>
                <p:spPr>
                  <a:xfrm>
                    <a:off x="5559474" y="4463290"/>
                    <a:ext cx="1557378" cy="253916"/>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100" dirty="0">
                        <a:solidFill>
                          <a:schemeClr val="tx1"/>
                        </a:solidFill>
                      </a:rPr>
                      <a:t>Accompanying member</a:t>
                    </a:r>
                  </a:p>
                </p:txBody>
              </p:sp>
              <p:sp>
                <p:nvSpPr>
                  <p:cNvPr id="98" name="Rectangle: Rounded Corners 97">
                    <a:extLst>
                      <a:ext uri="{FF2B5EF4-FFF2-40B4-BE49-F238E27FC236}">
                        <a16:creationId xmlns:a16="http://schemas.microsoft.com/office/drawing/2014/main" id="{503661A4-3176-E02B-89FC-2E1ED51A7457}"/>
                      </a:ext>
                    </a:extLst>
                  </p:cNvPr>
                  <p:cNvSpPr/>
                  <p:nvPr/>
                </p:nvSpPr>
                <p:spPr>
                  <a:xfrm>
                    <a:off x="5559474" y="4757186"/>
                    <a:ext cx="1557378" cy="253916"/>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100" dirty="0">
                        <a:solidFill>
                          <a:schemeClr val="tx1"/>
                        </a:solidFill>
                      </a:rPr>
                      <a:t>Typical mode</a:t>
                    </a:r>
                  </a:p>
                </p:txBody>
              </p:sp>
            </p:grpSp>
            <p:sp>
              <p:nvSpPr>
                <p:cNvPr id="86" name="Rectangle: Rounded Corners 85">
                  <a:extLst>
                    <a:ext uri="{FF2B5EF4-FFF2-40B4-BE49-F238E27FC236}">
                      <a16:creationId xmlns:a16="http://schemas.microsoft.com/office/drawing/2014/main" id="{1D9E27C1-4FD5-2DB0-466C-F28585A824C7}"/>
                    </a:ext>
                  </a:extLst>
                </p:cNvPr>
                <p:cNvSpPr/>
                <p:nvPr/>
              </p:nvSpPr>
              <p:spPr>
                <a:xfrm>
                  <a:off x="6131103" y="6178962"/>
                  <a:ext cx="1557378" cy="253916"/>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100" dirty="0">
                      <a:solidFill>
                        <a:schemeClr val="tx1"/>
                      </a:solidFill>
                    </a:rPr>
                    <a:t>Access and egress</a:t>
                  </a:r>
                </a:p>
              </p:txBody>
            </p:sp>
            <p:sp>
              <p:nvSpPr>
                <p:cNvPr id="89" name="Rectangle: Rounded Corners 88">
                  <a:extLst>
                    <a:ext uri="{FF2B5EF4-FFF2-40B4-BE49-F238E27FC236}">
                      <a16:creationId xmlns:a16="http://schemas.microsoft.com/office/drawing/2014/main" id="{98D0780A-E6C5-BEDF-40B3-A3BEFF93D596}"/>
                    </a:ext>
                  </a:extLst>
                </p:cNvPr>
                <p:cNvSpPr/>
                <p:nvPr/>
              </p:nvSpPr>
              <p:spPr>
                <a:xfrm>
                  <a:off x="6131103" y="6465245"/>
                  <a:ext cx="1557378" cy="253916"/>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100" dirty="0">
                      <a:solidFill>
                        <a:schemeClr val="tx1"/>
                      </a:solidFill>
                    </a:rPr>
                    <a:t>Wait time</a:t>
                  </a:r>
                </a:p>
              </p:txBody>
            </p:sp>
            <p:sp>
              <p:nvSpPr>
                <p:cNvPr id="91" name="Rectangle: Rounded Corners 90">
                  <a:extLst>
                    <a:ext uri="{FF2B5EF4-FFF2-40B4-BE49-F238E27FC236}">
                      <a16:creationId xmlns:a16="http://schemas.microsoft.com/office/drawing/2014/main" id="{83124E8B-D1BD-FE67-1E9A-DD2AC2B47262}"/>
                    </a:ext>
                  </a:extLst>
                </p:cNvPr>
                <p:cNvSpPr/>
                <p:nvPr/>
              </p:nvSpPr>
              <p:spPr>
                <a:xfrm>
                  <a:off x="6133127" y="6754317"/>
                  <a:ext cx="1557378" cy="253916"/>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100" dirty="0">
                      <a:solidFill>
                        <a:schemeClr val="tx1"/>
                      </a:solidFill>
                    </a:rPr>
                    <a:t>Typical journey time</a:t>
                  </a:r>
                </a:p>
              </p:txBody>
            </p:sp>
            <p:sp>
              <p:nvSpPr>
                <p:cNvPr id="92" name="Rectangle: Rounded Corners 91">
                  <a:extLst>
                    <a:ext uri="{FF2B5EF4-FFF2-40B4-BE49-F238E27FC236}">
                      <a16:creationId xmlns:a16="http://schemas.microsoft.com/office/drawing/2014/main" id="{9F9486C4-7A98-CE7E-00F0-A351FCFB8815}"/>
                    </a:ext>
                  </a:extLst>
                </p:cNvPr>
                <p:cNvSpPr/>
                <p:nvPr/>
              </p:nvSpPr>
              <p:spPr>
                <a:xfrm>
                  <a:off x="6131103" y="7039695"/>
                  <a:ext cx="1557378" cy="253916"/>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100" dirty="0">
                      <a:solidFill>
                        <a:schemeClr val="tx1"/>
                      </a:solidFill>
                    </a:rPr>
                    <a:t>Typical journey cost</a:t>
                  </a:r>
                </a:p>
              </p:txBody>
            </p:sp>
          </p:grpSp>
          <p:grpSp>
            <p:nvGrpSpPr>
              <p:cNvPr id="43" name="Group 42">
                <a:extLst>
                  <a:ext uri="{FF2B5EF4-FFF2-40B4-BE49-F238E27FC236}">
                    <a16:creationId xmlns:a16="http://schemas.microsoft.com/office/drawing/2014/main" id="{83100D61-01BD-5D26-3EC2-ED6C4B31720C}"/>
                  </a:ext>
                </a:extLst>
              </p:cNvPr>
              <p:cNvGrpSpPr/>
              <p:nvPr/>
            </p:nvGrpSpPr>
            <p:grpSpPr>
              <a:xfrm>
                <a:off x="5079816" y="3156628"/>
                <a:ext cx="2235386" cy="261610"/>
                <a:chOff x="8400950" y="3655026"/>
                <a:chExt cx="2561188" cy="247446"/>
              </a:xfrm>
            </p:grpSpPr>
            <p:sp>
              <p:nvSpPr>
                <p:cNvPr id="62" name="Oval 61">
                  <a:extLst>
                    <a:ext uri="{FF2B5EF4-FFF2-40B4-BE49-F238E27FC236}">
                      <a16:creationId xmlns:a16="http://schemas.microsoft.com/office/drawing/2014/main" id="{A294F897-6CA8-C996-FA06-1ED3FD4BC5E2}"/>
                    </a:ext>
                  </a:extLst>
                </p:cNvPr>
                <p:cNvSpPr/>
                <p:nvPr/>
              </p:nvSpPr>
              <p:spPr>
                <a:xfrm>
                  <a:off x="8400950" y="3739416"/>
                  <a:ext cx="72000" cy="72000"/>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3" name="TextBox 62">
                  <a:extLst>
                    <a:ext uri="{FF2B5EF4-FFF2-40B4-BE49-F238E27FC236}">
                      <a16:creationId xmlns:a16="http://schemas.microsoft.com/office/drawing/2014/main" id="{17DB818C-5578-F7B9-293F-3BF1645D1329}"/>
                    </a:ext>
                  </a:extLst>
                </p:cNvPr>
                <p:cNvSpPr txBox="1"/>
                <p:nvPr/>
              </p:nvSpPr>
              <p:spPr>
                <a:xfrm>
                  <a:off x="8436951" y="3655026"/>
                  <a:ext cx="2525187" cy="247446"/>
                </a:xfrm>
                <a:prstGeom prst="rect">
                  <a:avLst/>
                </a:prstGeom>
                <a:noFill/>
              </p:spPr>
              <p:txBody>
                <a:bodyPr wrap="square" rtlCol="0">
                  <a:spAutoFit/>
                </a:bodyPr>
                <a:lstStyle/>
                <a:p>
                  <a:r>
                    <a:rPr lang="en-GB" sz="1100" dirty="0"/>
                    <a:t>Work/School </a:t>
                  </a:r>
                </a:p>
              </p:txBody>
            </p:sp>
          </p:grpSp>
        </p:grpSp>
        <p:grpSp>
          <p:nvGrpSpPr>
            <p:cNvPr id="104" name="Group 103">
              <a:extLst>
                <a:ext uri="{FF2B5EF4-FFF2-40B4-BE49-F238E27FC236}">
                  <a16:creationId xmlns:a16="http://schemas.microsoft.com/office/drawing/2014/main" id="{CC28EEA9-43D6-E15F-9779-169BA50950A8}"/>
                </a:ext>
              </a:extLst>
            </p:cNvPr>
            <p:cNvGrpSpPr/>
            <p:nvPr/>
          </p:nvGrpSpPr>
          <p:grpSpPr>
            <a:xfrm>
              <a:off x="6219824" y="4467436"/>
              <a:ext cx="2097708" cy="959093"/>
              <a:chOff x="674622" y="5026906"/>
              <a:chExt cx="2407618" cy="959093"/>
            </a:xfrm>
          </p:grpSpPr>
          <p:sp>
            <p:nvSpPr>
              <p:cNvPr id="105" name="Rectangle: Rounded Corners 104">
                <a:extLst>
                  <a:ext uri="{FF2B5EF4-FFF2-40B4-BE49-F238E27FC236}">
                    <a16:creationId xmlns:a16="http://schemas.microsoft.com/office/drawing/2014/main" id="{A6D6B19E-13E4-9F28-A7BD-980EF999060F}"/>
                  </a:ext>
                </a:extLst>
              </p:cNvPr>
              <p:cNvSpPr/>
              <p:nvPr/>
            </p:nvSpPr>
            <p:spPr>
              <a:xfrm>
                <a:off x="674622" y="5026906"/>
                <a:ext cx="2407618" cy="959092"/>
              </a:xfrm>
              <a:prstGeom prst="roundRect">
                <a:avLst/>
              </a:prstGeom>
              <a:solidFill>
                <a:schemeClr val="bg1"/>
              </a:solidFill>
              <a:ln>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grpSp>
            <p:nvGrpSpPr>
              <p:cNvPr id="106" name="Group 105">
                <a:extLst>
                  <a:ext uri="{FF2B5EF4-FFF2-40B4-BE49-F238E27FC236}">
                    <a16:creationId xmlns:a16="http://schemas.microsoft.com/office/drawing/2014/main" id="{9ADC1CB5-9CE9-048C-7BFB-79F07D11DB90}"/>
                  </a:ext>
                </a:extLst>
              </p:cNvPr>
              <p:cNvGrpSpPr/>
              <p:nvPr/>
            </p:nvGrpSpPr>
            <p:grpSpPr>
              <a:xfrm>
                <a:off x="860660" y="5076448"/>
                <a:ext cx="1971785" cy="909551"/>
                <a:chOff x="745771" y="5062736"/>
                <a:chExt cx="2141770" cy="909551"/>
              </a:xfrm>
            </p:grpSpPr>
            <p:grpSp>
              <p:nvGrpSpPr>
                <p:cNvPr id="107" name="Group 106">
                  <a:extLst>
                    <a:ext uri="{FF2B5EF4-FFF2-40B4-BE49-F238E27FC236}">
                      <a16:creationId xmlns:a16="http://schemas.microsoft.com/office/drawing/2014/main" id="{E70BC258-05DB-8DD0-B354-1C36FCFB0738}"/>
                    </a:ext>
                  </a:extLst>
                </p:cNvPr>
                <p:cNvGrpSpPr/>
                <p:nvPr/>
              </p:nvGrpSpPr>
              <p:grpSpPr>
                <a:xfrm>
                  <a:off x="745774" y="5062736"/>
                  <a:ext cx="782587" cy="747331"/>
                  <a:chOff x="745774" y="5062736"/>
                  <a:chExt cx="782587" cy="747331"/>
                </a:xfrm>
              </p:grpSpPr>
              <p:grpSp>
                <p:nvGrpSpPr>
                  <p:cNvPr id="111" name="Group 110">
                    <a:extLst>
                      <a:ext uri="{FF2B5EF4-FFF2-40B4-BE49-F238E27FC236}">
                        <a16:creationId xmlns:a16="http://schemas.microsoft.com/office/drawing/2014/main" id="{C9C3D6B0-AE13-8B19-7077-940FD399A1F6}"/>
                      </a:ext>
                    </a:extLst>
                  </p:cNvPr>
                  <p:cNvGrpSpPr/>
                  <p:nvPr/>
                </p:nvGrpSpPr>
                <p:grpSpPr>
                  <a:xfrm>
                    <a:off x="745774" y="5228708"/>
                    <a:ext cx="594778" cy="261610"/>
                    <a:chOff x="8381999" y="3897046"/>
                    <a:chExt cx="681462" cy="247446"/>
                  </a:xfrm>
                </p:grpSpPr>
                <p:sp>
                  <p:nvSpPr>
                    <p:cNvPr id="121" name="Oval 120">
                      <a:extLst>
                        <a:ext uri="{FF2B5EF4-FFF2-40B4-BE49-F238E27FC236}">
                          <a16:creationId xmlns:a16="http://schemas.microsoft.com/office/drawing/2014/main" id="{2AFB3E5D-65AF-2E01-09BD-DC4A63C08951}"/>
                        </a:ext>
                      </a:extLst>
                    </p:cNvPr>
                    <p:cNvSpPr/>
                    <p:nvPr/>
                  </p:nvSpPr>
                  <p:spPr>
                    <a:xfrm>
                      <a:off x="8381999" y="3982204"/>
                      <a:ext cx="72000" cy="72000"/>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22" name="TextBox 121">
                      <a:extLst>
                        <a:ext uri="{FF2B5EF4-FFF2-40B4-BE49-F238E27FC236}">
                          <a16:creationId xmlns:a16="http://schemas.microsoft.com/office/drawing/2014/main" id="{6F599E57-3BFF-63EE-92AB-9E29AE9D1855}"/>
                        </a:ext>
                      </a:extLst>
                    </p:cNvPr>
                    <p:cNvSpPr txBox="1"/>
                    <p:nvPr/>
                  </p:nvSpPr>
                  <p:spPr>
                    <a:xfrm>
                      <a:off x="8403744" y="3897046"/>
                      <a:ext cx="659717" cy="247446"/>
                    </a:xfrm>
                    <a:prstGeom prst="rect">
                      <a:avLst/>
                    </a:prstGeom>
                    <a:noFill/>
                  </p:spPr>
                  <p:txBody>
                    <a:bodyPr wrap="none" rtlCol="0">
                      <a:spAutoFit/>
                    </a:bodyPr>
                    <a:lstStyle/>
                    <a:p>
                      <a:r>
                        <a:rPr lang="en-GB" sz="1100" dirty="0"/>
                        <a:t>Pvt car</a:t>
                      </a:r>
                    </a:p>
                  </p:txBody>
                </p:sp>
              </p:grpSp>
              <p:grpSp>
                <p:nvGrpSpPr>
                  <p:cNvPr id="112" name="Group 111">
                    <a:extLst>
                      <a:ext uri="{FF2B5EF4-FFF2-40B4-BE49-F238E27FC236}">
                        <a16:creationId xmlns:a16="http://schemas.microsoft.com/office/drawing/2014/main" id="{EDC5EB00-7D41-3998-44AB-585D6091D50E}"/>
                      </a:ext>
                    </a:extLst>
                  </p:cNvPr>
                  <p:cNvGrpSpPr/>
                  <p:nvPr/>
                </p:nvGrpSpPr>
                <p:grpSpPr>
                  <a:xfrm>
                    <a:off x="745777" y="5548457"/>
                    <a:ext cx="675641" cy="261610"/>
                    <a:chOff x="8381999" y="3894481"/>
                    <a:chExt cx="774117" cy="247446"/>
                  </a:xfrm>
                </p:grpSpPr>
                <p:sp>
                  <p:nvSpPr>
                    <p:cNvPr id="119" name="Oval 118">
                      <a:extLst>
                        <a:ext uri="{FF2B5EF4-FFF2-40B4-BE49-F238E27FC236}">
                          <a16:creationId xmlns:a16="http://schemas.microsoft.com/office/drawing/2014/main" id="{332208EA-46C8-B48E-ECE6-316049E7A1D1}"/>
                        </a:ext>
                      </a:extLst>
                    </p:cNvPr>
                    <p:cNvSpPr/>
                    <p:nvPr/>
                  </p:nvSpPr>
                  <p:spPr>
                    <a:xfrm>
                      <a:off x="8381999" y="3982204"/>
                      <a:ext cx="72000" cy="72000"/>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20" name="TextBox 119">
                      <a:extLst>
                        <a:ext uri="{FF2B5EF4-FFF2-40B4-BE49-F238E27FC236}">
                          <a16:creationId xmlns:a16="http://schemas.microsoft.com/office/drawing/2014/main" id="{643A2782-608C-388B-DF16-32076E80DC28}"/>
                        </a:ext>
                      </a:extLst>
                    </p:cNvPr>
                    <p:cNvSpPr txBox="1"/>
                    <p:nvPr/>
                  </p:nvSpPr>
                  <p:spPr>
                    <a:xfrm>
                      <a:off x="8389868" y="3894481"/>
                      <a:ext cx="766248" cy="247446"/>
                    </a:xfrm>
                    <a:prstGeom prst="rect">
                      <a:avLst/>
                    </a:prstGeom>
                    <a:noFill/>
                  </p:spPr>
                  <p:txBody>
                    <a:bodyPr wrap="none" rtlCol="0">
                      <a:spAutoFit/>
                    </a:bodyPr>
                    <a:lstStyle/>
                    <a:p>
                      <a:r>
                        <a:rPr lang="en-GB" sz="1100" dirty="0"/>
                        <a:t>Taxi/cab</a:t>
                      </a:r>
                    </a:p>
                  </p:txBody>
                </p:sp>
              </p:grpSp>
              <p:grpSp>
                <p:nvGrpSpPr>
                  <p:cNvPr id="113" name="Group 112">
                    <a:extLst>
                      <a:ext uri="{FF2B5EF4-FFF2-40B4-BE49-F238E27FC236}">
                        <a16:creationId xmlns:a16="http://schemas.microsoft.com/office/drawing/2014/main" id="{07EB9838-A8F3-3645-A558-DB886C4AD094}"/>
                      </a:ext>
                    </a:extLst>
                  </p:cNvPr>
                  <p:cNvGrpSpPr/>
                  <p:nvPr/>
                </p:nvGrpSpPr>
                <p:grpSpPr>
                  <a:xfrm>
                    <a:off x="745776" y="5062736"/>
                    <a:ext cx="782585" cy="261610"/>
                    <a:chOff x="8381999" y="3886843"/>
                    <a:chExt cx="896650" cy="247446"/>
                  </a:xfrm>
                </p:grpSpPr>
                <p:sp>
                  <p:nvSpPr>
                    <p:cNvPr id="117" name="Oval 116">
                      <a:extLst>
                        <a:ext uri="{FF2B5EF4-FFF2-40B4-BE49-F238E27FC236}">
                          <a16:creationId xmlns:a16="http://schemas.microsoft.com/office/drawing/2014/main" id="{79C8B8FF-C43E-C61D-7C22-A455AE63652F}"/>
                        </a:ext>
                      </a:extLst>
                    </p:cNvPr>
                    <p:cNvSpPr/>
                    <p:nvPr/>
                  </p:nvSpPr>
                  <p:spPr>
                    <a:xfrm>
                      <a:off x="8381999" y="3982204"/>
                      <a:ext cx="72000" cy="72000"/>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18" name="TextBox 117">
                      <a:extLst>
                        <a:ext uri="{FF2B5EF4-FFF2-40B4-BE49-F238E27FC236}">
                          <a16:creationId xmlns:a16="http://schemas.microsoft.com/office/drawing/2014/main" id="{A0AA1A7F-B27C-44F4-ED68-0CB08302168C}"/>
                        </a:ext>
                      </a:extLst>
                    </p:cNvPr>
                    <p:cNvSpPr txBox="1"/>
                    <p:nvPr/>
                  </p:nvSpPr>
                  <p:spPr>
                    <a:xfrm>
                      <a:off x="8398528" y="3886843"/>
                      <a:ext cx="880121" cy="247446"/>
                    </a:xfrm>
                    <a:prstGeom prst="rect">
                      <a:avLst/>
                    </a:prstGeom>
                    <a:noFill/>
                  </p:spPr>
                  <p:txBody>
                    <a:bodyPr wrap="none" rtlCol="0">
                      <a:spAutoFit/>
                    </a:bodyPr>
                    <a:lstStyle/>
                    <a:p>
                      <a:r>
                        <a:rPr lang="en-GB" sz="1100" dirty="0"/>
                        <a:t>Walk/bike</a:t>
                      </a:r>
                    </a:p>
                  </p:txBody>
                </p:sp>
              </p:grpSp>
              <p:grpSp>
                <p:nvGrpSpPr>
                  <p:cNvPr id="114" name="Group 113">
                    <a:extLst>
                      <a:ext uri="{FF2B5EF4-FFF2-40B4-BE49-F238E27FC236}">
                        <a16:creationId xmlns:a16="http://schemas.microsoft.com/office/drawing/2014/main" id="{3BB8358C-261A-8166-CB96-087CD8F5F994}"/>
                      </a:ext>
                    </a:extLst>
                  </p:cNvPr>
                  <p:cNvGrpSpPr/>
                  <p:nvPr/>
                </p:nvGrpSpPr>
                <p:grpSpPr>
                  <a:xfrm>
                    <a:off x="749354" y="5394862"/>
                    <a:ext cx="644739" cy="261610"/>
                    <a:chOff x="8381999" y="3911126"/>
                    <a:chExt cx="738708" cy="247446"/>
                  </a:xfrm>
                </p:grpSpPr>
                <p:sp>
                  <p:nvSpPr>
                    <p:cNvPr id="115" name="Oval 114">
                      <a:extLst>
                        <a:ext uri="{FF2B5EF4-FFF2-40B4-BE49-F238E27FC236}">
                          <a16:creationId xmlns:a16="http://schemas.microsoft.com/office/drawing/2014/main" id="{FF0CAFAA-8526-4BD4-985C-ACCF65AFC2C3}"/>
                        </a:ext>
                      </a:extLst>
                    </p:cNvPr>
                    <p:cNvSpPr/>
                    <p:nvPr/>
                  </p:nvSpPr>
                  <p:spPr>
                    <a:xfrm>
                      <a:off x="8381999" y="3982204"/>
                      <a:ext cx="72000" cy="72000"/>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16" name="TextBox 115">
                      <a:extLst>
                        <a:ext uri="{FF2B5EF4-FFF2-40B4-BE49-F238E27FC236}">
                          <a16:creationId xmlns:a16="http://schemas.microsoft.com/office/drawing/2014/main" id="{F7B557DE-62B2-9DFE-66B6-B38F1CA5FCC5}"/>
                        </a:ext>
                      </a:extLst>
                    </p:cNvPr>
                    <p:cNvSpPr txBox="1"/>
                    <p:nvPr/>
                  </p:nvSpPr>
                  <p:spPr>
                    <a:xfrm>
                      <a:off x="8404052" y="3911126"/>
                      <a:ext cx="716655" cy="247446"/>
                    </a:xfrm>
                    <a:prstGeom prst="rect">
                      <a:avLst/>
                    </a:prstGeom>
                    <a:noFill/>
                  </p:spPr>
                  <p:txBody>
                    <a:bodyPr wrap="none" rtlCol="0">
                      <a:spAutoFit/>
                    </a:bodyPr>
                    <a:lstStyle/>
                    <a:p>
                      <a:r>
                        <a:rPr lang="en-GB" sz="1100" dirty="0"/>
                        <a:t>Bus/rail</a:t>
                      </a:r>
                    </a:p>
                  </p:txBody>
                </p:sp>
              </p:grpSp>
            </p:grpSp>
            <p:grpSp>
              <p:nvGrpSpPr>
                <p:cNvPr id="108" name="Group 107">
                  <a:extLst>
                    <a:ext uri="{FF2B5EF4-FFF2-40B4-BE49-F238E27FC236}">
                      <a16:creationId xmlns:a16="http://schemas.microsoft.com/office/drawing/2014/main" id="{85511195-D8EC-822D-518A-E9CDC01EB642}"/>
                    </a:ext>
                  </a:extLst>
                </p:cNvPr>
                <p:cNvGrpSpPr/>
                <p:nvPr/>
              </p:nvGrpSpPr>
              <p:grpSpPr>
                <a:xfrm>
                  <a:off x="745771" y="5710677"/>
                  <a:ext cx="2141770" cy="261610"/>
                  <a:chOff x="8381999" y="3890700"/>
                  <a:chExt cx="2453949" cy="247446"/>
                </a:xfrm>
              </p:grpSpPr>
              <p:sp>
                <p:nvSpPr>
                  <p:cNvPr id="109" name="Oval 108">
                    <a:extLst>
                      <a:ext uri="{FF2B5EF4-FFF2-40B4-BE49-F238E27FC236}">
                        <a16:creationId xmlns:a16="http://schemas.microsoft.com/office/drawing/2014/main" id="{5F93264A-3955-6506-7F8B-A868084DD5B1}"/>
                      </a:ext>
                    </a:extLst>
                  </p:cNvPr>
                  <p:cNvSpPr/>
                  <p:nvPr/>
                </p:nvSpPr>
                <p:spPr>
                  <a:xfrm>
                    <a:off x="8381999" y="3982204"/>
                    <a:ext cx="72000" cy="72000"/>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10" name="TextBox 109">
                    <a:extLst>
                      <a:ext uri="{FF2B5EF4-FFF2-40B4-BE49-F238E27FC236}">
                        <a16:creationId xmlns:a16="http://schemas.microsoft.com/office/drawing/2014/main" id="{90A65AEE-CDD1-5824-F336-B21EA717DD57}"/>
                      </a:ext>
                    </a:extLst>
                  </p:cNvPr>
                  <p:cNvSpPr txBox="1"/>
                  <p:nvPr/>
                </p:nvSpPr>
                <p:spPr>
                  <a:xfrm>
                    <a:off x="8389694" y="3890700"/>
                    <a:ext cx="2446254" cy="247446"/>
                  </a:xfrm>
                  <a:prstGeom prst="rect">
                    <a:avLst/>
                  </a:prstGeom>
                  <a:noFill/>
                </p:spPr>
                <p:txBody>
                  <a:bodyPr wrap="none" rtlCol="0">
                    <a:spAutoFit/>
                  </a:bodyPr>
                  <a:lstStyle/>
                  <a:p>
                    <a:r>
                      <a:rPr lang="en-GB" sz="1100" dirty="0"/>
                      <a:t>Other (carpool, work cab, etc.) </a:t>
                    </a:r>
                  </a:p>
                </p:txBody>
              </p:sp>
            </p:grpSp>
          </p:grpSp>
        </p:grpSp>
        <p:sp>
          <p:nvSpPr>
            <p:cNvPr id="123" name="Oval 122">
              <a:extLst>
                <a:ext uri="{FF2B5EF4-FFF2-40B4-BE49-F238E27FC236}">
                  <a16:creationId xmlns:a16="http://schemas.microsoft.com/office/drawing/2014/main" id="{19AEFD8E-4EBF-A538-B255-C9462C59C7B0}"/>
                </a:ext>
              </a:extLst>
            </p:cNvPr>
            <p:cNvSpPr/>
            <p:nvPr/>
          </p:nvSpPr>
          <p:spPr>
            <a:xfrm>
              <a:off x="5093025" y="3457579"/>
              <a:ext cx="62841" cy="76121"/>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24" name="TextBox 123">
              <a:extLst>
                <a:ext uri="{FF2B5EF4-FFF2-40B4-BE49-F238E27FC236}">
                  <a16:creationId xmlns:a16="http://schemas.microsoft.com/office/drawing/2014/main" id="{0DE76FF1-8588-9AF1-1F7A-9F00D698D6C7}"/>
                </a:ext>
              </a:extLst>
            </p:cNvPr>
            <p:cNvSpPr txBox="1"/>
            <p:nvPr/>
          </p:nvSpPr>
          <p:spPr>
            <a:xfrm>
              <a:off x="5124446" y="3368358"/>
              <a:ext cx="2248730" cy="261610"/>
            </a:xfrm>
            <a:prstGeom prst="rect">
              <a:avLst/>
            </a:prstGeom>
            <a:noFill/>
          </p:spPr>
          <p:txBody>
            <a:bodyPr wrap="square" rtlCol="0">
              <a:spAutoFit/>
            </a:bodyPr>
            <a:lstStyle/>
            <a:p>
              <a:r>
                <a:rPr lang="en-GB" sz="1100" dirty="0"/>
                <a:t>Leisure/shopping</a:t>
              </a:r>
            </a:p>
          </p:txBody>
        </p:sp>
        <p:sp>
          <p:nvSpPr>
            <p:cNvPr id="125" name="Oval 124">
              <a:extLst>
                <a:ext uri="{FF2B5EF4-FFF2-40B4-BE49-F238E27FC236}">
                  <a16:creationId xmlns:a16="http://schemas.microsoft.com/office/drawing/2014/main" id="{35CFDA2B-929A-FB9D-89B6-D13A3E74FEC4}"/>
                </a:ext>
              </a:extLst>
            </p:cNvPr>
            <p:cNvSpPr/>
            <p:nvPr/>
          </p:nvSpPr>
          <p:spPr>
            <a:xfrm>
              <a:off x="5093025" y="3681100"/>
              <a:ext cx="62841" cy="76121"/>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26" name="TextBox 125">
              <a:extLst>
                <a:ext uri="{FF2B5EF4-FFF2-40B4-BE49-F238E27FC236}">
                  <a16:creationId xmlns:a16="http://schemas.microsoft.com/office/drawing/2014/main" id="{E5418C53-DBC5-5482-9AD3-0BFDB08144C3}"/>
                </a:ext>
              </a:extLst>
            </p:cNvPr>
            <p:cNvSpPr txBox="1"/>
            <p:nvPr/>
          </p:nvSpPr>
          <p:spPr>
            <a:xfrm>
              <a:off x="5124446" y="3591879"/>
              <a:ext cx="2190756" cy="430887"/>
            </a:xfrm>
            <a:prstGeom prst="rect">
              <a:avLst/>
            </a:prstGeom>
            <a:noFill/>
          </p:spPr>
          <p:txBody>
            <a:bodyPr wrap="square" rtlCol="0">
              <a:spAutoFit/>
            </a:bodyPr>
            <a:lstStyle/>
            <a:p>
              <a:r>
                <a:rPr lang="en-GB" sz="1100" dirty="0"/>
                <a:t>Maintenance (including medical visits, bank visits, religious, etc.) </a:t>
              </a:r>
            </a:p>
          </p:txBody>
        </p:sp>
        <p:sp>
          <p:nvSpPr>
            <p:cNvPr id="132" name="TextBox 131">
              <a:extLst>
                <a:ext uri="{FF2B5EF4-FFF2-40B4-BE49-F238E27FC236}">
                  <a16:creationId xmlns:a16="http://schemas.microsoft.com/office/drawing/2014/main" id="{CB5341F5-3A52-38E2-A0B4-8016549CF252}"/>
                </a:ext>
              </a:extLst>
            </p:cNvPr>
            <p:cNvSpPr txBox="1"/>
            <p:nvPr/>
          </p:nvSpPr>
          <p:spPr>
            <a:xfrm>
              <a:off x="5953852" y="4083218"/>
              <a:ext cx="2172326" cy="276999"/>
            </a:xfrm>
            <a:prstGeom prst="rect">
              <a:avLst/>
            </a:prstGeom>
            <a:noFill/>
          </p:spPr>
          <p:txBody>
            <a:bodyPr wrap="none" rtlCol="0">
              <a:spAutoFit/>
            </a:bodyPr>
            <a:lstStyle/>
            <a:p>
              <a:r>
                <a:rPr lang="en-GB" sz="1200" dirty="0">
                  <a:solidFill>
                    <a:srgbClr val="FF0000"/>
                  </a:solidFill>
                </a:rPr>
                <a:t>Randomly selected trip purpose</a:t>
              </a:r>
              <a:endParaRPr lang="en-GB" sz="1100" dirty="0">
                <a:solidFill>
                  <a:srgbClr val="FF0000"/>
                </a:solidFill>
              </a:endParaRPr>
            </a:p>
          </p:txBody>
        </p:sp>
        <p:sp>
          <p:nvSpPr>
            <p:cNvPr id="133" name="Rectangle: Rounded Corners 132">
              <a:extLst>
                <a:ext uri="{FF2B5EF4-FFF2-40B4-BE49-F238E27FC236}">
                  <a16:creationId xmlns:a16="http://schemas.microsoft.com/office/drawing/2014/main" id="{EFB948D5-EEBC-2D8B-2E27-63418DFBC285}"/>
                </a:ext>
              </a:extLst>
            </p:cNvPr>
            <p:cNvSpPr/>
            <p:nvPr/>
          </p:nvSpPr>
          <p:spPr>
            <a:xfrm>
              <a:off x="4573338" y="5539633"/>
              <a:ext cx="1557378" cy="253916"/>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100" dirty="0">
                  <a:solidFill>
                    <a:schemeClr val="tx1"/>
                  </a:solidFill>
                </a:rPr>
                <a:t>Appointment</a:t>
              </a:r>
            </a:p>
          </p:txBody>
        </p:sp>
      </p:grpSp>
      <p:grpSp>
        <p:nvGrpSpPr>
          <p:cNvPr id="147" name="Group 146">
            <a:extLst>
              <a:ext uri="{FF2B5EF4-FFF2-40B4-BE49-F238E27FC236}">
                <a16:creationId xmlns:a16="http://schemas.microsoft.com/office/drawing/2014/main" id="{D4376478-1A6B-699B-8EA4-5DCE713C9909}"/>
              </a:ext>
            </a:extLst>
          </p:cNvPr>
          <p:cNvGrpSpPr/>
          <p:nvPr/>
        </p:nvGrpSpPr>
        <p:grpSpPr>
          <a:xfrm>
            <a:off x="7822301" y="1991304"/>
            <a:ext cx="4284699" cy="3287090"/>
            <a:chOff x="7822301" y="1991304"/>
            <a:chExt cx="4284699" cy="3287090"/>
          </a:xfrm>
        </p:grpSpPr>
        <p:sp>
          <p:nvSpPr>
            <p:cNvPr id="135" name="Rectangle: Rounded Corners 134">
              <a:extLst>
                <a:ext uri="{FF2B5EF4-FFF2-40B4-BE49-F238E27FC236}">
                  <a16:creationId xmlns:a16="http://schemas.microsoft.com/office/drawing/2014/main" id="{263500C7-9BAA-C1D1-F7E2-ABC52D32F554}"/>
                </a:ext>
              </a:extLst>
            </p:cNvPr>
            <p:cNvSpPr/>
            <p:nvPr/>
          </p:nvSpPr>
          <p:spPr>
            <a:xfrm>
              <a:off x="8069014" y="1991304"/>
              <a:ext cx="3680533" cy="514295"/>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solidFill>
                    <a:schemeClr val="tx1"/>
                  </a:solidFill>
                </a:rPr>
                <a:t>CHOICE EXPERIMENT</a:t>
              </a:r>
            </a:p>
            <a:p>
              <a:pPr algn="ctr"/>
              <a:r>
                <a:rPr lang="en-GB" sz="1050" dirty="0">
                  <a:solidFill>
                    <a:srgbClr val="FF0000"/>
                  </a:solidFill>
                </a:rPr>
                <a:t>Pivoting of a “randomly” selected trip reported in the last revealed trip section</a:t>
              </a:r>
            </a:p>
          </p:txBody>
        </p:sp>
        <p:sp>
          <p:nvSpPr>
            <p:cNvPr id="136" name="Rectangle: Rounded Corners 135">
              <a:extLst>
                <a:ext uri="{FF2B5EF4-FFF2-40B4-BE49-F238E27FC236}">
                  <a16:creationId xmlns:a16="http://schemas.microsoft.com/office/drawing/2014/main" id="{049F057F-DA13-3391-F327-7AD2AD91D326}"/>
                </a:ext>
              </a:extLst>
            </p:cNvPr>
            <p:cNvSpPr/>
            <p:nvPr/>
          </p:nvSpPr>
          <p:spPr>
            <a:xfrm>
              <a:off x="7847888" y="2573385"/>
              <a:ext cx="4120454" cy="71893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100" u="sng" dirty="0">
                  <a:solidFill>
                    <a:schemeClr val="tx1"/>
                  </a:solidFill>
                </a:rPr>
                <a:t>Trip selection criterion</a:t>
              </a:r>
            </a:p>
            <a:p>
              <a:pPr algn="ctr"/>
              <a:r>
                <a:rPr lang="en-GB" sz="1100" dirty="0">
                  <a:solidFill>
                    <a:schemeClr val="tx1"/>
                  </a:solidFill>
                </a:rPr>
                <a:t>Trip distance must be greater than 1 km or chosen mode must not be walk/bike or other. </a:t>
              </a:r>
            </a:p>
          </p:txBody>
        </p:sp>
        <p:sp>
          <p:nvSpPr>
            <p:cNvPr id="137" name="Rectangle: Rounded Corners 136">
              <a:extLst>
                <a:ext uri="{FF2B5EF4-FFF2-40B4-BE49-F238E27FC236}">
                  <a16:creationId xmlns:a16="http://schemas.microsoft.com/office/drawing/2014/main" id="{8E0865F6-F669-8E40-BDFD-E70C3CCDFE2C}"/>
                </a:ext>
              </a:extLst>
            </p:cNvPr>
            <p:cNvSpPr/>
            <p:nvPr/>
          </p:nvSpPr>
          <p:spPr>
            <a:xfrm>
              <a:off x="7900710" y="3470254"/>
              <a:ext cx="1315777" cy="514295"/>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solidFill>
                    <a:schemeClr val="tx1"/>
                  </a:solidFill>
                </a:rPr>
                <a:t>CHOICE ALT 1 </a:t>
              </a:r>
            </a:p>
            <a:p>
              <a:pPr algn="ctr"/>
              <a:r>
                <a:rPr lang="en-GB" sz="1400" dirty="0">
                  <a:solidFill>
                    <a:schemeClr val="tx1"/>
                  </a:solidFill>
                </a:rPr>
                <a:t>(status quo)</a:t>
              </a:r>
            </a:p>
          </p:txBody>
        </p:sp>
        <p:sp>
          <p:nvSpPr>
            <p:cNvPr id="138" name="Rectangle: Rounded Corners 137">
              <a:extLst>
                <a:ext uri="{FF2B5EF4-FFF2-40B4-BE49-F238E27FC236}">
                  <a16:creationId xmlns:a16="http://schemas.microsoft.com/office/drawing/2014/main" id="{C7D896A6-7483-7707-A4F6-B3064791AD19}"/>
                </a:ext>
              </a:extLst>
            </p:cNvPr>
            <p:cNvSpPr/>
            <p:nvPr/>
          </p:nvSpPr>
          <p:spPr>
            <a:xfrm>
              <a:off x="9343308" y="3466088"/>
              <a:ext cx="1315777" cy="514295"/>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solidFill>
                    <a:schemeClr val="tx1"/>
                  </a:solidFill>
                </a:rPr>
                <a:t>CHOICE ALT 2 </a:t>
              </a:r>
            </a:p>
            <a:p>
              <a:pPr algn="ctr"/>
              <a:r>
                <a:rPr lang="en-GB" sz="1400" dirty="0">
                  <a:solidFill>
                    <a:schemeClr val="tx1"/>
                  </a:solidFill>
                </a:rPr>
                <a:t>(DRT 1)</a:t>
              </a:r>
            </a:p>
          </p:txBody>
        </p:sp>
        <p:sp>
          <p:nvSpPr>
            <p:cNvPr id="139" name="Rectangle: Rounded Corners 138">
              <a:extLst>
                <a:ext uri="{FF2B5EF4-FFF2-40B4-BE49-F238E27FC236}">
                  <a16:creationId xmlns:a16="http://schemas.microsoft.com/office/drawing/2014/main" id="{93CD53FF-4F9F-E4A0-D2EF-FB5E360862DD}"/>
                </a:ext>
              </a:extLst>
            </p:cNvPr>
            <p:cNvSpPr/>
            <p:nvPr/>
          </p:nvSpPr>
          <p:spPr>
            <a:xfrm>
              <a:off x="10782230" y="3460422"/>
              <a:ext cx="1315777" cy="514295"/>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solidFill>
                    <a:schemeClr val="tx1"/>
                  </a:solidFill>
                </a:rPr>
                <a:t>CHOICE ALT 2 </a:t>
              </a:r>
            </a:p>
            <a:p>
              <a:pPr algn="ctr"/>
              <a:r>
                <a:rPr lang="en-GB" sz="1400" dirty="0">
                  <a:solidFill>
                    <a:schemeClr val="tx1"/>
                  </a:solidFill>
                </a:rPr>
                <a:t>(DRT 2)</a:t>
              </a:r>
            </a:p>
          </p:txBody>
        </p:sp>
        <p:sp>
          <p:nvSpPr>
            <p:cNvPr id="140" name="Rectangle: Rounded Corners 139">
              <a:extLst>
                <a:ext uri="{FF2B5EF4-FFF2-40B4-BE49-F238E27FC236}">
                  <a16:creationId xmlns:a16="http://schemas.microsoft.com/office/drawing/2014/main" id="{5FB52094-226F-9BF9-B0A9-6AD0F5329562}"/>
                </a:ext>
              </a:extLst>
            </p:cNvPr>
            <p:cNvSpPr/>
            <p:nvPr/>
          </p:nvSpPr>
          <p:spPr>
            <a:xfrm>
              <a:off x="7822301" y="4096360"/>
              <a:ext cx="1394186" cy="1182034"/>
            </a:xfrm>
            <a:prstGeom prst="roundRect">
              <a:avLst/>
            </a:prstGeom>
            <a:noFill/>
            <a:ln w="9525">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41" name="TextBox 140">
              <a:extLst>
                <a:ext uri="{FF2B5EF4-FFF2-40B4-BE49-F238E27FC236}">
                  <a16:creationId xmlns:a16="http://schemas.microsoft.com/office/drawing/2014/main" id="{5EFE6E65-3D23-3384-8283-BB1BA27DCFD1}"/>
                </a:ext>
              </a:extLst>
            </p:cNvPr>
            <p:cNvSpPr txBox="1"/>
            <p:nvPr/>
          </p:nvSpPr>
          <p:spPr>
            <a:xfrm>
              <a:off x="7847888" y="4183389"/>
              <a:ext cx="1475505" cy="830997"/>
            </a:xfrm>
            <a:prstGeom prst="rect">
              <a:avLst/>
            </a:prstGeom>
            <a:noFill/>
          </p:spPr>
          <p:txBody>
            <a:bodyPr wrap="square" rtlCol="0">
              <a:spAutoFit/>
            </a:bodyPr>
            <a:lstStyle/>
            <a:p>
              <a:r>
                <a:rPr lang="en-GB" sz="1200" dirty="0"/>
                <a:t>Attributes same as reported/measured for the trip under consideration </a:t>
              </a:r>
            </a:p>
          </p:txBody>
        </p:sp>
        <p:sp>
          <p:nvSpPr>
            <p:cNvPr id="142" name="Rectangle: Rounded Corners 141">
              <a:extLst>
                <a:ext uri="{FF2B5EF4-FFF2-40B4-BE49-F238E27FC236}">
                  <a16:creationId xmlns:a16="http://schemas.microsoft.com/office/drawing/2014/main" id="{782A3E11-7524-3BCA-679A-62AD33C955D9}"/>
                </a:ext>
              </a:extLst>
            </p:cNvPr>
            <p:cNvSpPr/>
            <p:nvPr/>
          </p:nvSpPr>
          <p:spPr>
            <a:xfrm>
              <a:off x="9388044" y="4083182"/>
              <a:ext cx="2718956" cy="1182034"/>
            </a:xfrm>
            <a:prstGeom prst="roundRect">
              <a:avLst/>
            </a:prstGeom>
            <a:noFill/>
            <a:ln w="9525">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43" name="TextBox 142">
              <a:extLst>
                <a:ext uri="{FF2B5EF4-FFF2-40B4-BE49-F238E27FC236}">
                  <a16:creationId xmlns:a16="http://schemas.microsoft.com/office/drawing/2014/main" id="{BE50A10E-4BEB-DEDE-2D95-E7AE25CF50BB}"/>
                </a:ext>
              </a:extLst>
            </p:cNvPr>
            <p:cNvSpPr txBox="1"/>
            <p:nvPr/>
          </p:nvSpPr>
          <p:spPr>
            <a:xfrm>
              <a:off x="9441159" y="4162611"/>
              <a:ext cx="2618856" cy="830997"/>
            </a:xfrm>
            <a:prstGeom prst="rect">
              <a:avLst/>
            </a:prstGeom>
            <a:noFill/>
          </p:spPr>
          <p:txBody>
            <a:bodyPr wrap="square" rtlCol="0">
              <a:spAutoFit/>
            </a:bodyPr>
            <a:lstStyle/>
            <a:p>
              <a:r>
                <a:rPr lang="en-GB" sz="1200" dirty="0"/>
                <a:t>Attributes are pivoted based on:</a:t>
              </a:r>
            </a:p>
            <a:p>
              <a:r>
                <a:rPr lang="en-GB" sz="1200" dirty="0"/>
                <a:t>- either pre-defined base alternative, or</a:t>
              </a:r>
            </a:p>
            <a:p>
              <a:r>
                <a:rPr lang="en-GB" sz="1200" dirty="0"/>
                <a:t>- primary mode chosen in the RP stage</a:t>
              </a:r>
            </a:p>
          </p:txBody>
        </p:sp>
      </p:grpSp>
      <p:sp>
        <p:nvSpPr>
          <p:cNvPr id="144" name="Date Placeholder 143">
            <a:extLst>
              <a:ext uri="{FF2B5EF4-FFF2-40B4-BE49-F238E27FC236}">
                <a16:creationId xmlns:a16="http://schemas.microsoft.com/office/drawing/2014/main" id="{04882E22-EE5B-9A1C-6EF6-0DC0EEC68CF2}"/>
              </a:ext>
            </a:extLst>
          </p:cNvPr>
          <p:cNvSpPr>
            <a:spLocks noGrp="1"/>
          </p:cNvSpPr>
          <p:nvPr>
            <p:ph type="dt" sz="half" idx="10"/>
          </p:nvPr>
        </p:nvSpPr>
        <p:spPr/>
        <p:txBody>
          <a:bodyPr/>
          <a:lstStyle/>
          <a:p>
            <a:fld id="{C2B899A4-8A74-4A0C-879B-BA58F4E14143}" type="datetime1">
              <a:rPr lang="en-US" smtClean="0"/>
              <a:t>4/12/2024</a:t>
            </a:fld>
            <a:endParaRPr lang="en-US"/>
          </a:p>
        </p:txBody>
      </p:sp>
      <p:sp>
        <p:nvSpPr>
          <p:cNvPr id="145" name="Slide Number Placeholder 144">
            <a:extLst>
              <a:ext uri="{FF2B5EF4-FFF2-40B4-BE49-F238E27FC236}">
                <a16:creationId xmlns:a16="http://schemas.microsoft.com/office/drawing/2014/main" id="{62FC4FBD-5EF5-FE11-E32A-66BB1C34808F}"/>
              </a:ext>
            </a:extLst>
          </p:cNvPr>
          <p:cNvSpPr>
            <a:spLocks noGrp="1"/>
          </p:cNvSpPr>
          <p:nvPr>
            <p:ph type="sldNum" sz="quarter" idx="12"/>
          </p:nvPr>
        </p:nvSpPr>
        <p:spPr/>
        <p:txBody>
          <a:bodyPr/>
          <a:lstStyle/>
          <a:p>
            <a:fld id="{03E8056C-9350-3E4B-911C-FCF80EDBFE79}" type="slidenum">
              <a:rPr lang="en-US" smtClean="0"/>
              <a:t>12</a:t>
            </a:fld>
            <a:endParaRPr lang="en-US"/>
          </a:p>
        </p:txBody>
      </p:sp>
    </p:spTree>
    <p:extLst>
      <p:ext uri="{BB962C8B-B14F-4D97-AF65-F5344CB8AC3E}">
        <p14:creationId xmlns:p14="http://schemas.microsoft.com/office/powerpoint/2010/main" val="41176769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3" name="Title 2" hidden="1">
            <a:extLst>
              <a:ext uri="{FF2B5EF4-FFF2-40B4-BE49-F238E27FC236}">
                <a16:creationId xmlns:a16="http://schemas.microsoft.com/office/drawing/2014/main" id="{7D116104-B4E7-6642-8EAB-49A402AED74A}"/>
              </a:ext>
            </a:extLst>
          </p:cNvPr>
          <p:cNvSpPr>
            <a:spLocks noGrp="1"/>
          </p:cNvSpPr>
          <p:nvPr>
            <p:ph type="ctrTitle"/>
          </p:nvPr>
        </p:nvSpPr>
        <p:spPr/>
        <p:txBody>
          <a:bodyPr/>
          <a:lstStyle/>
          <a:p>
            <a:r>
              <a:rPr lang="en-US" dirty="0"/>
              <a:t>Information on how to use images</a:t>
            </a:r>
          </a:p>
        </p:txBody>
      </p:sp>
      <p:sp>
        <p:nvSpPr>
          <p:cNvPr id="2" name="Text Placeholder 1"/>
          <p:cNvSpPr txBox="1">
            <a:spLocks/>
          </p:cNvSpPr>
          <p:nvPr/>
        </p:nvSpPr>
        <p:spPr>
          <a:xfrm>
            <a:off x="310696" y="1879599"/>
            <a:ext cx="11532961" cy="4835833"/>
          </a:xfrm>
          <a:prstGeom prst="rect">
            <a:avLst/>
          </a:prstGeom>
        </p:spPr>
        <p:txBody>
          <a:bodyPr vert="horz" lIns="91440" tIns="45720" rIns="91440" bIns="45720" rtlCol="0" anchor="t"/>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ts val="600"/>
              </a:spcBef>
            </a:pPr>
            <a:r>
              <a:rPr lang="en-US" sz="2400" b="1" dirty="0">
                <a:solidFill>
                  <a:schemeClr val="tx1"/>
                </a:solidFill>
                <a:latin typeface="Times New Roman" panose="02020603050405020304" pitchFamily="18" charset="0"/>
                <a:ea typeface="Arial" charset="0"/>
                <a:cs typeface="Times New Roman" panose="02020603050405020304" pitchFamily="18" charset="0"/>
              </a:rPr>
              <a:t>Illustration of a choice card</a:t>
            </a:r>
          </a:p>
        </p:txBody>
      </p:sp>
      <p:sp>
        <p:nvSpPr>
          <p:cNvPr id="4" name="Text Placeholder 2">
            <a:extLst>
              <a:ext uri="{FF2B5EF4-FFF2-40B4-BE49-F238E27FC236}">
                <a16:creationId xmlns:a16="http://schemas.microsoft.com/office/drawing/2014/main" id="{903D9683-5D03-1483-2057-16D94CB041F0}"/>
              </a:ext>
            </a:extLst>
          </p:cNvPr>
          <p:cNvSpPr txBox="1">
            <a:spLocks/>
          </p:cNvSpPr>
          <p:nvPr/>
        </p:nvSpPr>
        <p:spPr>
          <a:xfrm>
            <a:off x="236311" y="970989"/>
            <a:ext cx="5819775" cy="82800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2800" b="1" dirty="0">
                <a:solidFill>
                  <a:schemeClr val="tx1"/>
                </a:solidFill>
                <a:latin typeface="Arial" charset="0"/>
                <a:ea typeface="Arial" charset="0"/>
                <a:cs typeface="Arial" charset="0"/>
              </a:rPr>
              <a:t>Survey description</a:t>
            </a:r>
          </a:p>
        </p:txBody>
      </p:sp>
      <p:grpSp>
        <p:nvGrpSpPr>
          <p:cNvPr id="5" name="Group 4">
            <a:extLst>
              <a:ext uri="{FF2B5EF4-FFF2-40B4-BE49-F238E27FC236}">
                <a16:creationId xmlns:a16="http://schemas.microsoft.com/office/drawing/2014/main" id="{B5382095-56F3-D698-7711-98E775D7B259}"/>
              </a:ext>
            </a:extLst>
          </p:cNvPr>
          <p:cNvGrpSpPr/>
          <p:nvPr/>
        </p:nvGrpSpPr>
        <p:grpSpPr>
          <a:xfrm>
            <a:off x="2921220" y="2452005"/>
            <a:ext cx="5599027" cy="609600"/>
            <a:chOff x="2921220" y="2452005"/>
            <a:chExt cx="5599027" cy="609600"/>
          </a:xfrm>
        </p:grpSpPr>
        <p:sp>
          <p:nvSpPr>
            <p:cNvPr id="35" name="Rectangle 34">
              <a:extLst>
                <a:ext uri="{FF2B5EF4-FFF2-40B4-BE49-F238E27FC236}">
                  <a16:creationId xmlns:a16="http://schemas.microsoft.com/office/drawing/2014/main" id="{E7FBF789-3CFD-83E4-66ED-728860B3F4DB}"/>
                </a:ext>
              </a:extLst>
            </p:cNvPr>
            <p:cNvSpPr/>
            <p:nvPr/>
          </p:nvSpPr>
          <p:spPr>
            <a:xfrm>
              <a:off x="2921220" y="2452005"/>
              <a:ext cx="5599027" cy="609600"/>
            </a:xfrm>
            <a:prstGeom prst="rect">
              <a:avLst/>
            </a:prstGeom>
            <a:solidFill>
              <a:schemeClr val="accent4">
                <a:lumMod val="20000"/>
                <a:lumOff val="80000"/>
              </a:schemeClr>
            </a:solidFill>
            <a:ln w="28575" cap="flat" cmpd="sng" algn="ctr">
              <a:solidFill>
                <a:srgbClr val="4472C4">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800" b="0" i="0" u="none" strike="noStrike" kern="0" cap="none" spc="0" normalizeH="0" baseline="0" noProof="0" dirty="0">
                  <a:ln>
                    <a:noFill/>
                  </a:ln>
                  <a:solidFill>
                    <a:prstClr val="white"/>
                  </a:solidFill>
                  <a:effectLst/>
                  <a:uLnTx/>
                  <a:uFillTx/>
                  <a:latin typeface="Calibri" panose="020F0502020204030204"/>
                  <a:ea typeface="+mn-ea"/>
                  <a:cs typeface="+mn-cs"/>
                </a:rPr>
                <a:t>`</a:t>
              </a:r>
            </a:p>
          </p:txBody>
        </p:sp>
        <p:sp>
          <p:nvSpPr>
            <p:cNvPr id="36" name="TextBox 35">
              <a:extLst>
                <a:ext uri="{FF2B5EF4-FFF2-40B4-BE49-F238E27FC236}">
                  <a16:creationId xmlns:a16="http://schemas.microsoft.com/office/drawing/2014/main" id="{FD09D0B5-3D8F-4AE1-D396-35500A263D90}"/>
                </a:ext>
              </a:extLst>
            </p:cNvPr>
            <p:cNvSpPr txBox="1"/>
            <p:nvPr/>
          </p:nvSpPr>
          <p:spPr>
            <a:xfrm>
              <a:off x="2972301" y="2528862"/>
              <a:ext cx="5447085" cy="461665"/>
            </a:xfrm>
            <a:prstGeom prst="rect">
              <a:avLst/>
            </a:prstGeom>
            <a:solidFill>
              <a:schemeClr val="accent4">
                <a:lumMod val="20000"/>
                <a:lumOff val="80000"/>
              </a:schemeClr>
            </a:solid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1200" b="0" i="0" u="none" strike="noStrike" kern="0" cap="none" spc="0" normalizeH="0" baseline="0" noProof="0" dirty="0">
                  <a:ln>
                    <a:noFill/>
                  </a:ln>
                  <a:solidFill>
                    <a:prstClr val="black"/>
                  </a:solidFill>
                  <a:effectLst/>
                  <a:uLnTx/>
                  <a:uFillTx/>
                </a:rPr>
                <a:t>Consider your </a:t>
              </a:r>
              <a:r>
                <a:rPr kumimoji="0" lang="en-GB" sz="1200" b="0" i="0" u="none" strike="noStrike" kern="0" cap="none" spc="0" normalizeH="0" baseline="0" noProof="0" dirty="0">
                  <a:ln>
                    <a:noFill/>
                  </a:ln>
                  <a:solidFill>
                    <a:srgbClr val="4472C4"/>
                  </a:solidFill>
                  <a:effectLst/>
                  <a:uLnTx/>
                  <a:uFillTx/>
                </a:rPr>
                <a:t>maintenance trip</a:t>
              </a:r>
              <a:r>
                <a:rPr kumimoji="0" lang="en-GB" sz="1200" b="0" i="0" u="none" strike="noStrike" kern="0" cap="none" spc="0" normalizeH="0" baseline="0" noProof="0" dirty="0">
                  <a:ln>
                    <a:noFill/>
                  </a:ln>
                  <a:solidFill>
                    <a:prstClr val="black"/>
                  </a:solidFill>
                  <a:effectLst/>
                  <a:uLnTx/>
                  <a:uFillTx/>
                </a:rPr>
                <a:t> that you undertake “</a:t>
              </a:r>
              <a:r>
                <a:rPr kumimoji="0" lang="en-GB" sz="1200" b="0" i="0" u="none" strike="noStrike" kern="0" cap="none" spc="0" normalizeH="0" baseline="0" noProof="0" dirty="0">
                  <a:ln>
                    <a:noFill/>
                  </a:ln>
                  <a:solidFill>
                    <a:schemeClr val="accent1"/>
                  </a:solidFill>
                  <a:effectLst/>
                  <a:uLnTx/>
                  <a:uFillTx/>
                </a:rPr>
                <a:t>once a week</a:t>
              </a:r>
              <a:r>
                <a:rPr kumimoji="0" lang="en-GB" sz="1200" b="0" i="0" u="none" strike="noStrike" kern="0" cap="none" spc="0" normalizeH="0" baseline="0" noProof="0" dirty="0">
                  <a:ln>
                    <a:noFill/>
                  </a:ln>
                  <a:solidFill>
                    <a:prstClr val="black"/>
                  </a:solidFill>
                  <a:effectLst/>
                  <a:uLnTx/>
                  <a:uFillTx/>
                </a:rPr>
                <a:t>” </a:t>
              </a:r>
              <a:r>
                <a:rPr lang="en-GB" sz="1200" kern="0" dirty="0">
                  <a:solidFill>
                    <a:prstClr val="black"/>
                  </a:solidFill>
                </a:rPr>
                <a:t>at</a:t>
              </a:r>
              <a:r>
                <a:rPr kumimoji="0" lang="en-GB" sz="1200" b="0" i="0" u="none" strike="noStrike" kern="0" cap="none" spc="0" normalizeH="0" baseline="0" noProof="0" dirty="0">
                  <a:ln>
                    <a:noFill/>
                  </a:ln>
                  <a:solidFill>
                    <a:prstClr val="black"/>
                  </a:solidFill>
                  <a:effectLst/>
                  <a:uLnTx/>
                  <a:uFillTx/>
                </a:rPr>
                <a:t> 9:30 AM </a:t>
              </a:r>
              <a:r>
                <a:rPr kumimoji="0" lang="en-GB" sz="1200" b="0" i="0" u="none" strike="noStrike" kern="0" cap="none" spc="0" normalizeH="0" baseline="0" noProof="0" dirty="0">
                  <a:ln>
                    <a:noFill/>
                  </a:ln>
                  <a:solidFill>
                    <a:schemeClr val="accent1"/>
                  </a:solidFill>
                  <a:effectLst/>
                  <a:uLnTx/>
                  <a:uFillTx/>
                </a:rPr>
                <a:t>for an appointment at 11 AM</a:t>
              </a:r>
              <a:r>
                <a:rPr kumimoji="0" lang="en-GB" sz="1200" b="0" i="0" u="none" strike="noStrike" kern="0" cap="none" spc="0" normalizeH="0" baseline="0" noProof="0" dirty="0">
                  <a:ln>
                    <a:noFill/>
                  </a:ln>
                  <a:solidFill>
                    <a:prstClr val="black"/>
                  </a:solidFill>
                  <a:effectLst/>
                  <a:uLnTx/>
                  <a:uFillTx/>
                </a:rPr>
                <a:t>.</a:t>
              </a:r>
            </a:p>
          </p:txBody>
        </p:sp>
      </p:grpSp>
      <p:sp>
        <p:nvSpPr>
          <p:cNvPr id="40" name="Rectangle 39">
            <a:extLst>
              <a:ext uri="{FF2B5EF4-FFF2-40B4-BE49-F238E27FC236}">
                <a16:creationId xmlns:a16="http://schemas.microsoft.com/office/drawing/2014/main" id="{02D3EC78-7B3B-1249-1EB0-85A559CA8B48}"/>
              </a:ext>
            </a:extLst>
          </p:cNvPr>
          <p:cNvSpPr/>
          <p:nvPr/>
        </p:nvSpPr>
        <p:spPr>
          <a:xfrm>
            <a:off x="2933367" y="3061605"/>
            <a:ext cx="5586881" cy="3555505"/>
          </a:xfrm>
          <a:prstGeom prst="rect">
            <a:avLst/>
          </a:prstGeom>
          <a:solidFill>
            <a:schemeClr val="bg1"/>
          </a:solidFill>
          <a:ln w="28575" cap="flat" cmpd="sng" algn="ctr">
            <a:solidFill>
              <a:srgbClr val="4472C4">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pic>
        <p:nvPicPr>
          <p:cNvPr id="66" name="Graphic 65" descr="Walk with solid fill">
            <a:extLst>
              <a:ext uri="{FF2B5EF4-FFF2-40B4-BE49-F238E27FC236}">
                <a16:creationId xmlns:a16="http://schemas.microsoft.com/office/drawing/2014/main" id="{D1A4493B-32B0-37C9-8110-C1C0134A4D23}"/>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232544" y="4524010"/>
            <a:ext cx="197122" cy="197122"/>
          </a:xfrm>
          <a:prstGeom prst="rect">
            <a:avLst/>
          </a:prstGeom>
        </p:spPr>
      </p:pic>
      <p:pic>
        <p:nvPicPr>
          <p:cNvPr id="67" name="Graphic 66" descr="Walk with solid fill">
            <a:extLst>
              <a:ext uri="{FF2B5EF4-FFF2-40B4-BE49-F238E27FC236}">
                <a16:creationId xmlns:a16="http://schemas.microsoft.com/office/drawing/2014/main" id="{94FB4691-AEE2-EF48-EFD6-C652F74D593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252208" y="4218618"/>
            <a:ext cx="197122" cy="197122"/>
          </a:xfrm>
          <a:prstGeom prst="rect">
            <a:avLst/>
          </a:prstGeom>
        </p:spPr>
      </p:pic>
      <p:sp>
        <p:nvSpPr>
          <p:cNvPr id="70" name="Rectangle 69">
            <a:extLst>
              <a:ext uri="{FF2B5EF4-FFF2-40B4-BE49-F238E27FC236}">
                <a16:creationId xmlns:a16="http://schemas.microsoft.com/office/drawing/2014/main" id="{36EF25D7-20A2-022D-2C2A-283560AD0F43}"/>
              </a:ext>
            </a:extLst>
          </p:cNvPr>
          <p:cNvSpPr/>
          <p:nvPr/>
        </p:nvSpPr>
        <p:spPr>
          <a:xfrm>
            <a:off x="5862990" y="6228822"/>
            <a:ext cx="936000" cy="216000"/>
          </a:xfrm>
          <a:prstGeom prst="rect">
            <a:avLst/>
          </a:prstGeom>
          <a:solidFill>
            <a:schemeClr val="bg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100" dirty="0">
                <a:ln w="0"/>
                <a:solidFill>
                  <a:schemeClr val="tx1"/>
                </a:solidFill>
                <a:effectLst>
                  <a:outerShdw blurRad="38100" dist="19050" dir="2700000" algn="tl" rotWithShape="0">
                    <a:schemeClr val="dk1">
                      <a:alpha val="40000"/>
                    </a:schemeClr>
                  </a:outerShdw>
                </a:effectLst>
              </a:rPr>
              <a:t>Select</a:t>
            </a:r>
            <a:endParaRPr lang="en-GB" dirty="0"/>
          </a:p>
        </p:txBody>
      </p:sp>
      <p:sp>
        <p:nvSpPr>
          <p:cNvPr id="71" name="Rectangle 70">
            <a:extLst>
              <a:ext uri="{FF2B5EF4-FFF2-40B4-BE49-F238E27FC236}">
                <a16:creationId xmlns:a16="http://schemas.microsoft.com/office/drawing/2014/main" id="{F7DB03E4-F74C-F96C-61E3-F38F67C8BACA}"/>
              </a:ext>
            </a:extLst>
          </p:cNvPr>
          <p:cNvSpPr/>
          <p:nvPr/>
        </p:nvSpPr>
        <p:spPr>
          <a:xfrm>
            <a:off x="7247167" y="6228818"/>
            <a:ext cx="936000" cy="216000"/>
          </a:xfrm>
          <a:prstGeom prst="rect">
            <a:avLst/>
          </a:prstGeom>
          <a:solidFill>
            <a:schemeClr val="bg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100" dirty="0">
                <a:ln w="0"/>
                <a:solidFill>
                  <a:schemeClr val="tx1"/>
                </a:solidFill>
                <a:effectLst>
                  <a:outerShdw blurRad="38100" dist="19050" dir="2700000" algn="tl" rotWithShape="0">
                    <a:schemeClr val="dk1">
                      <a:alpha val="40000"/>
                    </a:schemeClr>
                  </a:outerShdw>
                </a:effectLst>
              </a:rPr>
              <a:t>Select</a:t>
            </a:r>
            <a:endParaRPr lang="en-GB" dirty="0"/>
          </a:p>
        </p:txBody>
      </p:sp>
      <p:graphicFrame>
        <p:nvGraphicFramePr>
          <p:cNvPr id="37" name="Table 13">
            <a:extLst>
              <a:ext uri="{FF2B5EF4-FFF2-40B4-BE49-F238E27FC236}">
                <a16:creationId xmlns:a16="http://schemas.microsoft.com/office/drawing/2014/main" id="{F7CEE748-8FA9-BF3B-415E-73911E0170D1}"/>
              </a:ext>
            </a:extLst>
          </p:cNvPr>
          <p:cNvGraphicFramePr>
            <a:graphicFrameLocks noGrp="1"/>
          </p:cNvGraphicFramePr>
          <p:nvPr>
            <p:extLst>
              <p:ext uri="{D42A27DB-BD31-4B8C-83A1-F6EECF244321}">
                <p14:modId xmlns:p14="http://schemas.microsoft.com/office/powerpoint/2010/main" val="1436341033"/>
              </p:ext>
            </p:extLst>
          </p:nvPr>
        </p:nvGraphicFramePr>
        <p:xfrm>
          <a:off x="3060239" y="3167838"/>
          <a:ext cx="5348572" cy="2819092"/>
        </p:xfrm>
        <a:graphic>
          <a:graphicData uri="http://schemas.openxmlformats.org/drawingml/2006/table">
            <a:tbl>
              <a:tblPr firstRow="1" bandRow="1"/>
              <a:tblGrid>
                <a:gridCol w="1403362">
                  <a:extLst>
                    <a:ext uri="{9D8B030D-6E8A-4147-A177-3AD203B41FA5}">
                      <a16:colId xmlns:a16="http://schemas.microsoft.com/office/drawing/2014/main" val="4045494138"/>
                    </a:ext>
                  </a:extLst>
                </a:gridCol>
                <a:gridCol w="1120878">
                  <a:extLst>
                    <a:ext uri="{9D8B030D-6E8A-4147-A177-3AD203B41FA5}">
                      <a16:colId xmlns:a16="http://schemas.microsoft.com/office/drawing/2014/main" val="3883848896"/>
                    </a:ext>
                  </a:extLst>
                </a:gridCol>
                <a:gridCol w="1487189">
                  <a:extLst>
                    <a:ext uri="{9D8B030D-6E8A-4147-A177-3AD203B41FA5}">
                      <a16:colId xmlns:a16="http://schemas.microsoft.com/office/drawing/2014/main" val="4132525931"/>
                    </a:ext>
                  </a:extLst>
                </a:gridCol>
                <a:gridCol w="1337143">
                  <a:extLst>
                    <a:ext uri="{9D8B030D-6E8A-4147-A177-3AD203B41FA5}">
                      <a16:colId xmlns:a16="http://schemas.microsoft.com/office/drawing/2014/main" val="2692863338"/>
                    </a:ext>
                  </a:extLst>
                </a:gridCol>
              </a:tblGrid>
              <a:tr h="380692">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en-GB"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l"/>
                      <a:endParaRPr lang="en-GB"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GB" sz="1400" dirty="0"/>
                        <a: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endParaRPr lang="en-GB"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6860443"/>
                  </a:ext>
                </a:extLst>
              </a:tr>
              <a:tr h="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r>
                        <a:rPr lang="en-GB" sz="1400" dirty="0"/>
                        <a:t>IVT time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GB" sz="1400" dirty="0"/>
                        <a:t>45 min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GB" sz="1400" dirty="0"/>
                        <a:t>25 min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GB" sz="1400" dirty="0"/>
                        <a:t>35 min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69528324"/>
                  </a:ext>
                </a:extLst>
              </a:tr>
              <a:tr h="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r>
                        <a:rPr lang="en-GB" sz="1400" dirty="0"/>
                        <a:t>Departure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GB" sz="1400" dirty="0"/>
                        <a:t>9:45 AM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GB" sz="1400" dirty="0"/>
                        <a:t>10:15 – 10:25 AM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GB" sz="1400" dirty="0"/>
                        <a:t>10 – 10:15 AM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52580836"/>
                  </a:ext>
                </a:extLst>
              </a:tr>
              <a:tr h="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r>
                        <a:rPr lang="en-GB" sz="1400" dirty="0"/>
                        <a:t>Access distance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GB" sz="1400" dirty="0"/>
                        <a:t>10 min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GB" sz="1400" dirty="0"/>
                        <a:t>2 min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GB" sz="1400" dirty="0"/>
                        <a:t>2 min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70618885"/>
                  </a:ext>
                </a:extLst>
              </a:tr>
              <a:tr h="0">
                <a:tc>
                  <a:txBody>
                    <a:bodyPr/>
                    <a:lstStyle/>
                    <a:p>
                      <a:r>
                        <a:rPr lang="en-GB" sz="1400" dirty="0"/>
                        <a:t>Egress distance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1400" dirty="0"/>
                        <a:t>5 min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1400" dirty="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1400" dirty="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06667924"/>
                  </a:ext>
                </a:extLst>
              </a:tr>
              <a:tr h="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r>
                        <a:rPr lang="en-GB" sz="1400" dirty="0"/>
                        <a:t>Fare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GB" sz="1400" dirty="0"/>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GB" sz="1400" dirty="0"/>
                        <a:t>£4.50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GB" sz="1400" dirty="0"/>
                        <a:t>£3.50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33652386"/>
                  </a:ext>
                </a:extLst>
              </a:tr>
              <a:tr h="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r>
                        <a:rPr lang="en-GB" sz="1400" dirty="0"/>
                        <a:t>Vehicle type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endParaRPr lang="en-GB"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GB" sz="1400" dirty="0"/>
                        <a:t>van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GB" sz="1400" dirty="0"/>
                        <a:t>Mini-bus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23648570"/>
                  </a:ext>
                </a:extLst>
              </a:tr>
              <a:tr h="0">
                <a:tc>
                  <a:txBody>
                    <a:bodyPr/>
                    <a:lstStyle/>
                    <a:p>
                      <a:r>
                        <a:rPr lang="en-GB" sz="1400" dirty="0"/>
                        <a:t>Number of stops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1400" dirty="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1400" dirty="0"/>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21856383"/>
                  </a:ext>
                </a:extLst>
              </a:tr>
              <a:tr h="0">
                <a:tc>
                  <a:txBody>
                    <a:bodyPr/>
                    <a:lstStyle/>
                    <a:p>
                      <a:r>
                        <a:rPr lang="en-GB" sz="1400" dirty="0"/>
                        <a:t>#co-passengers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1400" dirty="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1400" dirty="0"/>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08785408"/>
                  </a:ext>
                </a:extLst>
              </a:tr>
            </a:tbl>
          </a:graphicData>
        </a:graphic>
      </p:graphicFrame>
      <p:sp>
        <p:nvSpPr>
          <p:cNvPr id="69" name="Rectangle 68">
            <a:extLst>
              <a:ext uri="{FF2B5EF4-FFF2-40B4-BE49-F238E27FC236}">
                <a16:creationId xmlns:a16="http://schemas.microsoft.com/office/drawing/2014/main" id="{F7BF608D-694B-3B6C-1E2E-75FCC2522119}"/>
              </a:ext>
            </a:extLst>
          </p:cNvPr>
          <p:cNvSpPr/>
          <p:nvPr/>
        </p:nvSpPr>
        <p:spPr>
          <a:xfrm>
            <a:off x="4543984" y="6228821"/>
            <a:ext cx="936000" cy="216000"/>
          </a:xfrm>
          <a:prstGeom prst="rect">
            <a:avLst/>
          </a:prstGeom>
          <a:solidFill>
            <a:schemeClr val="bg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100" dirty="0">
                <a:ln w="0"/>
                <a:solidFill>
                  <a:schemeClr val="tx1"/>
                </a:solidFill>
                <a:effectLst>
                  <a:outerShdw blurRad="38100" dist="19050" dir="2700000" algn="tl" rotWithShape="0">
                    <a:schemeClr val="dk1">
                      <a:alpha val="40000"/>
                    </a:schemeClr>
                  </a:outerShdw>
                </a:effectLst>
              </a:rPr>
              <a:t>Select</a:t>
            </a:r>
            <a:endParaRPr lang="en-GB" dirty="0"/>
          </a:p>
        </p:txBody>
      </p:sp>
      <p:pic>
        <p:nvPicPr>
          <p:cNvPr id="59" name="Graphic 58" descr="Bus with solid fill">
            <a:extLst>
              <a:ext uri="{FF2B5EF4-FFF2-40B4-BE49-F238E27FC236}">
                <a16:creationId xmlns:a16="http://schemas.microsoft.com/office/drawing/2014/main" id="{0D273B27-2A4F-02B0-E981-A7F9B8A3EC9E}"/>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763428" y="3132425"/>
            <a:ext cx="457784" cy="457200"/>
          </a:xfrm>
          <a:prstGeom prst="rect">
            <a:avLst/>
          </a:prstGeom>
        </p:spPr>
      </p:pic>
      <p:pic>
        <p:nvPicPr>
          <p:cNvPr id="60" name="Picture 59" descr="A black bus with people on the side of it&#10;&#10;Description automatically generated">
            <a:extLst>
              <a:ext uri="{FF2B5EF4-FFF2-40B4-BE49-F238E27FC236}">
                <a16:creationId xmlns:a16="http://schemas.microsoft.com/office/drawing/2014/main" id="{2671F4C3-3B5F-7DF1-0756-88C865B25153}"/>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196863" y="3142215"/>
            <a:ext cx="390615" cy="366709"/>
          </a:xfrm>
          <a:prstGeom prst="rect">
            <a:avLst/>
          </a:prstGeom>
        </p:spPr>
      </p:pic>
      <p:pic>
        <p:nvPicPr>
          <p:cNvPr id="62" name="Picture 61" descr="A black bus with people on the side of it&#10;&#10;Description automatically generated">
            <a:extLst>
              <a:ext uri="{FF2B5EF4-FFF2-40B4-BE49-F238E27FC236}">
                <a16:creationId xmlns:a16="http://schemas.microsoft.com/office/drawing/2014/main" id="{E1EEE575-D0DC-6988-A583-23EE6DDB2F5E}"/>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7679294" y="3167838"/>
            <a:ext cx="348671" cy="326850"/>
          </a:xfrm>
          <a:prstGeom prst="rect">
            <a:avLst/>
          </a:prstGeom>
        </p:spPr>
      </p:pic>
      <p:sp>
        <p:nvSpPr>
          <p:cNvPr id="72" name="Date Placeholder 71">
            <a:extLst>
              <a:ext uri="{FF2B5EF4-FFF2-40B4-BE49-F238E27FC236}">
                <a16:creationId xmlns:a16="http://schemas.microsoft.com/office/drawing/2014/main" id="{29AC827C-7F42-FCEE-867D-93E6386297C7}"/>
              </a:ext>
            </a:extLst>
          </p:cNvPr>
          <p:cNvSpPr>
            <a:spLocks noGrp="1"/>
          </p:cNvSpPr>
          <p:nvPr>
            <p:ph type="dt" sz="half" idx="10"/>
          </p:nvPr>
        </p:nvSpPr>
        <p:spPr/>
        <p:txBody>
          <a:bodyPr/>
          <a:lstStyle/>
          <a:p>
            <a:fld id="{50EC527F-EFB4-484C-BDEC-8552F9EFD17B}" type="datetime1">
              <a:rPr lang="en-US" smtClean="0"/>
              <a:t>4/12/2024</a:t>
            </a:fld>
            <a:endParaRPr lang="en-US"/>
          </a:p>
        </p:txBody>
      </p:sp>
      <p:sp>
        <p:nvSpPr>
          <p:cNvPr id="73" name="Slide Number Placeholder 72">
            <a:extLst>
              <a:ext uri="{FF2B5EF4-FFF2-40B4-BE49-F238E27FC236}">
                <a16:creationId xmlns:a16="http://schemas.microsoft.com/office/drawing/2014/main" id="{97E83256-356A-9183-AE3C-E2E8A8B8D692}"/>
              </a:ext>
            </a:extLst>
          </p:cNvPr>
          <p:cNvSpPr>
            <a:spLocks noGrp="1"/>
          </p:cNvSpPr>
          <p:nvPr>
            <p:ph type="sldNum" sz="quarter" idx="12"/>
          </p:nvPr>
        </p:nvSpPr>
        <p:spPr/>
        <p:txBody>
          <a:bodyPr/>
          <a:lstStyle/>
          <a:p>
            <a:fld id="{03E8056C-9350-3E4B-911C-FCF80EDBFE79}" type="slidenum">
              <a:rPr lang="en-US" smtClean="0"/>
              <a:t>13</a:t>
            </a:fld>
            <a:endParaRPr lang="en-US"/>
          </a:p>
        </p:txBody>
      </p:sp>
    </p:spTree>
    <p:extLst>
      <p:ext uri="{BB962C8B-B14F-4D97-AF65-F5344CB8AC3E}">
        <p14:creationId xmlns:p14="http://schemas.microsoft.com/office/powerpoint/2010/main" val="42869725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3" name="Title 2" hidden="1">
            <a:extLst>
              <a:ext uri="{FF2B5EF4-FFF2-40B4-BE49-F238E27FC236}">
                <a16:creationId xmlns:a16="http://schemas.microsoft.com/office/drawing/2014/main" id="{7D116104-B4E7-6642-8EAB-49A402AED74A}"/>
              </a:ext>
            </a:extLst>
          </p:cNvPr>
          <p:cNvSpPr>
            <a:spLocks noGrp="1"/>
          </p:cNvSpPr>
          <p:nvPr>
            <p:ph type="ctrTitle"/>
          </p:nvPr>
        </p:nvSpPr>
        <p:spPr/>
        <p:txBody>
          <a:bodyPr/>
          <a:lstStyle/>
          <a:p>
            <a:r>
              <a:rPr lang="en-US" dirty="0"/>
              <a:t>Information on how to use images</a:t>
            </a:r>
          </a:p>
        </p:txBody>
      </p:sp>
      <p:sp>
        <p:nvSpPr>
          <p:cNvPr id="2" name="Text Placeholder 1"/>
          <p:cNvSpPr txBox="1">
            <a:spLocks/>
          </p:cNvSpPr>
          <p:nvPr/>
        </p:nvSpPr>
        <p:spPr>
          <a:xfrm>
            <a:off x="310696" y="1879599"/>
            <a:ext cx="11532961" cy="4835833"/>
          </a:xfrm>
          <a:prstGeom prst="rect">
            <a:avLst/>
          </a:prstGeom>
        </p:spPr>
        <p:txBody>
          <a:bodyPr vert="horz" lIns="91440" tIns="45720" rIns="91440" bIns="45720" rtlCol="0" anchor="t"/>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57200" indent="-457200">
              <a:spcBef>
                <a:spcPts val="600"/>
              </a:spcBef>
              <a:buAutoNum type="arabicPeriod"/>
            </a:pPr>
            <a:r>
              <a:rPr lang="en-US" sz="2400" b="1" dirty="0">
                <a:solidFill>
                  <a:schemeClr val="tx1"/>
                </a:solidFill>
                <a:latin typeface="Times New Roman" panose="02020603050405020304" pitchFamily="18" charset="0"/>
                <a:ea typeface="Arial" charset="0"/>
                <a:cs typeface="Times New Roman" panose="02020603050405020304" pitchFamily="18" charset="0"/>
              </a:rPr>
              <a:t>Using most frequent trip </a:t>
            </a:r>
          </a:p>
          <a:p>
            <a:pPr marL="285750" indent="-285750">
              <a:spcBef>
                <a:spcPts val="600"/>
              </a:spcBef>
              <a:buFont typeface="Arial" panose="020B0604020202020204" pitchFamily="34" charset="0"/>
              <a:buChar char="•"/>
            </a:pPr>
            <a:r>
              <a:rPr lang="en-US" sz="1800" dirty="0">
                <a:solidFill>
                  <a:schemeClr val="tx1"/>
                </a:solidFill>
                <a:latin typeface="Times New Roman" panose="02020603050405020304" pitchFamily="18" charset="0"/>
                <a:ea typeface="Arial" charset="0"/>
                <a:cs typeface="Times New Roman" panose="02020603050405020304" pitchFamily="18" charset="0"/>
              </a:rPr>
              <a:t>Using most frequent trip information (for a given trip purpose) can result in loss of information on contextual decisions.</a:t>
            </a:r>
          </a:p>
          <a:p>
            <a:pPr marL="285750" indent="-285750">
              <a:spcBef>
                <a:spcPts val="600"/>
              </a:spcBef>
              <a:buFont typeface="Arial" panose="020B0604020202020204" pitchFamily="34" charset="0"/>
              <a:buChar char="•"/>
            </a:pPr>
            <a:r>
              <a:rPr lang="en-US" sz="1800" dirty="0">
                <a:solidFill>
                  <a:schemeClr val="tx1"/>
                </a:solidFill>
                <a:latin typeface="Times New Roman" panose="02020603050405020304" pitchFamily="18" charset="0"/>
                <a:ea typeface="Arial" charset="0"/>
                <a:cs typeface="Times New Roman" panose="02020603050405020304" pitchFamily="18" charset="0"/>
              </a:rPr>
              <a:t>May also lead to:</a:t>
            </a:r>
          </a:p>
          <a:p>
            <a:pPr marL="742950" lvl="1" indent="-285750">
              <a:spcBef>
                <a:spcPts val="600"/>
              </a:spcBef>
              <a:buFont typeface="Arial" panose="020B0604020202020204" pitchFamily="34" charset="0"/>
              <a:buChar char="•"/>
            </a:pPr>
            <a:r>
              <a:rPr lang="en-US" dirty="0">
                <a:latin typeface="Times New Roman" panose="02020603050405020304" pitchFamily="18" charset="0"/>
                <a:ea typeface="Arial" charset="0"/>
                <a:cs typeface="Times New Roman" panose="02020603050405020304" pitchFamily="18" charset="0"/>
              </a:rPr>
              <a:t>Aggregation bias</a:t>
            </a:r>
          </a:p>
          <a:p>
            <a:pPr marL="742950" lvl="1" indent="-285750">
              <a:spcBef>
                <a:spcPts val="600"/>
              </a:spcBef>
              <a:buFont typeface="Arial" panose="020B0604020202020204" pitchFamily="34" charset="0"/>
              <a:buChar char="•"/>
            </a:pPr>
            <a:r>
              <a:rPr lang="en-US" dirty="0">
                <a:latin typeface="Times New Roman" panose="02020603050405020304" pitchFamily="18" charset="0"/>
                <a:ea typeface="Arial" charset="0"/>
                <a:cs typeface="Times New Roman" panose="02020603050405020304" pitchFamily="18" charset="0"/>
              </a:rPr>
              <a:t>Recollection bias</a:t>
            </a:r>
          </a:p>
          <a:p>
            <a:pPr marL="285750" indent="-285750">
              <a:spcBef>
                <a:spcPts val="600"/>
              </a:spcBef>
              <a:buFont typeface="Arial" panose="020B0604020202020204" pitchFamily="34" charset="0"/>
              <a:buChar char="•"/>
            </a:pPr>
            <a:endParaRPr lang="en-US" sz="1800" dirty="0">
              <a:solidFill>
                <a:schemeClr val="tx1"/>
              </a:solidFill>
              <a:latin typeface="Times New Roman" panose="02020603050405020304" pitchFamily="18" charset="0"/>
              <a:ea typeface="Arial" charset="0"/>
              <a:cs typeface="Times New Roman" panose="02020603050405020304" pitchFamily="18" charset="0"/>
            </a:endParaRPr>
          </a:p>
          <a:p>
            <a:pPr marL="285750" indent="-285750">
              <a:spcBef>
                <a:spcPts val="600"/>
              </a:spcBef>
              <a:buFont typeface="Arial" panose="020B0604020202020204" pitchFamily="34" charset="0"/>
              <a:buChar char="•"/>
            </a:pPr>
            <a:r>
              <a:rPr lang="en-US" sz="1800" dirty="0">
                <a:solidFill>
                  <a:schemeClr val="tx1"/>
                </a:solidFill>
                <a:latin typeface="Times New Roman" panose="02020603050405020304" pitchFamily="18" charset="0"/>
                <a:ea typeface="Arial" charset="0"/>
                <a:cs typeface="Times New Roman" panose="02020603050405020304" pitchFamily="18" charset="0"/>
              </a:rPr>
              <a:t>Alternative strategy could be:</a:t>
            </a:r>
          </a:p>
          <a:p>
            <a:pPr marL="742950" lvl="1" indent="-285750">
              <a:spcBef>
                <a:spcPts val="600"/>
              </a:spcBef>
              <a:buFont typeface="Arial" panose="020B0604020202020204" pitchFamily="34" charset="0"/>
              <a:buChar char="•"/>
            </a:pPr>
            <a:r>
              <a:rPr lang="en-US" dirty="0">
                <a:latin typeface="Times New Roman" panose="02020603050405020304" pitchFamily="18" charset="0"/>
                <a:ea typeface="Arial" charset="0"/>
                <a:cs typeface="Times New Roman" panose="02020603050405020304" pitchFamily="18" charset="0"/>
              </a:rPr>
              <a:t>Last trip made for the specific purpose</a:t>
            </a:r>
          </a:p>
          <a:p>
            <a:pPr>
              <a:spcBef>
                <a:spcPts val="600"/>
              </a:spcBef>
            </a:pPr>
            <a:endParaRPr lang="en-US" dirty="0">
              <a:solidFill>
                <a:schemeClr val="tx1"/>
              </a:solidFill>
              <a:latin typeface="Times New Roman" panose="02020603050405020304" pitchFamily="18" charset="0"/>
              <a:ea typeface="Arial" charset="0"/>
              <a:cs typeface="Times New Roman" panose="02020603050405020304" pitchFamily="18" charset="0"/>
            </a:endParaRPr>
          </a:p>
          <a:p>
            <a:pPr>
              <a:spcBef>
                <a:spcPts val="600"/>
              </a:spcBef>
            </a:pPr>
            <a:r>
              <a:rPr lang="en-US" sz="2400" b="1" dirty="0">
                <a:solidFill>
                  <a:schemeClr val="tx1"/>
                </a:solidFill>
                <a:latin typeface="Times New Roman" panose="02020603050405020304" pitchFamily="18" charset="0"/>
                <a:ea typeface="Arial" charset="0"/>
                <a:cs typeface="Times New Roman" panose="02020603050405020304" pitchFamily="18" charset="0"/>
              </a:rPr>
              <a:t>2. Choice situation constituting both labeled and unlabeled alternatives</a:t>
            </a:r>
          </a:p>
          <a:p>
            <a:pPr marL="285750" indent="-285750">
              <a:spcBef>
                <a:spcPts val="600"/>
              </a:spcBef>
              <a:buFont typeface="Arial" panose="020B0604020202020204" pitchFamily="34" charset="0"/>
              <a:buChar char="•"/>
            </a:pPr>
            <a:r>
              <a:rPr lang="en-US" sz="1600" dirty="0">
                <a:solidFill>
                  <a:schemeClr val="tx1"/>
                </a:solidFill>
                <a:latin typeface="Times New Roman" panose="02020603050405020304" pitchFamily="18" charset="0"/>
                <a:ea typeface="Arial" charset="0"/>
                <a:cs typeface="Times New Roman" panose="02020603050405020304" pitchFamily="18" charset="0"/>
              </a:rPr>
              <a:t>Allows capturing alternative specific effects without increasing the size of the choice set.</a:t>
            </a:r>
          </a:p>
          <a:p>
            <a:pPr marL="285750" indent="-285750">
              <a:spcBef>
                <a:spcPts val="600"/>
              </a:spcBef>
              <a:buFont typeface="Arial" panose="020B0604020202020204" pitchFamily="34" charset="0"/>
              <a:buChar char="•"/>
            </a:pPr>
            <a:r>
              <a:rPr lang="en-US" sz="1600" dirty="0">
                <a:solidFill>
                  <a:schemeClr val="tx1"/>
                </a:solidFill>
                <a:latin typeface="Times New Roman" panose="02020603050405020304" pitchFamily="18" charset="0"/>
                <a:ea typeface="Arial" charset="0"/>
                <a:cs typeface="Times New Roman" panose="02020603050405020304" pitchFamily="18" charset="0"/>
              </a:rPr>
              <a:t>Any potential downside? Constants on DRT + 1 other alternative (one of the primary modes</a:t>
            </a:r>
            <a:r>
              <a:rPr lang="en-US" sz="1600">
                <a:solidFill>
                  <a:schemeClr val="tx1"/>
                </a:solidFill>
                <a:latin typeface="Times New Roman" panose="02020603050405020304" pitchFamily="18" charset="0"/>
                <a:ea typeface="Arial" charset="0"/>
                <a:cs typeface="Times New Roman" panose="02020603050405020304" pitchFamily="18" charset="0"/>
              </a:rPr>
              <a:t>) shall be fixed.</a:t>
            </a:r>
            <a:endParaRPr lang="en-US" sz="1600" dirty="0">
              <a:solidFill>
                <a:schemeClr val="tx1"/>
              </a:solidFill>
              <a:latin typeface="Times New Roman" panose="02020603050405020304" pitchFamily="18" charset="0"/>
              <a:ea typeface="Arial" charset="0"/>
              <a:cs typeface="Times New Roman" panose="02020603050405020304" pitchFamily="18" charset="0"/>
            </a:endParaRPr>
          </a:p>
          <a:p>
            <a:pPr>
              <a:spcBef>
                <a:spcPts val="600"/>
              </a:spcBef>
            </a:pPr>
            <a:endParaRPr lang="en-US" dirty="0">
              <a:solidFill>
                <a:schemeClr val="tx1"/>
              </a:solidFill>
              <a:latin typeface="Times New Roman" panose="02020603050405020304" pitchFamily="18" charset="0"/>
              <a:ea typeface="Arial" charset="0"/>
              <a:cs typeface="Times New Roman" panose="02020603050405020304" pitchFamily="18" charset="0"/>
            </a:endParaRPr>
          </a:p>
        </p:txBody>
      </p:sp>
      <p:sp>
        <p:nvSpPr>
          <p:cNvPr id="4" name="Text Placeholder 2">
            <a:extLst>
              <a:ext uri="{FF2B5EF4-FFF2-40B4-BE49-F238E27FC236}">
                <a16:creationId xmlns:a16="http://schemas.microsoft.com/office/drawing/2014/main" id="{903D9683-5D03-1483-2057-16D94CB041F0}"/>
              </a:ext>
            </a:extLst>
          </p:cNvPr>
          <p:cNvSpPr txBox="1">
            <a:spLocks/>
          </p:cNvSpPr>
          <p:nvPr/>
        </p:nvSpPr>
        <p:spPr>
          <a:xfrm>
            <a:off x="236311" y="970989"/>
            <a:ext cx="5819775" cy="82800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2800" b="1" dirty="0">
                <a:solidFill>
                  <a:schemeClr val="tx1"/>
                </a:solidFill>
                <a:latin typeface="Arial" charset="0"/>
                <a:ea typeface="Arial" charset="0"/>
                <a:cs typeface="Arial" charset="0"/>
              </a:rPr>
              <a:t>Points of contention</a:t>
            </a:r>
          </a:p>
        </p:txBody>
      </p:sp>
      <p:sp>
        <p:nvSpPr>
          <p:cNvPr id="5" name="Date Placeholder 4">
            <a:extLst>
              <a:ext uri="{FF2B5EF4-FFF2-40B4-BE49-F238E27FC236}">
                <a16:creationId xmlns:a16="http://schemas.microsoft.com/office/drawing/2014/main" id="{ADBB4B81-7AEE-01B5-4FA2-BF2FFAC7E9DB}"/>
              </a:ext>
            </a:extLst>
          </p:cNvPr>
          <p:cNvSpPr>
            <a:spLocks noGrp="1"/>
          </p:cNvSpPr>
          <p:nvPr>
            <p:ph type="dt" sz="half" idx="10"/>
          </p:nvPr>
        </p:nvSpPr>
        <p:spPr/>
        <p:txBody>
          <a:bodyPr/>
          <a:lstStyle/>
          <a:p>
            <a:fld id="{3C6F6F8B-B5CB-41D8-B3C8-EFB2B4E1459B}" type="datetime1">
              <a:rPr lang="en-US" smtClean="0"/>
              <a:t>4/12/2024</a:t>
            </a:fld>
            <a:endParaRPr lang="en-US"/>
          </a:p>
        </p:txBody>
      </p:sp>
      <p:sp>
        <p:nvSpPr>
          <p:cNvPr id="6" name="Slide Number Placeholder 5">
            <a:extLst>
              <a:ext uri="{FF2B5EF4-FFF2-40B4-BE49-F238E27FC236}">
                <a16:creationId xmlns:a16="http://schemas.microsoft.com/office/drawing/2014/main" id="{B2562C36-B628-30EC-04B6-E00A552696E1}"/>
              </a:ext>
            </a:extLst>
          </p:cNvPr>
          <p:cNvSpPr>
            <a:spLocks noGrp="1"/>
          </p:cNvSpPr>
          <p:nvPr>
            <p:ph type="sldNum" sz="quarter" idx="12"/>
          </p:nvPr>
        </p:nvSpPr>
        <p:spPr/>
        <p:txBody>
          <a:bodyPr/>
          <a:lstStyle/>
          <a:p>
            <a:fld id="{03E8056C-9350-3E4B-911C-FCF80EDBFE79}" type="slidenum">
              <a:rPr lang="en-US" smtClean="0"/>
              <a:t>14</a:t>
            </a:fld>
            <a:endParaRPr lang="en-US"/>
          </a:p>
        </p:txBody>
      </p:sp>
    </p:spTree>
    <p:extLst>
      <p:ext uri="{BB962C8B-B14F-4D97-AF65-F5344CB8AC3E}">
        <p14:creationId xmlns:p14="http://schemas.microsoft.com/office/powerpoint/2010/main" val="29329508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3" name="Title 2" hidden="1">
            <a:extLst>
              <a:ext uri="{FF2B5EF4-FFF2-40B4-BE49-F238E27FC236}">
                <a16:creationId xmlns:a16="http://schemas.microsoft.com/office/drawing/2014/main" id="{7D116104-B4E7-6642-8EAB-49A402AED74A}"/>
              </a:ext>
            </a:extLst>
          </p:cNvPr>
          <p:cNvSpPr>
            <a:spLocks noGrp="1"/>
          </p:cNvSpPr>
          <p:nvPr>
            <p:ph type="ctrTitle"/>
          </p:nvPr>
        </p:nvSpPr>
        <p:spPr/>
        <p:txBody>
          <a:bodyPr/>
          <a:lstStyle/>
          <a:p>
            <a:r>
              <a:rPr lang="en-US" dirty="0"/>
              <a:t>Information on how to use images</a:t>
            </a:r>
          </a:p>
        </p:txBody>
      </p:sp>
      <p:sp>
        <p:nvSpPr>
          <p:cNvPr id="2" name="Text Placeholder 1"/>
          <p:cNvSpPr txBox="1">
            <a:spLocks/>
          </p:cNvSpPr>
          <p:nvPr/>
        </p:nvSpPr>
        <p:spPr>
          <a:xfrm>
            <a:off x="310696" y="1879599"/>
            <a:ext cx="11532961" cy="4835833"/>
          </a:xfrm>
          <a:prstGeom prst="rect">
            <a:avLst/>
          </a:prstGeom>
        </p:spPr>
        <p:txBody>
          <a:bodyPr vert="horz" lIns="91440" tIns="45720" rIns="91440" bIns="45720" rtlCol="0" anchor="t"/>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ts val="600"/>
              </a:spcBef>
            </a:pPr>
            <a:r>
              <a:rPr lang="en-US" sz="2400" b="1" dirty="0">
                <a:solidFill>
                  <a:schemeClr val="tx1"/>
                </a:solidFill>
                <a:latin typeface="Times New Roman" panose="02020603050405020304" pitchFamily="18" charset="0"/>
                <a:ea typeface="Arial" charset="0"/>
                <a:cs typeface="Times New Roman" panose="02020603050405020304" pitchFamily="18" charset="0"/>
              </a:rPr>
              <a:t>3. Pivoting attributes levels using both primary (chosen) and base (fixed) alternatives</a:t>
            </a:r>
          </a:p>
          <a:p>
            <a:pPr marL="342900" indent="-342900">
              <a:spcBef>
                <a:spcPts val="600"/>
              </a:spcBef>
              <a:buFont typeface="Arial" panose="020B0604020202020204" pitchFamily="34" charset="0"/>
              <a:buChar char="•"/>
            </a:pPr>
            <a:r>
              <a:rPr lang="en-US" sz="1600" dirty="0">
                <a:solidFill>
                  <a:schemeClr val="tx1"/>
                </a:solidFill>
                <a:latin typeface="Times New Roman" panose="02020603050405020304" pitchFamily="18" charset="0"/>
                <a:ea typeface="Arial" charset="0"/>
                <a:cs typeface="Times New Roman" panose="02020603050405020304" pitchFamily="18" charset="0"/>
              </a:rPr>
              <a:t>Attribute levels for in-vehicle travel time for DRT alternatives are </a:t>
            </a:r>
            <a:r>
              <a:rPr lang="en-US" sz="1600" b="1" dirty="0">
                <a:solidFill>
                  <a:schemeClr val="tx1"/>
                </a:solidFill>
                <a:latin typeface="Times New Roman" panose="02020603050405020304" pitchFamily="18" charset="0"/>
                <a:ea typeface="Arial" charset="0"/>
                <a:cs typeface="Times New Roman" panose="02020603050405020304" pitchFamily="18" charset="0"/>
              </a:rPr>
              <a:t>pivoted from the in-vehicle auto travel time</a:t>
            </a:r>
          </a:p>
          <a:p>
            <a:pPr marL="342900" indent="-342900">
              <a:spcBef>
                <a:spcPts val="600"/>
              </a:spcBef>
              <a:buFont typeface="Arial" panose="020B0604020202020204" pitchFamily="34" charset="0"/>
              <a:buChar char="•"/>
            </a:pPr>
            <a:r>
              <a:rPr lang="en-US" sz="1600" dirty="0">
                <a:solidFill>
                  <a:schemeClr val="tx1"/>
                </a:solidFill>
                <a:latin typeface="Times New Roman" panose="02020603050405020304" pitchFamily="18" charset="0"/>
                <a:ea typeface="Arial" charset="0"/>
                <a:cs typeface="Times New Roman" panose="02020603050405020304" pitchFamily="18" charset="0"/>
              </a:rPr>
              <a:t>Attribute levels for cost of DRT alternatives </a:t>
            </a:r>
            <a:r>
              <a:rPr lang="en-US" sz="1600" b="1" dirty="0">
                <a:solidFill>
                  <a:schemeClr val="tx1"/>
                </a:solidFill>
                <a:latin typeface="Times New Roman" panose="02020603050405020304" pitchFamily="18" charset="0"/>
                <a:ea typeface="Arial" charset="0"/>
                <a:cs typeface="Times New Roman" panose="02020603050405020304" pitchFamily="18" charset="0"/>
              </a:rPr>
              <a:t>are pivoted from the cost of bus travel</a:t>
            </a:r>
          </a:p>
          <a:p>
            <a:pPr>
              <a:spcBef>
                <a:spcPts val="600"/>
              </a:spcBef>
            </a:pPr>
            <a:r>
              <a:rPr lang="en-US" sz="1600" dirty="0">
                <a:solidFill>
                  <a:schemeClr val="tx1"/>
                </a:solidFill>
                <a:latin typeface="Times New Roman" panose="02020603050405020304" pitchFamily="18" charset="0"/>
                <a:ea typeface="Arial" charset="0"/>
                <a:cs typeface="Times New Roman" panose="02020603050405020304" pitchFamily="18" charset="0"/>
              </a:rPr>
              <a:t>These are based on the ideal operational characteristics of DRT, where the travel times are closer to the auto travel times and the cost is generally kept closer to the cost of bus travel</a:t>
            </a:r>
          </a:p>
          <a:p>
            <a:pPr marL="285750" indent="-285750">
              <a:spcBef>
                <a:spcPts val="600"/>
              </a:spcBef>
              <a:buFont typeface="Wingdings" panose="05000000000000000000" pitchFamily="2" charset="2"/>
              <a:buChar char="Ø"/>
            </a:pPr>
            <a:r>
              <a:rPr lang="en-US" sz="1600" dirty="0">
                <a:solidFill>
                  <a:schemeClr val="tx1"/>
                </a:solidFill>
                <a:latin typeface="Times New Roman" panose="02020603050405020304" pitchFamily="18" charset="0"/>
                <a:ea typeface="Arial" charset="0"/>
                <a:cs typeface="Times New Roman" panose="02020603050405020304" pitchFamily="18" charset="0"/>
              </a:rPr>
              <a:t>Reduces endogeneity due to pivoting</a:t>
            </a:r>
          </a:p>
          <a:p>
            <a:pPr marL="285750" indent="-285750">
              <a:spcBef>
                <a:spcPts val="600"/>
              </a:spcBef>
              <a:buFont typeface="Arial" panose="020B0604020202020204" pitchFamily="34" charset="0"/>
              <a:buChar char="•"/>
            </a:pPr>
            <a:r>
              <a:rPr lang="en-US" sz="1600" dirty="0">
                <a:solidFill>
                  <a:schemeClr val="tx1"/>
                </a:solidFill>
                <a:latin typeface="Times New Roman" panose="02020603050405020304" pitchFamily="18" charset="0"/>
                <a:ea typeface="Arial" charset="0"/>
                <a:cs typeface="Times New Roman" panose="02020603050405020304" pitchFamily="18" charset="0"/>
              </a:rPr>
              <a:t>Width of time windows are pivoted off from the in-vehicle travel time of the primary mode </a:t>
            </a:r>
          </a:p>
          <a:p>
            <a:pPr>
              <a:spcBef>
                <a:spcPts val="600"/>
              </a:spcBef>
            </a:pPr>
            <a:endParaRPr lang="en-US" sz="1600" b="1" dirty="0">
              <a:solidFill>
                <a:schemeClr val="tx1"/>
              </a:solidFill>
              <a:latin typeface="Times New Roman" panose="02020603050405020304" pitchFamily="18" charset="0"/>
              <a:ea typeface="Arial" charset="0"/>
              <a:cs typeface="Times New Roman" panose="02020603050405020304" pitchFamily="18" charset="0"/>
            </a:endParaRPr>
          </a:p>
          <a:p>
            <a:pPr>
              <a:spcBef>
                <a:spcPts val="600"/>
              </a:spcBef>
            </a:pPr>
            <a:endParaRPr lang="en-US" sz="1600" b="1" dirty="0">
              <a:solidFill>
                <a:schemeClr val="tx1"/>
              </a:solidFill>
              <a:latin typeface="Times New Roman" panose="02020603050405020304" pitchFamily="18" charset="0"/>
              <a:ea typeface="Arial" charset="0"/>
              <a:cs typeface="Times New Roman" panose="02020603050405020304" pitchFamily="18" charset="0"/>
            </a:endParaRPr>
          </a:p>
          <a:p>
            <a:pPr>
              <a:spcBef>
                <a:spcPts val="600"/>
              </a:spcBef>
            </a:pPr>
            <a:r>
              <a:rPr lang="en-US" sz="1600" b="1" dirty="0">
                <a:solidFill>
                  <a:schemeClr val="tx1"/>
                </a:solidFill>
                <a:latin typeface="Times New Roman" panose="02020603050405020304" pitchFamily="18" charset="0"/>
                <a:ea typeface="Arial" charset="0"/>
                <a:cs typeface="Times New Roman" panose="02020603050405020304" pitchFamily="18" charset="0"/>
              </a:rPr>
              <a:t>Concern:</a:t>
            </a:r>
          </a:p>
          <a:p>
            <a:pPr>
              <a:spcBef>
                <a:spcPts val="600"/>
              </a:spcBef>
            </a:pPr>
            <a:r>
              <a:rPr lang="en-US" sz="1600" dirty="0">
                <a:solidFill>
                  <a:schemeClr val="tx1"/>
                </a:solidFill>
                <a:latin typeface="Times New Roman" panose="02020603050405020304" pitchFamily="18" charset="0"/>
                <a:ea typeface="Arial" charset="0"/>
                <a:cs typeface="Times New Roman" panose="02020603050405020304" pitchFamily="18" charset="0"/>
              </a:rPr>
              <a:t>In the literature, attribute levels are generally pivoted from the primary (chosen) alternative. Is there any downside to pivoting off from both primary and fixed alternatives?</a:t>
            </a:r>
          </a:p>
          <a:p>
            <a:pPr>
              <a:spcBef>
                <a:spcPts val="600"/>
              </a:spcBef>
            </a:pPr>
            <a:endParaRPr lang="en-US" sz="1600" dirty="0">
              <a:solidFill>
                <a:schemeClr val="tx1"/>
              </a:solidFill>
              <a:latin typeface="Times New Roman" panose="02020603050405020304" pitchFamily="18" charset="0"/>
              <a:ea typeface="Arial" charset="0"/>
              <a:cs typeface="Times New Roman" panose="02020603050405020304" pitchFamily="18" charset="0"/>
            </a:endParaRPr>
          </a:p>
        </p:txBody>
      </p:sp>
      <p:sp>
        <p:nvSpPr>
          <p:cNvPr id="4" name="Text Placeholder 2">
            <a:extLst>
              <a:ext uri="{FF2B5EF4-FFF2-40B4-BE49-F238E27FC236}">
                <a16:creationId xmlns:a16="http://schemas.microsoft.com/office/drawing/2014/main" id="{903D9683-5D03-1483-2057-16D94CB041F0}"/>
              </a:ext>
            </a:extLst>
          </p:cNvPr>
          <p:cNvSpPr txBox="1">
            <a:spLocks/>
          </p:cNvSpPr>
          <p:nvPr/>
        </p:nvSpPr>
        <p:spPr>
          <a:xfrm>
            <a:off x="236311" y="970989"/>
            <a:ext cx="5819775" cy="82800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2800" b="1" dirty="0">
                <a:solidFill>
                  <a:schemeClr val="tx1"/>
                </a:solidFill>
                <a:latin typeface="Arial" charset="0"/>
                <a:ea typeface="Arial" charset="0"/>
                <a:cs typeface="Arial" charset="0"/>
              </a:rPr>
              <a:t>Points of contention</a:t>
            </a:r>
          </a:p>
        </p:txBody>
      </p:sp>
      <p:sp>
        <p:nvSpPr>
          <p:cNvPr id="8" name="Date Placeholder 7">
            <a:extLst>
              <a:ext uri="{FF2B5EF4-FFF2-40B4-BE49-F238E27FC236}">
                <a16:creationId xmlns:a16="http://schemas.microsoft.com/office/drawing/2014/main" id="{99F720A6-3C63-D3A7-4CAE-58AC35FFD498}"/>
              </a:ext>
            </a:extLst>
          </p:cNvPr>
          <p:cNvSpPr>
            <a:spLocks noGrp="1"/>
          </p:cNvSpPr>
          <p:nvPr>
            <p:ph type="dt" sz="half" idx="10"/>
          </p:nvPr>
        </p:nvSpPr>
        <p:spPr/>
        <p:txBody>
          <a:bodyPr/>
          <a:lstStyle/>
          <a:p>
            <a:fld id="{7745DC86-BC62-49DA-8A54-5BFD4CFAA801}" type="datetime1">
              <a:rPr lang="en-US" smtClean="0"/>
              <a:t>4/12/2024</a:t>
            </a:fld>
            <a:endParaRPr lang="en-US"/>
          </a:p>
        </p:txBody>
      </p:sp>
      <p:sp>
        <p:nvSpPr>
          <p:cNvPr id="9" name="Slide Number Placeholder 8">
            <a:extLst>
              <a:ext uri="{FF2B5EF4-FFF2-40B4-BE49-F238E27FC236}">
                <a16:creationId xmlns:a16="http://schemas.microsoft.com/office/drawing/2014/main" id="{D0297F9B-2A8C-827D-5E23-07A74BD9B1F1}"/>
              </a:ext>
            </a:extLst>
          </p:cNvPr>
          <p:cNvSpPr>
            <a:spLocks noGrp="1"/>
          </p:cNvSpPr>
          <p:nvPr>
            <p:ph type="sldNum" sz="quarter" idx="12"/>
          </p:nvPr>
        </p:nvSpPr>
        <p:spPr/>
        <p:txBody>
          <a:bodyPr/>
          <a:lstStyle/>
          <a:p>
            <a:fld id="{03E8056C-9350-3E4B-911C-FCF80EDBFE79}" type="slidenum">
              <a:rPr lang="en-US" smtClean="0"/>
              <a:t>15</a:t>
            </a:fld>
            <a:endParaRPr lang="en-US"/>
          </a:p>
        </p:txBody>
      </p:sp>
    </p:spTree>
    <p:extLst>
      <p:ext uri="{BB962C8B-B14F-4D97-AF65-F5344CB8AC3E}">
        <p14:creationId xmlns:p14="http://schemas.microsoft.com/office/powerpoint/2010/main" val="40595594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3" name="Title 2" hidden="1">
            <a:extLst>
              <a:ext uri="{FF2B5EF4-FFF2-40B4-BE49-F238E27FC236}">
                <a16:creationId xmlns:a16="http://schemas.microsoft.com/office/drawing/2014/main" id="{7D116104-B4E7-6642-8EAB-49A402AED74A}"/>
              </a:ext>
            </a:extLst>
          </p:cNvPr>
          <p:cNvSpPr>
            <a:spLocks noGrp="1"/>
          </p:cNvSpPr>
          <p:nvPr>
            <p:ph type="ctrTitle"/>
          </p:nvPr>
        </p:nvSpPr>
        <p:spPr/>
        <p:txBody>
          <a:bodyPr/>
          <a:lstStyle/>
          <a:p>
            <a:r>
              <a:rPr lang="en-US" dirty="0"/>
              <a:t>Information on how to use images</a:t>
            </a:r>
          </a:p>
        </p:txBody>
      </p:sp>
      <p:sp>
        <p:nvSpPr>
          <p:cNvPr id="2" name="Text Placeholder 1"/>
          <p:cNvSpPr txBox="1">
            <a:spLocks/>
          </p:cNvSpPr>
          <p:nvPr/>
        </p:nvSpPr>
        <p:spPr>
          <a:xfrm>
            <a:off x="310696" y="1879599"/>
            <a:ext cx="11532961" cy="4835833"/>
          </a:xfrm>
          <a:prstGeom prst="rect">
            <a:avLst/>
          </a:prstGeom>
        </p:spPr>
        <p:txBody>
          <a:bodyPr vert="horz" lIns="91440" tIns="45720" rIns="91440" bIns="45720" rtlCol="0" anchor="t"/>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ts val="600"/>
              </a:spcBef>
            </a:pPr>
            <a:r>
              <a:rPr lang="en-US" sz="2400" b="1" dirty="0">
                <a:solidFill>
                  <a:schemeClr val="tx1"/>
                </a:solidFill>
                <a:latin typeface="Times New Roman" panose="02020603050405020304" pitchFamily="18" charset="0"/>
                <a:ea typeface="Arial" charset="0"/>
                <a:cs typeface="Times New Roman" panose="02020603050405020304" pitchFamily="18" charset="0"/>
              </a:rPr>
              <a:t>3. Application of the model in forecasting mode</a:t>
            </a:r>
          </a:p>
          <a:p>
            <a:pPr marL="285750" indent="-285750">
              <a:spcBef>
                <a:spcPts val="600"/>
              </a:spcBef>
              <a:buFont typeface="Arial" panose="020B0604020202020204" pitchFamily="34" charset="0"/>
              <a:buChar char="•"/>
            </a:pPr>
            <a:r>
              <a:rPr lang="en-US" sz="1600" dirty="0">
                <a:solidFill>
                  <a:schemeClr val="tx1"/>
                </a:solidFill>
                <a:latin typeface="Times New Roman" panose="02020603050405020304" pitchFamily="18" charset="0"/>
                <a:ea typeface="Arial" charset="0"/>
                <a:cs typeface="Times New Roman" panose="02020603050405020304" pitchFamily="18" charset="0"/>
              </a:rPr>
              <a:t>Joint RP-SP estimation will allow characterization of the utility functions while correcting for the endogeneity bias</a:t>
            </a:r>
          </a:p>
          <a:p>
            <a:pPr marL="285750" indent="-285750">
              <a:spcBef>
                <a:spcPts val="600"/>
              </a:spcBef>
              <a:buFont typeface="Arial" panose="020B0604020202020204" pitchFamily="34" charset="0"/>
              <a:buChar char="•"/>
            </a:pPr>
            <a:endParaRPr lang="en-US" sz="1600" dirty="0">
              <a:solidFill>
                <a:schemeClr val="tx1"/>
              </a:solidFill>
              <a:latin typeface="Times New Roman" panose="02020603050405020304" pitchFamily="18" charset="0"/>
              <a:ea typeface="Arial" charset="0"/>
              <a:cs typeface="Times New Roman" panose="02020603050405020304" pitchFamily="18" charset="0"/>
            </a:endParaRPr>
          </a:p>
          <a:p>
            <a:pPr marL="285750" indent="-285750">
              <a:spcBef>
                <a:spcPts val="600"/>
              </a:spcBef>
              <a:buFont typeface="Arial" panose="020B0604020202020204" pitchFamily="34" charset="0"/>
              <a:buChar char="•"/>
            </a:pPr>
            <a:r>
              <a:rPr lang="en-US" sz="1600" dirty="0">
                <a:solidFill>
                  <a:schemeClr val="tx1"/>
                </a:solidFill>
                <a:latin typeface="Times New Roman" panose="02020603050405020304" pitchFamily="18" charset="0"/>
                <a:ea typeface="Arial" charset="0"/>
                <a:cs typeface="Times New Roman" panose="02020603050405020304" pitchFamily="18" charset="0"/>
              </a:rPr>
              <a:t>Using the model in the forecasting mode potentially poses a few challenges:</a:t>
            </a:r>
          </a:p>
          <a:p>
            <a:pPr marL="742950" lvl="1" indent="-285750">
              <a:spcBef>
                <a:spcPts val="600"/>
              </a:spcBef>
              <a:buFont typeface="Arial" panose="020B0604020202020204" pitchFamily="34" charset="0"/>
              <a:buChar char="•"/>
            </a:pPr>
            <a:r>
              <a:rPr lang="en-US" sz="1600" dirty="0">
                <a:solidFill>
                  <a:schemeClr val="tx1"/>
                </a:solidFill>
                <a:latin typeface="Times New Roman" panose="02020603050405020304" pitchFamily="18" charset="0"/>
                <a:ea typeface="Arial" charset="0"/>
                <a:cs typeface="Times New Roman" panose="02020603050405020304" pitchFamily="18" charset="0"/>
              </a:rPr>
              <a:t>In the absence of scale differences between SP and RP, one can estimate different coefficients in SP and RP (for some coefficients). Which coefficients should be used?</a:t>
            </a:r>
          </a:p>
          <a:p>
            <a:pPr marL="742950" lvl="1" indent="-285750">
              <a:spcBef>
                <a:spcPts val="600"/>
              </a:spcBef>
              <a:buFont typeface="Arial" panose="020B0604020202020204" pitchFamily="34" charset="0"/>
              <a:buChar char="•"/>
            </a:pPr>
            <a:r>
              <a:rPr lang="en-US" sz="1600" dirty="0">
                <a:latin typeface="Times New Roman" panose="02020603050405020304" pitchFamily="18" charset="0"/>
                <a:ea typeface="Arial" charset="0"/>
                <a:cs typeface="Times New Roman" panose="02020603050405020304" pitchFamily="18" charset="0"/>
              </a:rPr>
              <a:t>In the absence on the data of ground truth (which is likely to be the case in our study), can one use the model in the forecasting mode (without recalibration of ASCs)? </a:t>
            </a:r>
            <a:endParaRPr lang="en-US" sz="1600" dirty="0">
              <a:solidFill>
                <a:schemeClr val="tx1"/>
              </a:solidFill>
              <a:latin typeface="Times New Roman" panose="02020603050405020304" pitchFamily="18" charset="0"/>
              <a:ea typeface="Arial" charset="0"/>
              <a:cs typeface="Times New Roman" panose="02020603050405020304" pitchFamily="18" charset="0"/>
            </a:endParaRPr>
          </a:p>
          <a:p>
            <a:pPr marL="285750" indent="-285750">
              <a:spcBef>
                <a:spcPts val="600"/>
              </a:spcBef>
              <a:buFont typeface="Arial" panose="020B0604020202020204" pitchFamily="34" charset="0"/>
              <a:buChar char="•"/>
            </a:pPr>
            <a:endParaRPr lang="en-US" sz="1600" dirty="0">
              <a:solidFill>
                <a:schemeClr val="tx1"/>
              </a:solidFill>
              <a:latin typeface="Times New Roman" panose="02020603050405020304" pitchFamily="18" charset="0"/>
              <a:ea typeface="Arial" charset="0"/>
              <a:cs typeface="Times New Roman" panose="02020603050405020304" pitchFamily="18" charset="0"/>
            </a:endParaRPr>
          </a:p>
        </p:txBody>
      </p:sp>
      <p:sp>
        <p:nvSpPr>
          <p:cNvPr id="4" name="Text Placeholder 2">
            <a:extLst>
              <a:ext uri="{FF2B5EF4-FFF2-40B4-BE49-F238E27FC236}">
                <a16:creationId xmlns:a16="http://schemas.microsoft.com/office/drawing/2014/main" id="{903D9683-5D03-1483-2057-16D94CB041F0}"/>
              </a:ext>
            </a:extLst>
          </p:cNvPr>
          <p:cNvSpPr txBox="1">
            <a:spLocks/>
          </p:cNvSpPr>
          <p:nvPr/>
        </p:nvSpPr>
        <p:spPr>
          <a:xfrm>
            <a:off x="236311" y="970989"/>
            <a:ext cx="5819775" cy="82800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2800" b="1" dirty="0">
                <a:solidFill>
                  <a:schemeClr val="tx1"/>
                </a:solidFill>
                <a:latin typeface="Arial" charset="0"/>
                <a:ea typeface="Arial" charset="0"/>
                <a:cs typeface="Arial" charset="0"/>
              </a:rPr>
              <a:t>Points of contention</a:t>
            </a:r>
          </a:p>
        </p:txBody>
      </p:sp>
      <p:sp>
        <p:nvSpPr>
          <p:cNvPr id="5" name="Date Placeholder 4">
            <a:extLst>
              <a:ext uri="{FF2B5EF4-FFF2-40B4-BE49-F238E27FC236}">
                <a16:creationId xmlns:a16="http://schemas.microsoft.com/office/drawing/2014/main" id="{0DAED861-6EDC-49F8-EA8B-DE347C2793E1}"/>
              </a:ext>
            </a:extLst>
          </p:cNvPr>
          <p:cNvSpPr>
            <a:spLocks noGrp="1"/>
          </p:cNvSpPr>
          <p:nvPr>
            <p:ph type="dt" sz="half" idx="10"/>
          </p:nvPr>
        </p:nvSpPr>
        <p:spPr/>
        <p:txBody>
          <a:bodyPr/>
          <a:lstStyle/>
          <a:p>
            <a:fld id="{485C3749-DEE9-4531-8FF6-AF89A4BB8C5D}" type="datetime1">
              <a:rPr lang="en-US" smtClean="0"/>
              <a:t>4/12/2024</a:t>
            </a:fld>
            <a:endParaRPr lang="en-US"/>
          </a:p>
        </p:txBody>
      </p:sp>
      <p:sp>
        <p:nvSpPr>
          <p:cNvPr id="6" name="Slide Number Placeholder 5">
            <a:extLst>
              <a:ext uri="{FF2B5EF4-FFF2-40B4-BE49-F238E27FC236}">
                <a16:creationId xmlns:a16="http://schemas.microsoft.com/office/drawing/2014/main" id="{EE87E886-A563-7502-58D0-5C84B937AD7D}"/>
              </a:ext>
            </a:extLst>
          </p:cNvPr>
          <p:cNvSpPr>
            <a:spLocks noGrp="1"/>
          </p:cNvSpPr>
          <p:nvPr>
            <p:ph type="sldNum" sz="quarter" idx="12"/>
          </p:nvPr>
        </p:nvSpPr>
        <p:spPr/>
        <p:txBody>
          <a:bodyPr/>
          <a:lstStyle/>
          <a:p>
            <a:fld id="{03E8056C-9350-3E4B-911C-FCF80EDBFE79}" type="slidenum">
              <a:rPr lang="en-US" smtClean="0"/>
              <a:t>16</a:t>
            </a:fld>
            <a:endParaRPr lang="en-US"/>
          </a:p>
        </p:txBody>
      </p:sp>
    </p:spTree>
    <p:extLst>
      <p:ext uri="{BB962C8B-B14F-4D97-AF65-F5344CB8AC3E}">
        <p14:creationId xmlns:p14="http://schemas.microsoft.com/office/powerpoint/2010/main" val="36981500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3" name="Title 2" hidden="1">
            <a:extLst>
              <a:ext uri="{FF2B5EF4-FFF2-40B4-BE49-F238E27FC236}">
                <a16:creationId xmlns:a16="http://schemas.microsoft.com/office/drawing/2014/main" id="{7D116104-B4E7-6642-8EAB-49A402AED74A}"/>
              </a:ext>
            </a:extLst>
          </p:cNvPr>
          <p:cNvSpPr>
            <a:spLocks noGrp="1"/>
          </p:cNvSpPr>
          <p:nvPr>
            <p:ph type="ctrTitle"/>
          </p:nvPr>
        </p:nvSpPr>
        <p:spPr/>
        <p:txBody>
          <a:bodyPr/>
          <a:lstStyle/>
          <a:p>
            <a:r>
              <a:rPr lang="en-US" dirty="0"/>
              <a:t>Information on how to use images</a:t>
            </a:r>
          </a:p>
        </p:txBody>
      </p:sp>
      <p:sp>
        <p:nvSpPr>
          <p:cNvPr id="4" name="Text Placeholder 2">
            <a:extLst>
              <a:ext uri="{FF2B5EF4-FFF2-40B4-BE49-F238E27FC236}">
                <a16:creationId xmlns:a16="http://schemas.microsoft.com/office/drawing/2014/main" id="{903D9683-5D03-1483-2057-16D94CB041F0}"/>
              </a:ext>
            </a:extLst>
          </p:cNvPr>
          <p:cNvSpPr txBox="1">
            <a:spLocks/>
          </p:cNvSpPr>
          <p:nvPr/>
        </p:nvSpPr>
        <p:spPr>
          <a:xfrm>
            <a:off x="3667434" y="3360227"/>
            <a:ext cx="4414683" cy="82800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4400" b="1" dirty="0">
                <a:solidFill>
                  <a:schemeClr val="tx1"/>
                </a:solidFill>
                <a:latin typeface="Arial" charset="0"/>
                <a:ea typeface="Arial" charset="0"/>
                <a:cs typeface="Arial" charset="0"/>
              </a:rPr>
              <a:t>Thank you</a:t>
            </a:r>
          </a:p>
          <a:p>
            <a:r>
              <a:rPr lang="en-US" sz="2000" b="1" dirty="0">
                <a:solidFill>
                  <a:schemeClr val="tx1"/>
                </a:solidFill>
                <a:latin typeface="Arial" charset="0"/>
                <a:ea typeface="Arial" charset="0"/>
                <a:cs typeface="Arial" charset="0"/>
              </a:rPr>
              <a:t>Questions</a:t>
            </a:r>
          </a:p>
        </p:txBody>
      </p:sp>
      <p:sp>
        <p:nvSpPr>
          <p:cNvPr id="5" name="Date Placeholder 4">
            <a:extLst>
              <a:ext uri="{FF2B5EF4-FFF2-40B4-BE49-F238E27FC236}">
                <a16:creationId xmlns:a16="http://schemas.microsoft.com/office/drawing/2014/main" id="{1F095078-EDB1-19F2-017D-A01315CAA69F}"/>
              </a:ext>
            </a:extLst>
          </p:cNvPr>
          <p:cNvSpPr>
            <a:spLocks noGrp="1"/>
          </p:cNvSpPr>
          <p:nvPr>
            <p:ph type="dt" sz="half" idx="10"/>
          </p:nvPr>
        </p:nvSpPr>
        <p:spPr/>
        <p:txBody>
          <a:bodyPr/>
          <a:lstStyle/>
          <a:p>
            <a:fld id="{07F43AC1-CEBB-4F6A-AA17-F0CAA4C032DC}" type="datetime1">
              <a:rPr lang="en-US" smtClean="0"/>
              <a:t>4/12/2024</a:t>
            </a:fld>
            <a:endParaRPr lang="en-US"/>
          </a:p>
        </p:txBody>
      </p:sp>
      <p:sp>
        <p:nvSpPr>
          <p:cNvPr id="6" name="Slide Number Placeholder 5">
            <a:extLst>
              <a:ext uri="{FF2B5EF4-FFF2-40B4-BE49-F238E27FC236}">
                <a16:creationId xmlns:a16="http://schemas.microsoft.com/office/drawing/2014/main" id="{73E45B2B-057D-4E8A-36EC-73C7F053F585}"/>
              </a:ext>
            </a:extLst>
          </p:cNvPr>
          <p:cNvSpPr>
            <a:spLocks noGrp="1"/>
          </p:cNvSpPr>
          <p:nvPr>
            <p:ph type="sldNum" sz="quarter" idx="12"/>
          </p:nvPr>
        </p:nvSpPr>
        <p:spPr/>
        <p:txBody>
          <a:bodyPr/>
          <a:lstStyle/>
          <a:p>
            <a:fld id="{03E8056C-9350-3E4B-911C-FCF80EDBFE79}" type="slidenum">
              <a:rPr lang="en-US" smtClean="0"/>
              <a:t>17</a:t>
            </a:fld>
            <a:endParaRPr lang="en-US"/>
          </a:p>
        </p:txBody>
      </p:sp>
    </p:spTree>
    <p:extLst>
      <p:ext uri="{BB962C8B-B14F-4D97-AF65-F5344CB8AC3E}">
        <p14:creationId xmlns:p14="http://schemas.microsoft.com/office/powerpoint/2010/main" val="323424360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3762</TotalTime>
  <Words>1731</Words>
  <Application>Microsoft Office PowerPoint</Application>
  <PresentationFormat>Widescreen</PresentationFormat>
  <Paragraphs>386</Paragraphs>
  <Slides>17</Slides>
  <Notes>17</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17</vt:i4>
      </vt:variant>
    </vt:vector>
  </HeadingPairs>
  <TitlesOfParts>
    <vt:vector size="25" baseType="lpstr">
      <vt:lpstr>Arial</vt:lpstr>
      <vt:lpstr>Calibri</vt:lpstr>
      <vt:lpstr>Calibri Light</vt:lpstr>
      <vt:lpstr>KingsBureauGrot FiveOne</vt:lpstr>
      <vt:lpstr>KingsBureauGrot ThreeSeven</vt:lpstr>
      <vt:lpstr>Times New Roman</vt:lpstr>
      <vt:lpstr>Wingdings</vt:lpstr>
      <vt:lpstr>Office Theme</vt:lpstr>
      <vt:lpstr>Presentation title slide</vt:lpstr>
      <vt:lpstr>Presentation title slide</vt:lpstr>
      <vt:lpstr>How to display schools and/or Faculties in your slides</vt:lpstr>
      <vt:lpstr>Text hierarchy and formatting information slide</vt:lpstr>
      <vt:lpstr>Text hierarchy and formatting with two images slide </vt:lpstr>
      <vt:lpstr>Text hierarchy and formatting with an image slide</vt:lpstr>
      <vt:lpstr>Information on how to use images</vt:lpstr>
      <vt:lpstr>Information on how to use images</vt:lpstr>
      <vt:lpstr>Information on how to use images</vt:lpstr>
      <vt:lpstr>Information on how to use images</vt:lpstr>
      <vt:lpstr>Information on how to use images</vt:lpstr>
      <vt:lpstr>Information on how to use images</vt:lpstr>
      <vt:lpstr>Information on how to use images</vt:lpstr>
      <vt:lpstr>Information on how to use images</vt:lpstr>
      <vt:lpstr>Information on how to use images</vt:lpstr>
      <vt:lpstr>Information on how to use images</vt:lpstr>
      <vt:lpstr>Information on how to use images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Casey Dickinson</dc:creator>
  <cp:lastModifiedBy>Shobhit Saxena</cp:lastModifiedBy>
  <cp:revision>11</cp:revision>
  <dcterms:created xsi:type="dcterms:W3CDTF">2017-03-28T10:31:45Z</dcterms:created>
  <dcterms:modified xsi:type="dcterms:W3CDTF">2024-04-12T10:22:02Z</dcterms:modified>
</cp:coreProperties>
</file>