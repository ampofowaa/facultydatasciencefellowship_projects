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7CB7F2-7EF0-4C27-B693-969F3AA9D28C}" v="5" dt="2024-04-25T10:56:30.0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9" autoAdjust="0"/>
    <p:restoredTop sz="94660"/>
  </p:normalViewPr>
  <p:slideViewPr>
    <p:cSldViewPr snapToGrid="0">
      <p:cViewPr varScale="1">
        <p:scale>
          <a:sx n="64" d="100"/>
          <a:sy n="64" d="100"/>
        </p:scale>
        <p:origin x="36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love Frimpong" userId="c3c3b1c3-0bc9-4a46-96b8-3cc9f85cf660" providerId="ADAL" clId="{F97CB7F2-7EF0-4C27-B693-969F3AA9D28C}"/>
    <pc:docChg chg="custSel addSld delSld modSld">
      <pc:chgData name="Richlove Frimpong" userId="c3c3b1c3-0bc9-4a46-96b8-3cc9f85cf660" providerId="ADAL" clId="{F97CB7F2-7EF0-4C27-B693-969F3AA9D28C}" dt="2024-04-25T10:56:30.041" v="101"/>
      <pc:docMkLst>
        <pc:docMk/>
      </pc:docMkLst>
      <pc:sldChg chg="modAnim">
        <pc:chgData name="Richlove Frimpong" userId="c3c3b1c3-0bc9-4a46-96b8-3cc9f85cf660" providerId="ADAL" clId="{F97CB7F2-7EF0-4C27-B693-969F3AA9D28C}" dt="2024-04-25T10:56:30.041" v="101"/>
        <pc:sldMkLst>
          <pc:docMk/>
          <pc:sldMk cId="3871783988" sldId="257"/>
        </pc:sldMkLst>
      </pc:sldChg>
      <pc:sldChg chg="delSp modSp new del mod">
        <pc:chgData name="Richlove Frimpong" userId="c3c3b1c3-0bc9-4a46-96b8-3cc9f85cf660" providerId="ADAL" clId="{F97CB7F2-7EF0-4C27-B693-969F3AA9D28C}" dt="2024-04-25T10:56:13.157" v="99" actId="2696"/>
        <pc:sldMkLst>
          <pc:docMk/>
          <pc:sldMk cId="145532206" sldId="258"/>
        </pc:sldMkLst>
        <pc:spChg chg="del">
          <ac:chgData name="Richlove Frimpong" userId="c3c3b1c3-0bc9-4a46-96b8-3cc9f85cf660" providerId="ADAL" clId="{F97CB7F2-7EF0-4C27-B693-969F3AA9D28C}" dt="2024-04-25T10:49:49.194" v="4" actId="478"/>
          <ac:spMkLst>
            <pc:docMk/>
            <pc:sldMk cId="145532206" sldId="258"/>
            <ac:spMk id="2" creationId="{E4E77A99-2371-1A25-B280-97965DBC612F}"/>
          </ac:spMkLst>
        </pc:spChg>
        <pc:spChg chg="mod">
          <ac:chgData name="Richlove Frimpong" userId="c3c3b1c3-0bc9-4a46-96b8-3cc9f85cf660" providerId="ADAL" clId="{F97CB7F2-7EF0-4C27-B693-969F3AA9D28C}" dt="2024-04-25T10:51:37.434" v="98" actId="20577"/>
          <ac:spMkLst>
            <pc:docMk/>
            <pc:sldMk cId="145532206" sldId="258"/>
            <ac:spMk id="3" creationId="{65A7D2EA-ADCF-AB8E-0711-5549AEBD657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569CF-C830-DA3E-B7BF-48ED614CA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8FB49C-2748-545E-41F2-CC6BB1E8BB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84371-D0AA-F7E2-8E3C-574128891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E743-1C3F-44A7-8C35-D36B6FA694A2}" type="datetimeFigureOut">
              <a:rPr lang="en-GB" smtClean="0"/>
              <a:t>25/04/2024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FF964-6B89-A4FB-D88D-42FA39F7C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85D3D-711D-0D40-F5ED-AB863AA58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50B78-A62A-45B0-B3D5-67284DE456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4340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DD725-8A6A-419A-2D3A-36FC00F38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19E87-DE59-5784-D7B8-405CBAC43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40C37-CB6D-E664-4685-7C12244B4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E743-1C3F-44A7-8C35-D36B6FA694A2}" type="datetimeFigureOut">
              <a:rPr lang="en-GB" smtClean="0"/>
              <a:t>25/04/2024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D9748-2F50-D183-D373-ECB819A8E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540F1-E06D-AB5A-B4D5-7C30AA170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50B78-A62A-45B0-B3D5-67284DE456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6063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EB70A-59A3-1B1A-4731-73654999E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A6520-CAF5-AC88-C2A1-CC0163E9E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E30AE-9FEA-95E2-090C-7387D2F5D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E743-1C3F-44A7-8C35-D36B6FA694A2}" type="datetimeFigureOut">
              <a:rPr lang="en-GB" smtClean="0"/>
              <a:t>25/04/2024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10CA1-73F4-AE58-7D6A-D964F7530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8A13F-C63F-08AA-C6F1-F5B32CE0E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50B78-A62A-45B0-B3D5-67284DE456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4905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EFE25-F835-F0BF-2F68-09F09BF0F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AC55D-31D6-4D59-811E-F2BEB9EF55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BE85D6-8BB9-5D74-D84A-4FE11A8C88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A9AF7C-E5F3-30EC-1D38-3B5C79E6A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E743-1C3F-44A7-8C35-D36B6FA694A2}" type="datetimeFigureOut">
              <a:rPr lang="en-GB" smtClean="0"/>
              <a:t>25/04/2024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DF800B-8DB2-D356-7AFF-FD85351D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8782BD-B516-972E-1FC1-6F7BE9859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50B78-A62A-45B0-B3D5-67284DE456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9275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C75CB-5450-17C3-F719-B79729C53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B6963-26F0-4978-E22E-E788E1F7C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E7722-E5A2-E0A6-D307-EC13996B08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4CF2E8-1E8A-AA7D-7A19-BDDD3A88DE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D32F88-E9B0-140B-1725-A31B662934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71EF19-4B9D-B556-85AC-93667FA4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E743-1C3F-44A7-8C35-D36B6FA694A2}" type="datetimeFigureOut">
              <a:rPr lang="en-GB" smtClean="0"/>
              <a:t>25/04/2024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FA1058-E6E6-0D73-19A9-7393FCDBE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7E533D-C54F-EB39-8DEB-02AAFF33C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50B78-A62A-45B0-B3D5-67284DE456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2493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65154-D59D-AD06-F031-6AD64CEE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F384B4-AD96-C98B-0563-A3DAF78E2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E743-1C3F-44A7-8C35-D36B6FA694A2}" type="datetimeFigureOut">
              <a:rPr lang="en-GB" smtClean="0"/>
              <a:t>25/04/2024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771EA-70B5-9C12-2DE9-F3F04EFBA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96048D-4420-7AB9-9513-1DB118685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50B78-A62A-45B0-B3D5-67284DE456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3409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C48B46-D0E1-10D8-8033-57D028369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E743-1C3F-44A7-8C35-D36B6FA694A2}" type="datetimeFigureOut">
              <a:rPr lang="en-GB" smtClean="0"/>
              <a:t>25/04/2024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662BAD-D33C-4580-AC2E-57772485F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317E9-6132-E304-B1CF-6212A6491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50B78-A62A-45B0-B3D5-67284DE456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307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5B74D-DAA3-DA01-1A09-7C789748A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4EE6D-E0ED-6C80-79A6-E9E6ECD3B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34B78C-04F5-90B0-FC19-7309B48925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950B1-C54F-4359-25BE-2361CB75C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E743-1C3F-44A7-8C35-D36B6FA694A2}" type="datetimeFigureOut">
              <a:rPr lang="en-GB" smtClean="0"/>
              <a:t>25/04/2024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816FA4-7572-5B1B-B946-3A0B48BD2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69B622-BD52-4458-EE67-3B8A1158F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50B78-A62A-45B0-B3D5-67284DE456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3739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E0A5E-C113-C524-CD9E-CDDF52A5B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855A56-4288-46A6-53B1-2CCF914752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9F993E-4C90-E743-0228-19FC5FE01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1FB343-6DA0-9E92-092D-579DDDCA3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E743-1C3F-44A7-8C35-D36B6FA694A2}" type="datetimeFigureOut">
              <a:rPr lang="en-GB" smtClean="0"/>
              <a:t>25/04/2024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77C4E-7603-F0D1-1AD8-B70AB099D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B780B-AD4D-140E-AA4F-58E9640DF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50B78-A62A-45B0-B3D5-67284DE456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746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50BCE-B740-C7E9-51EF-7BC18458C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4424DD-D950-F9F8-A853-9FB9260601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D73A9-6E57-D4FB-C4B9-F53AF49C6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E743-1C3F-44A7-8C35-D36B6FA694A2}" type="datetimeFigureOut">
              <a:rPr lang="en-GB" smtClean="0"/>
              <a:t>25/04/2024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0713E-5DB8-504E-812C-95797FB4F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BC17E-F348-B5FD-4575-7756A6D36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50B78-A62A-45B0-B3D5-67284DE456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1964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536C75-8D40-EE25-FDAE-3269BD4144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C14DC5-34DF-EB8B-6415-0488833C02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EBBB8-B92E-AA2E-B6D3-E0E42FBBC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E743-1C3F-44A7-8C35-D36B6FA694A2}" type="datetimeFigureOut">
              <a:rPr lang="en-GB" smtClean="0"/>
              <a:t>25/04/2024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B481F-5440-D0E8-CC5A-E28D09D32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17DAE-D224-FFDE-2AF3-5DC288DA2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50B78-A62A-45B0-B3D5-67284DE456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8548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5CC6A7-EEAA-22A1-1E83-A1EE44DDD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E4B625-DF48-9056-EA02-7DAB67049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8F5C3-9B34-22B7-121C-BAB1113A16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DE743-1C3F-44A7-8C35-D36B6FA694A2}" type="datetimeFigureOut">
              <a:rPr lang="en-GB" smtClean="0"/>
              <a:t>25/04/2024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820ED-6E4D-DB4F-2380-D4C6127B76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C237A-42C5-BD7B-7A37-1CB0806EFA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050B78-A62A-45B0-B3D5-67284DE456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675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7BC75FF-D76F-ACB3-C3DF-704F4392C5B1}"/>
              </a:ext>
            </a:extLst>
          </p:cNvPr>
          <p:cNvSpPr txBox="1">
            <a:spLocks/>
          </p:cNvSpPr>
          <p:nvPr/>
        </p:nvSpPr>
        <p:spPr>
          <a:xfrm>
            <a:off x="262467" y="33204"/>
            <a:ext cx="7509470" cy="5921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0000"/>
              </a:lnSpc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Price Optimization Work Package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492DCB-E416-8DC2-7D5C-9398D914236D}"/>
              </a:ext>
            </a:extLst>
          </p:cNvPr>
          <p:cNvSpPr txBox="1"/>
          <p:nvPr/>
        </p:nvSpPr>
        <p:spPr>
          <a:xfrm>
            <a:off x="101600" y="742603"/>
            <a:ext cx="101981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Mathematical model formulated for the case where all bookings arrive before the bus leaves the depot: </a:t>
            </a:r>
          </a:p>
          <a:p>
            <a:pPr marL="582078" lvl="3" indent="-342900">
              <a:buFont typeface="Arial" panose="020B0604020202020204" pitchFamily="34" charset="0"/>
              <a:buChar char="•"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Assumes a customer chooses between the offered options and no purchase.</a:t>
            </a:r>
          </a:p>
          <a:p>
            <a:pPr marL="582078" lvl="3" indent="-342900">
              <a:buFont typeface="Arial" panose="020B0604020202020204" pitchFamily="34" charset="0"/>
              <a:buChar char="•"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Aims to find the vector of prices (for each option offered) such that expected revenue (or other objectives) is maximized.</a:t>
            </a:r>
            <a:endParaRPr lang="en-GB" sz="16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D3EA385-B5EC-E2AF-95FA-6EC1DCCC5E8B}"/>
              </a:ext>
            </a:extLst>
          </p:cNvPr>
          <p:cNvGrpSpPr/>
          <p:nvPr/>
        </p:nvGrpSpPr>
        <p:grpSpPr>
          <a:xfrm>
            <a:off x="10289975" y="440446"/>
            <a:ext cx="1704313" cy="1683114"/>
            <a:chOff x="9802368" y="4245737"/>
            <a:chExt cx="1704313" cy="1683114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154DB7B-1A99-A4FA-8CA3-5DE9AF091042}"/>
                </a:ext>
              </a:extLst>
            </p:cNvPr>
            <p:cNvSpPr/>
            <p:nvPr/>
          </p:nvSpPr>
          <p:spPr>
            <a:xfrm>
              <a:off x="9802368" y="4245737"/>
              <a:ext cx="1704312" cy="1683114"/>
            </a:xfrm>
            <a:prstGeom prst="roundRect">
              <a:avLst/>
            </a:prstGeom>
            <a:solidFill>
              <a:srgbClr val="FFFFFF"/>
            </a:solidFill>
            <a:ln w="28575" cap="flat" cmpd="sng" algn="ctr">
              <a:solidFill>
                <a:srgbClr val="005AD2">
                  <a:lumMod val="7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0553168-E2D8-EA9C-9FD6-5F6A5226B6B8}"/>
                </a:ext>
              </a:extLst>
            </p:cNvPr>
            <p:cNvSpPr txBox="1"/>
            <p:nvPr/>
          </p:nvSpPr>
          <p:spPr>
            <a:xfrm>
              <a:off x="9802368" y="4445935"/>
              <a:ext cx="1704313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600" dirty="0">
                  <a:solidFill>
                    <a:srgbClr val="005AD2">
                      <a:lumMod val="75000"/>
                    </a:srgbClr>
                  </a:solidFill>
                  <a:latin typeface="Georgia"/>
                </a:rPr>
                <a:t>Option 1, p</a:t>
              </a:r>
              <a:r>
                <a:rPr lang="en-GB" sz="1600" baseline="-25000" dirty="0">
                  <a:solidFill>
                    <a:srgbClr val="005AD2">
                      <a:lumMod val="75000"/>
                    </a:srgbClr>
                  </a:solidFill>
                  <a:latin typeface="Georgia"/>
                </a:rPr>
                <a:t>1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600" dirty="0">
                  <a:solidFill>
                    <a:srgbClr val="005AD2">
                      <a:lumMod val="75000"/>
                    </a:srgbClr>
                  </a:solidFill>
                  <a:latin typeface="Georgia"/>
                </a:rPr>
                <a:t>Option 2, p</a:t>
              </a:r>
              <a:r>
                <a:rPr lang="en-GB" sz="1600" baseline="-25000" dirty="0">
                  <a:solidFill>
                    <a:srgbClr val="005AD2">
                      <a:lumMod val="75000"/>
                    </a:srgbClr>
                  </a:solidFill>
                  <a:latin typeface="Georgia"/>
                </a:rPr>
                <a:t>2</a:t>
              </a:r>
              <a:endParaRPr lang="en-GB" sz="1600" dirty="0">
                <a:solidFill>
                  <a:srgbClr val="005AD2">
                    <a:lumMod val="75000"/>
                  </a:srgbClr>
                </a:solidFill>
                <a:latin typeface="Georgia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600" dirty="0">
                  <a:solidFill>
                    <a:srgbClr val="005AD2">
                      <a:lumMod val="75000"/>
                    </a:srgbClr>
                  </a:solidFill>
                  <a:latin typeface="Georgia"/>
                </a:rPr>
                <a:t>Option 3, p</a:t>
              </a:r>
              <a:r>
                <a:rPr lang="en-GB" sz="1600" baseline="-25000" dirty="0">
                  <a:solidFill>
                    <a:srgbClr val="005AD2">
                      <a:lumMod val="75000"/>
                    </a:srgbClr>
                  </a:solidFill>
                  <a:latin typeface="Georgia"/>
                </a:rPr>
                <a:t>3</a:t>
              </a:r>
              <a:endParaRPr lang="en-GB" sz="1600" dirty="0">
                <a:solidFill>
                  <a:srgbClr val="005AD2">
                    <a:lumMod val="75000"/>
                  </a:srgbClr>
                </a:solidFill>
                <a:latin typeface="Georgia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600" dirty="0">
                  <a:solidFill>
                    <a:srgbClr val="005AD2">
                      <a:lumMod val="75000"/>
                    </a:srgbClr>
                  </a:solidFill>
                  <a:latin typeface="Georgia"/>
                </a:rPr>
                <a:t>…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600" dirty="0">
                  <a:solidFill>
                    <a:srgbClr val="005AD2">
                      <a:lumMod val="75000"/>
                    </a:srgbClr>
                  </a:solidFill>
                  <a:latin typeface="Georgia"/>
                </a:rPr>
                <a:t>No purchase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AA20572-0D93-1F9B-B861-BCD213337D90}"/>
              </a:ext>
            </a:extLst>
          </p:cNvPr>
          <p:cNvSpPr txBox="1"/>
          <p:nvPr/>
        </p:nvSpPr>
        <p:spPr>
          <a:xfrm>
            <a:off x="101600" y="2107858"/>
            <a:ext cx="114173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work well we need to understand:</a:t>
            </a:r>
          </a:p>
          <a:p>
            <a:pPr marL="738187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Demand (where and when and how much)</a:t>
            </a:r>
          </a:p>
          <a:p>
            <a:pPr marL="738187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choice (how much price and additional journey time affect purchase decisions)</a:t>
            </a:r>
          </a:p>
          <a:p>
            <a:pPr marL="738187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estimation of the additional costs of agreeing to accept a customer’s request as well as the loss in future revenue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87C581E-90B1-1933-E0FE-C7E9A0561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7493059"/>
              </p:ext>
            </p:extLst>
          </p:nvPr>
        </p:nvGraphicFramePr>
        <p:xfrm>
          <a:off x="262467" y="3429000"/>
          <a:ext cx="9450184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7815">
                  <a:extLst>
                    <a:ext uri="{9D8B030D-6E8A-4147-A177-3AD203B41FA5}">
                      <a16:colId xmlns:a16="http://schemas.microsoft.com/office/drawing/2014/main" val="2941898461"/>
                    </a:ext>
                  </a:extLst>
                </a:gridCol>
                <a:gridCol w="6852369">
                  <a:extLst>
                    <a:ext uri="{9D8B030D-6E8A-4147-A177-3AD203B41FA5}">
                      <a16:colId xmlns:a16="http://schemas.microsoft.com/office/drawing/2014/main" val="28622764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Updates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985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Demand/Arrivals simulation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Working out the data inputs and outputs from the Leeds Transport Model and SATURN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 with benchmark DARP instances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929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Customer choice probabilities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Discussions on how this should be included in the stated choice preference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3548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Opportunity cost estimation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Insertion heuristics needed for this is currently being worked 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624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Booking process simulation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MSc student from Southampton would be working on this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67586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1783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191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Georgia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Richlove Frimpong</dc:creator>
  <cp:lastModifiedBy>Richlove Frimpong</cp:lastModifiedBy>
  <cp:revision>1</cp:revision>
  <dcterms:created xsi:type="dcterms:W3CDTF">2024-04-24T12:53:54Z</dcterms:created>
  <dcterms:modified xsi:type="dcterms:W3CDTF">2024-04-25T10:56:31Z</dcterms:modified>
</cp:coreProperties>
</file>